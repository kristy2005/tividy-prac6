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14"/>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412FABC-FE5E-48A1-9EAB-9B005FFBD057}">
          <p14:sldIdLst>
            <p14:sldId id="264"/>
            <p14:sldId id="265"/>
          </p14:sldIdLst>
        </p14:section>
        <p14:section name="01 The reusable engine" id="{F5824EB3-D37E-44FB-B4D6-176AA9C490DE}">
          <p14:sldIdLst>
            <p14:sldId id="266"/>
            <p14:sldId id="267"/>
            <p14:sldId id="268"/>
          </p14:sldIdLst>
        </p14:section>
        <p14:section name="02 Two industries" id="{6930E5B1-7539-41B1-802C-5C4E559B08C0}">
          <p14:sldIdLst>
            <p14:sldId id="269"/>
            <p14:sldId id="270"/>
            <p14:sldId id="271"/>
            <p14:sldId id="272"/>
            <p14:sldId id="273"/>
            <p14:sldId id="274"/>
            <p14:sldId id="275"/>
            <p14:sldId id="276"/>
          </p14:sldIdLst>
        </p14:section>
        <p14:section name="03 Live demonstration" id="{3C6550D8-D74B-448D-BF80-F9E5CEE690EC}">
          <p14:sldIdLst>
            <p14:sldId id="277"/>
            <p14:sldId id="278"/>
            <p14:sldId id="279"/>
          </p14:sldIdLst>
        </p14:section>
        <p14:section name="04 Design &amp; GoF patterns" id="{2D424E66-7D49-45B7-A6D1-4030BCC0A055}">
          <p14:sldIdLst>
            <p14:sldId id="280"/>
            <p14:sldId id="281"/>
            <p14:sldId id="282"/>
            <p14:sldId id="283"/>
            <p14:sldId id="284"/>
            <p14:sldId id="285"/>
          </p14:sldIdLst>
        </p14:section>
        <p14:section name="05 Testing &amp; engineering" id="{2C3772AE-C46E-46A2-AFCD-7B9178AC7B4C}">
          <p14:sldIdLst>
            <p14:sldId id="286"/>
            <p14:sldId id="287"/>
            <p14:sldId id="288"/>
            <p14:sldId id="289"/>
            <p14:sldId id="290"/>
          </p14:sldIdLst>
        </p14:section>
        <p14:section name="Closing" id="{B11310DD-1166-472C-88D1-D88E43E2AFF1}">
          <p14:sldIdLst>
            <p14:sldId id="291"/>
            <p14:sldId id="29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2" autoAdjust="0"/>
    <p:restoredTop sz="94660"/>
  </p:normalViewPr>
  <p:slideViewPr>
    <p:cSldViewPr snapToGrid="0">
      <p:cViewPr>
        <p:scale>
          <a:sx n="48" d="100"/>
          <a:sy n="48" d="100"/>
        </p:scale>
        <p:origin x="954" y="4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9.xml"/><Relationship Id="rId15" Type="http://schemas.openxmlformats.org/officeDocument/2006/relationships/notesMaster" Target="notesMasters/notesMaster1.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Introduce the team and the project: one generic C++11 workflow engine demonstrated with two industries. Total demo time is 30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timings follow the required demo structure: 0-4 engine and industries, 4-12 industry 1 live, 12-20 industry 2 live, 20-25 patterns, diagrams and tests, 25-30 questions.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0-4. Explain the reusable engine first, then introduce both industries.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TIVIDY is a generic case-processing workflow management system. It manages submitted cases through review, assignment, processing, decision-making, escalation and closure. It does not perform the real-world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industries run on the same engine classes. Only definitions, roles, rules, data and adapters are industry-specific.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distinct industries, one reusable engine. Explain the process, participants, input data and expected result of each.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student submits a complaint; an administrator reviews and routes it; a staff member investigates; if it cannot be resolved it is escalated; the student accepts or appeals. Final outcomes are Resolved or Closed.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Dependencies: complaint must be submitted before review, reviewed before assignment, assigned before investigation. An external email system sends confirmation, assignment, escalation and resolution notices.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DRAFT CONTENT - confirm against the implemented Hospital workflow. A patient is registered, triaged, admitted and assigned, diagnosed and treated, then discharged or the case is closed.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DRAFT CONTENT - confirm against the implemented Hospital workflow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scenarios reuse the generic engine classes without modification. Confirm the hospital column (assignment strategy, chain order) against your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4-20. 4-12 industry 1 with decisions and an exception. 12-20 industry 2 on the same engine. Bring a reliable local setup.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one completion path and one exception path per industry, including an invalid action rejected by the State pattern.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20-25. Explain the important GoF collaborations, the diagrams and the automated tests.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specification requires at least 10 distinct patterns with at least two from each category (creational, structural, behavioural), and at least five from the list (Observer, Command, Adapter, Chain of Responsibility, Builder, Facade ...). Builder is currently the only creational pattern: add a second one and update the placeholder card.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Escalation no longer has its own state. escalate() runs inside InProgressState; the Chain of Responsibility finds a handler with enough authority and the case stays In Progress.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Practical 6, Task 7. Add any further revisions made during the final project.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ready to show the build, the test run, repository history and any CI/CD or Docker bonus work.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in the framework, test counts and the test command. Every member must have contributed tests. Manual tests and standalone assert programs are not sufficient.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Compulsory: at least 10 meaningful commits per member, at least three closed pull requests, Doxygen documentation, README with build/run/test for both industries. Bonus (optional): CI/CD, Docker.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6 contributions are taken from the group document. Complete the final project column for each member.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 the bracketed test names with the real test cases from the suite.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Restate: one generic engine, two genuinely different industries, ten or more meaningful GoF patterns, a working interactive C++11 application and real framework-based tests.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25-30: questions, code inspection and individual understanding. Every member should be able to explain the whole design.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00C24-F43A-2630-F4A9-601D5342BD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7621D507-8B57-B051-D9EB-7228931BB7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0FA7A9A2-2262-EF23-9993-B3E195CD1BCB}"/>
              </a:ext>
            </a:extLst>
          </p:cNvPr>
          <p:cNvSpPr>
            <a:spLocks noGrp="1"/>
          </p:cNvSpPr>
          <p:nvPr>
            <p:ph type="dt" sz="half" idx="10"/>
          </p:nvPr>
        </p:nvSpPr>
        <p:spPr/>
        <p:txBody>
          <a:bodyPr/>
          <a:lstStyle/>
          <a:p>
            <a:fld id="{58B52161-86A5-48CB-BA9B-27F00BC067DA}" type="datetimeFigureOut">
              <a:rPr lang="en-ZA" smtClean="0"/>
              <a:t>2026/10/26</a:t>
            </a:fld>
            <a:endParaRPr lang="en-ZA"/>
          </a:p>
        </p:txBody>
      </p:sp>
      <p:sp>
        <p:nvSpPr>
          <p:cNvPr id="5" name="Footer Placeholder 4">
            <a:extLst>
              <a:ext uri="{FF2B5EF4-FFF2-40B4-BE49-F238E27FC236}">
                <a16:creationId xmlns:a16="http://schemas.microsoft.com/office/drawing/2014/main" id="{ED906AE8-2F2F-5DFC-6720-D37660B685E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0F3BBA84-E5EC-64C6-DCBA-F9E4808FBFD0}"/>
              </a:ext>
            </a:extLst>
          </p:cNvPr>
          <p:cNvSpPr>
            <a:spLocks noGrp="1"/>
          </p:cNvSpPr>
          <p:nvPr>
            <p:ph type="sldNum" sz="quarter" idx="12"/>
          </p:nvPr>
        </p:nvSpPr>
        <p:spPr/>
        <p:txBody>
          <a:bodyPr/>
          <a:lstStyle/>
          <a:p>
            <a:fld id="{3FA13BAC-F59A-40A9-AF31-1C1746D01893}" type="slidenum">
              <a:rPr lang="en-ZA" smtClean="0"/>
              <a:t>‹#›</a:t>
            </a:fld>
            <a:endParaRPr lang="en-ZA"/>
          </a:p>
        </p:txBody>
      </p:sp>
    </p:spTree>
    <p:extLst>
      <p:ext uri="{BB962C8B-B14F-4D97-AF65-F5344CB8AC3E}">
        <p14:creationId xmlns:p14="http://schemas.microsoft.com/office/powerpoint/2010/main" val="3666449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7106D-291F-36BD-4040-25147621242B}"/>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F9592B8-9725-49F5-A84B-D5068F4CDA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EB71BC18-8459-1AB8-27E9-27DF8150F0C7}"/>
              </a:ext>
            </a:extLst>
          </p:cNvPr>
          <p:cNvSpPr>
            <a:spLocks noGrp="1"/>
          </p:cNvSpPr>
          <p:nvPr>
            <p:ph type="dt" sz="half" idx="10"/>
          </p:nvPr>
        </p:nvSpPr>
        <p:spPr/>
        <p:txBody>
          <a:bodyPr/>
          <a:lstStyle/>
          <a:p>
            <a:fld id="{58B52161-86A5-48CB-BA9B-27F00BC067DA}" type="datetimeFigureOut">
              <a:rPr lang="en-ZA" smtClean="0"/>
              <a:t>2026/10/26</a:t>
            </a:fld>
            <a:endParaRPr lang="en-ZA"/>
          </a:p>
        </p:txBody>
      </p:sp>
      <p:sp>
        <p:nvSpPr>
          <p:cNvPr id="5" name="Footer Placeholder 4">
            <a:extLst>
              <a:ext uri="{FF2B5EF4-FFF2-40B4-BE49-F238E27FC236}">
                <a16:creationId xmlns:a16="http://schemas.microsoft.com/office/drawing/2014/main" id="{E7DFD2AA-A012-5DDF-6F1C-3800A447627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D369C64-1235-BD80-7A1F-40E3F29A4EDF}"/>
              </a:ext>
            </a:extLst>
          </p:cNvPr>
          <p:cNvSpPr>
            <a:spLocks noGrp="1"/>
          </p:cNvSpPr>
          <p:nvPr>
            <p:ph type="sldNum" sz="quarter" idx="12"/>
          </p:nvPr>
        </p:nvSpPr>
        <p:spPr/>
        <p:txBody>
          <a:bodyPr/>
          <a:lstStyle/>
          <a:p>
            <a:fld id="{3FA13BAC-F59A-40A9-AF31-1C1746D01893}" type="slidenum">
              <a:rPr lang="en-ZA" smtClean="0"/>
              <a:t>‹#›</a:t>
            </a:fld>
            <a:endParaRPr lang="en-ZA"/>
          </a:p>
        </p:txBody>
      </p:sp>
    </p:spTree>
    <p:extLst>
      <p:ext uri="{BB962C8B-B14F-4D97-AF65-F5344CB8AC3E}">
        <p14:creationId xmlns:p14="http://schemas.microsoft.com/office/powerpoint/2010/main" val="197006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9172D-E2F3-FEC7-F622-78FCD82DB3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DAD2130B-7FEE-0FAD-1709-3E8A207EC1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1D1B3D-3C16-9E28-5241-4FB93B567DF7}"/>
              </a:ext>
            </a:extLst>
          </p:cNvPr>
          <p:cNvSpPr>
            <a:spLocks noGrp="1"/>
          </p:cNvSpPr>
          <p:nvPr>
            <p:ph type="dt" sz="half" idx="10"/>
          </p:nvPr>
        </p:nvSpPr>
        <p:spPr/>
        <p:txBody>
          <a:bodyPr/>
          <a:lstStyle/>
          <a:p>
            <a:fld id="{58B52161-86A5-48CB-BA9B-27F00BC067DA}" type="datetimeFigureOut">
              <a:rPr lang="en-ZA" smtClean="0"/>
              <a:t>2026/10/26</a:t>
            </a:fld>
            <a:endParaRPr lang="en-ZA"/>
          </a:p>
        </p:txBody>
      </p:sp>
      <p:sp>
        <p:nvSpPr>
          <p:cNvPr id="5" name="Footer Placeholder 4">
            <a:extLst>
              <a:ext uri="{FF2B5EF4-FFF2-40B4-BE49-F238E27FC236}">
                <a16:creationId xmlns:a16="http://schemas.microsoft.com/office/drawing/2014/main" id="{58830729-8DC0-637F-17E4-4FEC5FAE5BA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CBC1200-AB86-3C09-F836-DEBEDDE4EE20}"/>
              </a:ext>
            </a:extLst>
          </p:cNvPr>
          <p:cNvSpPr>
            <a:spLocks noGrp="1"/>
          </p:cNvSpPr>
          <p:nvPr>
            <p:ph type="sldNum" sz="quarter" idx="12"/>
          </p:nvPr>
        </p:nvSpPr>
        <p:spPr/>
        <p:txBody>
          <a:bodyPr/>
          <a:lstStyle/>
          <a:p>
            <a:fld id="{3FA13BAC-F59A-40A9-AF31-1C1746D01893}" type="slidenum">
              <a:rPr lang="en-ZA" smtClean="0"/>
              <a:t>‹#›</a:t>
            </a:fld>
            <a:endParaRPr lang="en-ZA"/>
          </a:p>
        </p:txBody>
      </p:sp>
    </p:spTree>
    <p:extLst>
      <p:ext uri="{BB962C8B-B14F-4D97-AF65-F5344CB8AC3E}">
        <p14:creationId xmlns:p14="http://schemas.microsoft.com/office/powerpoint/2010/main" val="4278892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32BCB-4F76-3626-B6EB-BD690C782416}"/>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15862EC3-8077-9279-63D7-978D012676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7F7A7FA7-8301-D8C7-FC28-B877DCF3EA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BD31063F-B2B6-705F-B721-85DA37D37846}"/>
              </a:ext>
            </a:extLst>
          </p:cNvPr>
          <p:cNvSpPr>
            <a:spLocks noGrp="1"/>
          </p:cNvSpPr>
          <p:nvPr>
            <p:ph type="dt" sz="half" idx="10"/>
          </p:nvPr>
        </p:nvSpPr>
        <p:spPr/>
        <p:txBody>
          <a:bodyPr/>
          <a:lstStyle/>
          <a:p>
            <a:fld id="{58B52161-86A5-48CB-BA9B-27F00BC067DA}" type="datetimeFigureOut">
              <a:rPr lang="en-ZA" smtClean="0"/>
              <a:t>2026/10/26</a:t>
            </a:fld>
            <a:endParaRPr lang="en-ZA"/>
          </a:p>
        </p:txBody>
      </p:sp>
      <p:sp>
        <p:nvSpPr>
          <p:cNvPr id="6" name="Footer Placeholder 5">
            <a:extLst>
              <a:ext uri="{FF2B5EF4-FFF2-40B4-BE49-F238E27FC236}">
                <a16:creationId xmlns:a16="http://schemas.microsoft.com/office/drawing/2014/main" id="{E2E458CC-B19D-2D2F-FC97-AFA566F18F40}"/>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9E8FDC9C-5A77-390B-A184-58E3C18D3D9D}"/>
              </a:ext>
            </a:extLst>
          </p:cNvPr>
          <p:cNvSpPr>
            <a:spLocks noGrp="1"/>
          </p:cNvSpPr>
          <p:nvPr>
            <p:ph type="sldNum" sz="quarter" idx="12"/>
          </p:nvPr>
        </p:nvSpPr>
        <p:spPr/>
        <p:txBody>
          <a:bodyPr/>
          <a:lstStyle/>
          <a:p>
            <a:fld id="{3FA13BAC-F59A-40A9-AF31-1C1746D01893}" type="slidenum">
              <a:rPr lang="en-ZA" smtClean="0"/>
              <a:t>‹#›</a:t>
            </a:fld>
            <a:endParaRPr lang="en-ZA"/>
          </a:p>
        </p:txBody>
      </p:sp>
    </p:spTree>
    <p:extLst>
      <p:ext uri="{BB962C8B-B14F-4D97-AF65-F5344CB8AC3E}">
        <p14:creationId xmlns:p14="http://schemas.microsoft.com/office/powerpoint/2010/main" val="2507406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C4392-0197-4CA0-0C9C-6C17BE79FA9C}"/>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A8040A0E-D02F-81C2-56B9-4B9D35EAEC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12BA31-31A7-8E9F-67A4-3799C1548C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FC69CA5D-FFF2-CDED-7DFD-B847053BA0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6C0ACD-E248-BB5E-4304-7E4912A790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6EB948A6-4E21-A542-2F6A-E379BBD9C986}"/>
              </a:ext>
            </a:extLst>
          </p:cNvPr>
          <p:cNvSpPr>
            <a:spLocks noGrp="1"/>
          </p:cNvSpPr>
          <p:nvPr>
            <p:ph type="dt" sz="half" idx="10"/>
          </p:nvPr>
        </p:nvSpPr>
        <p:spPr/>
        <p:txBody>
          <a:bodyPr/>
          <a:lstStyle/>
          <a:p>
            <a:fld id="{58B52161-86A5-48CB-BA9B-27F00BC067DA}" type="datetimeFigureOut">
              <a:rPr lang="en-ZA" smtClean="0"/>
              <a:t>2026/10/26</a:t>
            </a:fld>
            <a:endParaRPr lang="en-ZA"/>
          </a:p>
        </p:txBody>
      </p:sp>
      <p:sp>
        <p:nvSpPr>
          <p:cNvPr id="8" name="Footer Placeholder 7">
            <a:extLst>
              <a:ext uri="{FF2B5EF4-FFF2-40B4-BE49-F238E27FC236}">
                <a16:creationId xmlns:a16="http://schemas.microsoft.com/office/drawing/2014/main" id="{706825C1-E7DD-F6DE-C73A-88A5E3B76EE9}"/>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F9C6298E-3384-BE1B-3FB2-47CEDC649843}"/>
              </a:ext>
            </a:extLst>
          </p:cNvPr>
          <p:cNvSpPr>
            <a:spLocks noGrp="1"/>
          </p:cNvSpPr>
          <p:nvPr>
            <p:ph type="sldNum" sz="quarter" idx="12"/>
          </p:nvPr>
        </p:nvSpPr>
        <p:spPr/>
        <p:txBody>
          <a:bodyPr/>
          <a:lstStyle/>
          <a:p>
            <a:fld id="{3FA13BAC-F59A-40A9-AF31-1C1746D01893}" type="slidenum">
              <a:rPr lang="en-ZA" smtClean="0"/>
              <a:t>‹#›</a:t>
            </a:fld>
            <a:endParaRPr lang="en-ZA"/>
          </a:p>
        </p:txBody>
      </p:sp>
    </p:spTree>
    <p:extLst>
      <p:ext uri="{BB962C8B-B14F-4D97-AF65-F5344CB8AC3E}">
        <p14:creationId xmlns:p14="http://schemas.microsoft.com/office/powerpoint/2010/main" val="2570211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CC775-530C-2337-6AF6-7273F7A930F6}"/>
              </a:ext>
            </a:extLst>
          </p:cNvPr>
          <p:cNvSpPr>
            <a:spLocks noGrp="1"/>
          </p:cNvSpPr>
          <p:nvPr>
            <p:ph type="title"/>
          </p:nvPr>
        </p:nvSpPr>
        <p:spPr>
          <a:xfrm>
            <a:off x="548640" y="621792"/>
            <a:ext cx="11091672" cy="713232"/>
          </a:xfrm>
        </p:spPr>
        <p:txBody>
          <a:bodyPr lIns="0" tIns="0" rIns="0" bIns="0" anchor="t"/>
          <a:lstStyle>
            <a:lvl1pPr algn="l">
              <a:defRPr sz="3000" b="1">
                <a:solidFill>
                  <a:srgbClr val="14150F"/>
                </a:solidFill>
              </a:defRPr>
            </a:lvl1pPr>
          </a:lstStyle>
          <a:p>
            <a:r>
              <a:rPr lang="en-US"/>
              <a:t>Click to edit Master title style</a:t>
            </a:r>
            <a:endParaRPr lang="en-ZA"/>
          </a:p>
        </p:txBody>
      </p:sp>
      <p:sp>
        <p:nvSpPr>
          <p:cNvPr id="3" name="Date Placeholder 2">
            <a:extLst>
              <a:ext uri="{FF2B5EF4-FFF2-40B4-BE49-F238E27FC236}">
                <a16:creationId xmlns:a16="http://schemas.microsoft.com/office/drawing/2014/main" id="{18A2FBC8-C784-49BD-752F-A99037D4164A}"/>
              </a:ext>
            </a:extLst>
          </p:cNvPr>
          <p:cNvSpPr>
            <a:spLocks noGrp="1"/>
          </p:cNvSpPr>
          <p:nvPr>
            <p:ph type="dt" sz="half" idx="10"/>
          </p:nvPr>
        </p:nvSpPr>
        <p:spPr/>
        <p:txBody>
          <a:bodyPr/>
          <a:lstStyle/>
          <a:p>
            <a:fld id="{58B52161-86A5-48CB-BA9B-27F00BC067DA}" type="datetimeFigureOut">
              <a:rPr lang="en-ZA" smtClean="0"/>
              <a:t>2026/10/26</a:t>
            </a:fld>
            <a:endParaRPr lang="en-ZA"/>
          </a:p>
        </p:txBody>
      </p:sp>
      <p:sp>
        <p:nvSpPr>
          <p:cNvPr id="4" name="Footer Placeholder 3">
            <a:extLst>
              <a:ext uri="{FF2B5EF4-FFF2-40B4-BE49-F238E27FC236}">
                <a16:creationId xmlns:a16="http://schemas.microsoft.com/office/drawing/2014/main" id="{00C483BE-CD94-3FAE-CAA4-49A7937AFD2D}"/>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4118A9BE-70F2-8DEF-CFD7-5BD17E203251}"/>
              </a:ext>
            </a:extLst>
          </p:cNvPr>
          <p:cNvSpPr>
            <a:spLocks noGrp="1"/>
          </p:cNvSpPr>
          <p:nvPr>
            <p:ph type="sldNum" sz="quarter" idx="12"/>
          </p:nvPr>
        </p:nvSpPr>
        <p:spPr/>
        <p:txBody>
          <a:bodyPr/>
          <a:lstStyle/>
          <a:p>
            <a:fld id="{3FA13BAC-F59A-40A9-AF31-1C1746D01893}" type="slidenum">
              <a:rPr lang="en-ZA" smtClean="0"/>
              <a:t>‹#›</a:t>
            </a:fld>
            <a:endParaRPr lang="en-ZA"/>
          </a:p>
        </p:txBody>
      </p:sp>
      <p:sp>
        <p:nvSpPr>
          <p:cNvPr id="90" name="Deck footer"/>
          <p:cNvSpPr txBox="1"/>
          <p:nvPr userDrawn="1"/>
        </p:nvSpPr>
        <p:spPr>
          <a:xfrm>
            <a:off x="548640" y="6419088"/>
            <a:ext cx="5486400" cy="228600"/>
          </a:xfrm>
          <a:prstGeom prst="rect">
            <a:avLst/>
          </a:prstGeom>
          <a:noFill/>
        </p:spPr>
        <p:txBody>
          <a:bodyPr wrap="square" lIns="0" tIns="0" rIns="0" bIns="0" anchor="ctr"/>
          <a:lstStyle/>
          <a:p>
            <a:r>
              <a:rPr lang="en-ZA" sz="1000" b="1">
                <a:solidFill>
                  <a:srgbClr val="5E5E38"/>
                </a:solidFill>
              </a:rPr>
              <a:t>TIVIDY</a:t>
            </a:r>
            <a:r>
              <a:rPr lang="en-ZA" sz="1000">
                <a:solidFill>
                  <a:srgbClr val="66665A"/>
                </a:solidFill>
              </a:rPr>
              <a:t>   |   COS 214 Final Project 2026</a:t>
            </a:r>
          </a:p>
        </p:txBody>
      </p:sp>
      <p:sp>
        <p:nvSpPr>
          <p:cNvPr id="91" name="Deck slide number"/>
          <p:cNvSpPr txBox="1"/>
          <p:nvPr userDrawn="1"/>
        </p:nvSpPr>
        <p:spPr>
          <a:xfrm>
            <a:off x="10725912" y="6419088"/>
            <a:ext cx="914400" cy="228600"/>
          </a:xfrm>
          <a:prstGeom prst="rect">
            <a:avLst/>
          </a:prstGeom>
          <a:noFill/>
        </p:spPr>
        <p:txBody>
          <a:bodyPr wrap="square" lIns="0" tIns="0" rIns="0" bIns="0" anchor="ctr"/>
          <a:lstStyle/>
          <a:p>
            <a:pPr algn="r"/>
            <a:fld id="{B6F15528-21DE-4FAA-801E-634DDDAF4B2B}" type="slidenum">
              <a:rPr lang="en-ZA" sz="1000">
                <a:solidFill>
                  <a:srgbClr val="66665A"/>
                </a:solidFill>
              </a:rPr>
              <a:t>‹#›</a:t>
            </a:fld>
          </a:p>
        </p:txBody>
      </p:sp>
    </p:spTree>
    <p:extLst>
      <p:ext uri="{BB962C8B-B14F-4D97-AF65-F5344CB8AC3E}">
        <p14:creationId xmlns:p14="http://schemas.microsoft.com/office/powerpoint/2010/main" val="271121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1D361A-F875-0AC1-BEDC-8DB36CC22637}"/>
              </a:ext>
            </a:extLst>
          </p:cNvPr>
          <p:cNvSpPr>
            <a:spLocks noGrp="1"/>
          </p:cNvSpPr>
          <p:nvPr>
            <p:ph type="dt" sz="half" idx="10"/>
          </p:nvPr>
        </p:nvSpPr>
        <p:spPr/>
        <p:txBody>
          <a:bodyPr/>
          <a:lstStyle/>
          <a:p>
            <a:fld id="{58B52161-86A5-48CB-BA9B-27F00BC067DA}" type="datetimeFigureOut">
              <a:rPr lang="en-ZA" smtClean="0"/>
              <a:t>2026/10/26</a:t>
            </a:fld>
            <a:endParaRPr lang="en-ZA"/>
          </a:p>
        </p:txBody>
      </p:sp>
      <p:sp>
        <p:nvSpPr>
          <p:cNvPr id="3" name="Footer Placeholder 2">
            <a:extLst>
              <a:ext uri="{FF2B5EF4-FFF2-40B4-BE49-F238E27FC236}">
                <a16:creationId xmlns:a16="http://schemas.microsoft.com/office/drawing/2014/main" id="{37B652AF-2AEF-F4DB-D9B3-707626DDCEA4}"/>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D9F7524B-DF4D-4BBB-D881-DE15FAD66E10}"/>
              </a:ext>
            </a:extLst>
          </p:cNvPr>
          <p:cNvSpPr>
            <a:spLocks noGrp="1"/>
          </p:cNvSpPr>
          <p:nvPr>
            <p:ph type="sldNum" sz="quarter" idx="12"/>
          </p:nvPr>
        </p:nvSpPr>
        <p:spPr/>
        <p:txBody>
          <a:bodyPr/>
          <a:lstStyle/>
          <a:p>
            <a:fld id="{3FA13BAC-F59A-40A9-AF31-1C1746D01893}" type="slidenum">
              <a:rPr lang="en-ZA" smtClean="0"/>
              <a:t>‹#›</a:t>
            </a:fld>
            <a:endParaRPr lang="en-ZA"/>
          </a:p>
        </p:txBody>
      </p:sp>
    </p:spTree>
    <p:extLst>
      <p:ext uri="{BB962C8B-B14F-4D97-AF65-F5344CB8AC3E}">
        <p14:creationId xmlns:p14="http://schemas.microsoft.com/office/powerpoint/2010/main" val="2061179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41C82-64A7-38E1-12A8-AD899CB1A2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C24D60E0-E649-1CDE-EBBE-CD9871D64B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219288D8-BC14-D04B-032A-7D310CDEEC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5B1B6B-ED8C-4B06-575F-13A51B3CD227}"/>
              </a:ext>
            </a:extLst>
          </p:cNvPr>
          <p:cNvSpPr>
            <a:spLocks noGrp="1"/>
          </p:cNvSpPr>
          <p:nvPr>
            <p:ph type="dt" sz="half" idx="10"/>
          </p:nvPr>
        </p:nvSpPr>
        <p:spPr/>
        <p:txBody>
          <a:bodyPr/>
          <a:lstStyle/>
          <a:p>
            <a:fld id="{58B52161-86A5-48CB-BA9B-27F00BC067DA}" type="datetimeFigureOut">
              <a:rPr lang="en-ZA" smtClean="0"/>
              <a:t>2026/10/26</a:t>
            </a:fld>
            <a:endParaRPr lang="en-ZA"/>
          </a:p>
        </p:txBody>
      </p:sp>
      <p:sp>
        <p:nvSpPr>
          <p:cNvPr id="6" name="Footer Placeholder 5">
            <a:extLst>
              <a:ext uri="{FF2B5EF4-FFF2-40B4-BE49-F238E27FC236}">
                <a16:creationId xmlns:a16="http://schemas.microsoft.com/office/drawing/2014/main" id="{FD0449F9-4BDC-7E84-4BC6-2B4A3699A619}"/>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FDF4DAFE-EF0E-3B8F-80F8-C6A616B30BC5}"/>
              </a:ext>
            </a:extLst>
          </p:cNvPr>
          <p:cNvSpPr>
            <a:spLocks noGrp="1"/>
          </p:cNvSpPr>
          <p:nvPr>
            <p:ph type="sldNum" sz="quarter" idx="12"/>
          </p:nvPr>
        </p:nvSpPr>
        <p:spPr/>
        <p:txBody>
          <a:bodyPr/>
          <a:lstStyle/>
          <a:p>
            <a:fld id="{3FA13BAC-F59A-40A9-AF31-1C1746D01893}" type="slidenum">
              <a:rPr lang="en-ZA" smtClean="0"/>
              <a:t>‹#›</a:t>
            </a:fld>
            <a:endParaRPr lang="en-ZA"/>
          </a:p>
        </p:txBody>
      </p:sp>
    </p:spTree>
    <p:extLst>
      <p:ext uri="{BB962C8B-B14F-4D97-AF65-F5344CB8AC3E}">
        <p14:creationId xmlns:p14="http://schemas.microsoft.com/office/powerpoint/2010/main" val="1981100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02052-3F42-34F6-D828-FFF706B86C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95656F52-6595-E172-C479-03750E565BD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1E3BD5B5-3712-3B24-B774-03C303D363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F5D2ED-3A29-F478-BEB7-D37B76462EE8}"/>
              </a:ext>
            </a:extLst>
          </p:cNvPr>
          <p:cNvSpPr>
            <a:spLocks noGrp="1"/>
          </p:cNvSpPr>
          <p:nvPr>
            <p:ph type="dt" sz="half" idx="10"/>
          </p:nvPr>
        </p:nvSpPr>
        <p:spPr/>
        <p:txBody>
          <a:bodyPr/>
          <a:lstStyle/>
          <a:p>
            <a:fld id="{58B52161-86A5-48CB-BA9B-27F00BC067DA}" type="datetimeFigureOut">
              <a:rPr lang="en-ZA" smtClean="0"/>
              <a:t>2026/10/26</a:t>
            </a:fld>
            <a:endParaRPr lang="en-ZA"/>
          </a:p>
        </p:txBody>
      </p:sp>
      <p:sp>
        <p:nvSpPr>
          <p:cNvPr id="6" name="Footer Placeholder 5">
            <a:extLst>
              <a:ext uri="{FF2B5EF4-FFF2-40B4-BE49-F238E27FC236}">
                <a16:creationId xmlns:a16="http://schemas.microsoft.com/office/drawing/2014/main" id="{9B3944DA-3564-3A85-FD35-D5049C625AA1}"/>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4EF37271-BE6C-291F-CD2F-3736BBC4078C}"/>
              </a:ext>
            </a:extLst>
          </p:cNvPr>
          <p:cNvSpPr>
            <a:spLocks noGrp="1"/>
          </p:cNvSpPr>
          <p:nvPr>
            <p:ph type="sldNum" sz="quarter" idx="12"/>
          </p:nvPr>
        </p:nvSpPr>
        <p:spPr/>
        <p:txBody>
          <a:bodyPr/>
          <a:lstStyle/>
          <a:p>
            <a:fld id="{3FA13BAC-F59A-40A9-AF31-1C1746D01893}" type="slidenum">
              <a:rPr lang="en-ZA" smtClean="0"/>
              <a:t>‹#›</a:t>
            </a:fld>
            <a:endParaRPr lang="en-ZA"/>
          </a:p>
        </p:txBody>
      </p:sp>
    </p:spTree>
    <p:extLst>
      <p:ext uri="{BB962C8B-B14F-4D97-AF65-F5344CB8AC3E}">
        <p14:creationId xmlns:p14="http://schemas.microsoft.com/office/powerpoint/2010/main" val="1192482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AF5F4-E5C1-26B3-1EEC-B266D0934812}"/>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F44A3B2-C4D0-4FC5-EA1C-483F958F42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841EF99-0C3F-B107-99A3-8A8805411F3E}"/>
              </a:ext>
            </a:extLst>
          </p:cNvPr>
          <p:cNvSpPr>
            <a:spLocks noGrp="1"/>
          </p:cNvSpPr>
          <p:nvPr>
            <p:ph type="dt" sz="half" idx="10"/>
          </p:nvPr>
        </p:nvSpPr>
        <p:spPr/>
        <p:txBody>
          <a:bodyPr/>
          <a:lstStyle/>
          <a:p>
            <a:fld id="{58B52161-86A5-48CB-BA9B-27F00BC067DA}" type="datetimeFigureOut">
              <a:rPr lang="en-ZA" smtClean="0"/>
              <a:t>2026/10/26</a:t>
            </a:fld>
            <a:endParaRPr lang="en-ZA"/>
          </a:p>
        </p:txBody>
      </p:sp>
      <p:sp>
        <p:nvSpPr>
          <p:cNvPr id="5" name="Footer Placeholder 4">
            <a:extLst>
              <a:ext uri="{FF2B5EF4-FFF2-40B4-BE49-F238E27FC236}">
                <a16:creationId xmlns:a16="http://schemas.microsoft.com/office/drawing/2014/main" id="{E243A597-C694-D31C-5B12-735B0C70E6B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218FF6B-FDB7-96A3-FFEF-FD7D87FCD83B}"/>
              </a:ext>
            </a:extLst>
          </p:cNvPr>
          <p:cNvSpPr>
            <a:spLocks noGrp="1"/>
          </p:cNvSpPr>
          <p:nvPr>
            <p:ph type="sldNum" sz="quarter" idx="12"/>
          </p:nvPr>
        </p:nvSpPr>
        <p:spPr/>
        <p:txBody>
          <a:bodyPr/>
          <a:lstStyle/>
          <a:p>
            <a:fld id="{3FA13BAC-F59A-40A9-AF31-1C1746D01893}" type="slidenum">
              <a:rPr lang="en-ZA" smtClean="0"/>
              <a:t>‹#›</a:t>
            </a:fld>
            <a:endParaRPr lang="en-ZA"/>
          </a:p>
        </p:txBody>
      </p:sp>
    </p:spTree>
    <p:extLst>
      <p:ext uri="{BB962C8B-B14F-4D97-AF65-F5344CB8AC3E}">
        <p14:creationId xmlns:p14="http://schemas.microsoft.com/office/powerpoint/2010/main" val="2045153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7615A2-483E-7DCD-884F-EA31E9CB43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1B459FC6-9622-84AA-8D17-3371EBD3DB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1F30731-3CEF-C7EA-0C80-76E3A9EBE36A}"/>
              </a:ext>
            </a:extLst>
          </p:cNvPr>
          <p:cNvSpPr>
            <a:spLocks noGrp="1"/>
          </p:cNvSpPr>
          <p:nvPr>
            <p:ph type="dt" sz="half" idx="10"/>
          </p:nvPr>
        </p:nvSpPr>
        <p:spPr/>
        <p:txBody>
          <a:bodyPr/>
          <a:lstStyle/>
          <a:p>
            <a:fld id="{58B52161-86A5-48CB-BA9B-27F00BC067DA}" type="datetimeFigureOut">
              <a:rPr lang="en-ZA" smtClean="0"/>
              <a:t>2026/10/26</a:t>
            </a:fld>
            <a:endParaRPr lang="en-ZA"/>
          </a:p>
        </p:txBody>
      </p:sp>
      <p:sp>
        <p:nvSpPr>
          <p:cNvPr id="5" name="Footer Placeholder 4">
            <a:extLst>
              <a:ext uri="{FF2B5EF4-FFF2-40B4-BE49-F238E27FC236}">
                <a16:creationId xmlns:a16="http://schemas.microsoft.com/office/drawing/2014/main" id="{4913272B-0AB3-3E00-7431-0DE3E7518F6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665774C-0424-2FBB-70B5-AD6DBB3776E1}"/>
              </a:ext>
            </a:extLst>
          </p:cNvPr>
          <p:cNvSpPr>
            <a:spLocks noGrp="1"/>
          </p:cNvSpPr>
          <p:nvPr>
            <p:ph type="sldNum" sz="quarter" idx="12"/>
          </p:nvPr>
        </p:nvSpPr>
        <p:spPr/>
        <p:txBody>
          <a:bodyPr/>
          <a:lstStyle/>
          <a:p>
            <a:fld id="{3FA13BAC-F59A-40A9-AF31-1C1746D01893}" type="slidenum">
              <a:rPr lang="en-ZA" smtClean="0"/>
              <a:t>‹#›</a:t>
            </a:fld>
            <a:endParaRPr lang="en-ZA"/>
          </a:p>
        </p:txBody>
      </p:sp>
    </p:spTree>
    <p:extLst>
      <p:ext uri="{BB962C8B-B14F-4D97-AF65-F5344CB8AC3E}">
        <p14:creationId xmlns:p14="http://schemas.microsoft.com/office/powerpoint/2010/main" val="306878200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6A81B4-0B83-D45D-4BD4-E7A79BEBF2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2A98E585-004F-F793-928C-69052CB2E9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1F3B46D4-E091-8309-6038-652AE0DFFA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B52161-86A5-48CB-BA9B-27F00BC067DA}" type="datetimeFigureOut">
              <a:rPr lang="en-ZA" smtClean="0"/>
              <a:t>2026/10/26</a:t>
            </a:fld>
            <a:endParaRPr lang="en-ZA"/>
          </a:p>
        </p:txBody>
      </p:sp>
      <p:sp>
        <p:nvSpPr>
          <p:cNvPr id="5" name="Footer Placeholder 4">
            <a:extLst>
              <a:ext uri="{FF2B5EF4-FFF2-40B4-BE49-F238E27FC236}">
                <a16:creationId xmlns:a16="http://schemas.microsoft.com/office/drawing/2014/main" id="{3A1375DE-B45D-7FD2-D711-C82FEAABF9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15C544C8-930A-03D5-9A80-0748135056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A13BAC-F59A-40A9-AF31-1C1746D01893}" type="slidenum">
              <a:rPr lang="en-ZA" smtClean="0"/>
              <a:t>‹#›</a:t>
            </a:fld>
            <a:endParaRPr lang="en-ZA"/>
          </a:p>
        </p:txBody>
      </p:sp>
    </p:spTree>
    <p:extLst>
      <p:ext uri="{BB962C8B-B14F-4D97-AF65-F5344CB8AC3E}">
        <p14:creationId xmlns:p14="http://schemas.microsoft.com/office/powerpoint/2010/main" val="19090626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7.png"/><Relationship Id="rId8" Type="http://schemas.openxmlformats.org/officeDocument/2006/relationships/image" Target="../media/image20.png"/><Relationship Id="rId9"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7.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0.png"/><Relationship Id="rId9"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15.png"/><Relationship Id="rId6" Type="http://schemas.openxmlformats.org/officeDocument/2006/relationships/image" Target="../media/image11.png"/><Relationship Id="rId7" Type="http://schemas.openxmlformats.org/officeDocument/2006/relationships/image" Target="../media/image14.png"/><Relationship Id="rId8" Type="http://schemas.openxmlformats.org/officeDocument/2006/relationships/image" Target="../media/image27.png"/><Relationship Id="rId9"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11.png"/><Relationship Id="rId6"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25.png"/><Relationship Id="rId6"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image" Target="../media/image25.png"/><Relationship Id="rId7" Type="http://schemas.openxmlformats.org/officeDocument/2006/relationships/image" Target="../media/image32.png"/><Relationship Id="rId8"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notesSlide" Target="../notesSlides/notesSlide24.xml"/></Relationships>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Freeform 2"/>
          <p:cNvSpPr/>
          <p:nvPr/>
        </p:nvSpPr>
        <p:spPr>
          <a:xfrm flipV="1">
            <a:off x="0" y="-1"/>
            <a:ext cx="12192000" cy="6858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a:duotone>
                <a:prstClr val="black"/>
                <a:srgbClr val="FFFF00">
                  <a:tint val="45000"/>
                  <a:satMod val="400000"/>
                </a:srgbClr>
              </a:duotone>
            </a:blip>
            <a:stretch>
              <a:fillRect t="-1777" b="-1777"/>
            </a:stretch>
          </a:blipFill>
        </p:spPr>
        <p:txBody>
          <a:bodyPr/>
          <a:lstStyle/>
          <a:p>
            <a:endParaRPr lang="en-US" dirty="0"/>
          </a:p>
        </p:txBody>
      </p:sp>
      <p:sp>
        <p:nvSpPr>
          <p:cNvPr id="7" name="Freeform 7"/>
          <p:cNvSpPr/>
          <p:nvPr/>
        </p:nvSpPr>
        <p:spPr>
          <a:xfrm>
            <a:off x="893991" y="578875"/>
            <a:ext cx="705412" cy="961380"/>
          </a:xfrm>
          <a:custGeom>
            <a:avLst/>
            <a:gdLst/>
            <a:ahLst/>
            <a:cxnLst/>
            <a:rect l="l" t="t" r="r" b="b"/>
            <a:pathLst>
              <a:path w="1058118" h="1442069">
                <a:moveTo>
                  <a:pt x="0" y="0"/>
                </a:moveTo>
                <a:lnTo>
                  <a:pt x="1058118" y="0"/>
                </a:lnTo>
                <a:lnTo>
                  <a:pt x="1058118" y="1442070"/>
                </a:lnTo>
                <a:lnTo>
                  <a:pt x="0" y="1442070"/>
                </a:lnTo>
                <a:lnTo>
                  <a:pt x="0" y="0"/>
                </a:lnTo>
                <a:close/>
              </a:path>
            </a:pathLst>
          </a:custGeom>
          <a:blipFill>
            <a:blip r:embed="rId3"/>
            <a:stretch>
              <a:fillRect/>
            </a:stretch>
          </a:blipFill>
        </p:spPr>
        <p:txBody>
          <a:bodyPr/>
          <a:lstStyle/>
          <a:p>
            <a:endParaRPr lang="en-US"/>
          </a:p>
        </p:txBody>
      </p:sp>
      <p:sp>
        <p:nvSpPr>
          <p:cNvPr id="9" name="Freeform 8"/>
          <p:cNvSpPr/>
          <p:nvPr/>
        </p:nvSpPr>
        <p:spPr>
          <a:xfrm>
            <a:off x="10724588" y="578875"/>
            <a:ext cx="705412" cy="961380"/>
          </a:xfrm>
          <a:custGeom>
            <a:avLst/>
            <a:gdLst/>
            <a:ahLst/>
            <a:cxnLst/>
            <a:rect l="l" t="t" r="r" b="b"/>
            <a:pathLst>
              <a:path w="1058118" h="1442069">
                <a:moveTo>
                  <a:pt x="0" y="0"/>
                </a:moveTo>
                <a:lnTo>
                  <a:pt x="1058118" y="0"/>
                </a:lnTo>
                <a:lnTo>
                  <a:pt x="1058118" y="1442070"/>
                </a:lnTo>
                <a:lnTo>
                  <a:pt x="0" y="1442070"/>
                </a:lnTo>
                <a:lnTo>
                  <a:pt x="0" y="0"/>
                </a:lnTo>
                <a:close/>
              </a:path>
            </a:pathLst>
          </a:custGeom>
          <a:blipFill>
            <a:blip r:embed="rId3"/>
            <a:stretch>
              <a:fillRect/>
            </a:stretch>
          </a:blipFill>
        </p:spPr>
        <p:txBody>
          <a:bodyPr/>
          <a:lstStyle/>
          <a:p>
            <a:endParaRPr lang="en-US"/>
          </a:p>
        </p:txBody>
      </p:sp>
      <p:sp>
        <p:nvSpPr>
          <p:cNvPr id="2" name="Title 1"/>
          <p:cNvSpPr>
            <a:spLocks noGrp="1"/>
          </p:cNvSpPr>
          <p:nvPr>
            <p:ph type="ctrTitle"/>
          </p:nvPr>
        </p:nvSpPr>
        <p:spPr>
          <a:xfrm>
            <a:off x="1280160" y="1600200"/>
            <a:ext cx="9628632" cy="1554480"/>
          </a:xfrm>
        </p:spPr>
        <p:txBody>
          <a:bodyPr anchor="b"/>
          <a:lstStyle/>
          <a:p>
            <a:r>
              <a:rPr sz="8800" b="1">
                <a:solidFill>
                  <a:schemeClr val="bg1"/>
                </a:solidFill>
              </a:rPr>
              <a:t>TIVIDY</a:t>
            </a:r>
          </a:p>
        </p:txBody>
      </p:sp>
      <p:sp>
        <p:nvSpPr>
          <p:cNvPr id="3" name="Subtitle 2"/>
          <p:cNvSpPr>
            <a:spLocks noGrp="1"/>
          </p:cNvSpPr>
          <p:nvPr>
            <p:ph type="subTitle" idx="1"/>
          </p:nvPr>
        </p:nvSpPr>
        <p:spPr>
          <a:xfrm>
            <a:off x="1280160" y="3246120"/>
            <a:ext cx="9628632" cy="640080"/>
          </a:xfrm>
        </p:spPr>
        <p:txBody>
          <a:bodyPr/>
          <a:lstStyle/>
          <a:p>
            <a:r>
              <a:rPr sz="3000">
                <a:solidFill>
                  <a:srgbClr val="FFFFFF"/>
                </a:solidFill>
              </a:rPr>
              <a:t>Generic Workflow Management System</a:t>
            </a:r>
          </a:p>
        </p:txBody>
      </p:sp>
      <p:sp>
        <p:nvSpPr>
          <p:cNvPr id="10" name="Course line"/>
          <p:cNvSpPr txBox="1"/>
          <p:nvPr/>
        </p:nvSpPr>
        <p:spPr>
          <a:xfrm>
            <a:off x="1280160" y="4023360"/>
            <a:ext cx="9628632" cy="365760"/>
          </a:xfrm>
          <a:prstGeom prst="rect">
            <a:avLst/>
          </a:prstGeom>
          <a:noFill/>
        </p:spPr>
        <p:txBody>
          <a:bodyPr wrap="square" lIns="0" rIns="0" tIns="0" bIns="0" anchor="t">
            <a:spAutoFit/>
          </a:bodyPr>
          <a:lstStyle/>
          <a:p>
            <a:pPr algn="ctr">
              <a:spcAft>
                <a:spcPts val="400"/>
              </a:spcAft>
            </a:pPr>
            <a:r>
              <a:rPr sz="1400" b="1" i="0" spc="200">
                <a:solidFill>
                  <a:srgbClr val="CACA98"/>
                </a:solidFill>
              </a:rPr>
              <a:t>COS 214 FINAL PROJECT   ·   2026   ·   UNIVERSITY OF PRETORIA</a:t>
            </a:r>
          </a:p>
        </p:txBody>
      </p:sp>
      <p:sp>
        <p:nvSpPr>
          <p:cNvPr id="11" name="Team member"/>
          <p:cNvSpPr txBox="1"/>
          <p:nvPr/>
        </p:nvSpPr>
        <p:spPr>
          <a:xfrm>
            <a:off x="548640" y="5349240"/>
            <a:ext cx="2218334" cy="548640"/>
          </a:xfrm>
          <a:prstGeom prst="rect">
            <a:avLst/>
          </a:prstGeom>
          <a:noFill/>
        </p:spPr>
        <p:txBody>
          <a:bodyPr wrap="square" lIns="0" rIns="0" tIns="0" bIns="0" anchor="t">
            <a:spAutoFit/>
          </a:bodyPr>
          <a:lstStyle/>
          <a:p>
            <a:pPr algn="ctr">
              <a:spcAft>
                <a:spcPts val="100"/>
              </a:spcAft>
            </a:pPr>
            <a:r>
              <a:rPr sz="1400" b="1" i="0">
                <a:solidFill>
                  <a:srgbClr val="FFFFFF"/>
                </a:solidFill>
              </a:rPr>
              <a:t>Lindokuhle Skosana</a:t>
            </a:r>
          </a:p>
          <a:p>
            <a:pPr algn="ctr">
              <a:spcAft>
                <a:spcPts val="0"/>
              </a:spcAft>
            </a:pPr>
            <a:r>
              <a:rPr sz="1200" b="0" i="0">
                <a:solidFill>
                  <a:srgbClr val="DDDDCB"/>
                </a:solidFill>
              </a:rPr>
              <a:t>u24891968</a:t>
            </a:r>
          </a:p>
        </p:txBody>
      </p:sp>
      <p:sp>
        <p:nvSpPr>
          <p:cNvPr id="12" name="Team member"/>
          <p:cNvSpPr txBox="1"/>
          <p:nvPr/>
        </p:nvSpPr>
        <p:spPr>
          <a:xfrm>
            <a:off x="2766974" y="5349240"/>
            <a:ext cx="2218334" cy="548640"/>
          </a:xfrm>
          <a:prstGeom prst="rect">
            <a:avLst/>
          </a:prstGeom>
          <a:noFill/>
        </p:spPr>
        <p:txBody>
          <a:bodyPr wrap="square" lIns="0" rIns="0" tIns="0" bIns="0" anchor="t">
            <a:spAutoFit/>
          </a:bodyPr>
          <a:lstStyle/>
          <a:p>
            <a:pPr algn="ctr">
              <a:spcAft>
                <a:spcPts val="100"/>
              </a:spcAft>
            </a:pPr>
            <a:r>
              <a:rPr sz="1400" b="1" i="0">
                <a:solidFill>
                  <a:srgbClr val="FFFFFF"/>
                </a:solidFill>
              </a:rPr>
              <a:t>Kristy Heesen</a:t>
            </a:r>
          </a:p>
          <a:p>
            <a:pPr algn="ctr">
              <a:spcAft>
                <a:spcPts val="0"/>
              </a:spcAft>
            </a:pPr>
            <a:r>
              <a:rPr sz="1200" b="0" i="0">
                <a:solidFill>
                  <a:srgbClr val="DDDDCB"/>
                </a:solidFill>
              </a:rPr>
              <a:t>u24702341</a:t>
            </a:r>
          </a:p>
        </p:txBody>
      </p:sp>
      <p:sp>
        <p:nvSpPr>
          <p:cNvPr id="13" name="Team member"/>
          <p:cNvSpPr txBox="1"/>
          <p:nvPr/>
        </p:nvSpPr>
        <p:spPr>
          <a:xfrm>
            <a:off x="4985308" y="5349240"/>
            <a:ext cx="2218334" cy="548640"/>
          </a:xfrm>
          <a:prstGeom prst="rect">
            <a:avLst/>
          </a:prstGeom>
          <a:noFill/>
        </p:spPr>
        <p:txBody>
          <a:bodyPr wrap="square" lIns="0" rIns="0" tIns="0" bIns="0" anchor="t">
            <a:spAutoFit/>
          </a:bodyPr>
          <a:lstStyle/>
          <a:p>
            <a:pPr algn="ctr">
              <a:spcAft>
                <a:spcPts val="100"/>
              </a:spcAft>
            </a:pPr>
            <a:r>
              <a:rPr sz="1400" b="1" i="0">
                <a:solidFill>
                  <a:srgbClr val="FFFFFF"/>
                </a:solidFill>
              </a:rPr>
              <a:t>LM Kabongo</a:t>
            </a:r>
          </a:p>
          <a:p>
            <a:pPr algn="ctr">
              <a:spcAft>
                <a:spcPts val="0"/>
              </a:spcAft>
            </a:pPr>
            <a:r>
              <a:rPr sz="1200" b="0" i="0">
                <a:solidFill>
                  <a:srgbClr val="DDDDCB"/>
                </a:solidFill>
              </a:rPr>
              <a:t>25030338</a:t>
            </a:r>
          </a:p>
        </p:txBody>
      </p:sp>
      <p:sp>
        <p:nvSpPr>
          <p:cNvPr id="14" name="Team member"/>
          <p:cNvSpPr txBox="1"/>
          <p:nvPr/>
        </p:nvSpPr>
        <p:spPr>
          <a:xfrm>
            <a:off x="7203643" y="5349240"/>
            <a:ext cx="2218334" cy="548640"/>
          </a:xfrm>
          <a:prstGeom prst="rect">
            <a:avLst/>
          </a:prstGeom>
          <a:noFill/>
        </p:spPr>
        <p:txBody>
          <a:bodyPr wrap="square" lIns="0" rIns="0" tIns="0" bIns="0" anchor="t">
            <a:spAutoFit/>
          </a:bodyPr>
          <a:lstStyle/>
          <a:p>
            <a:pPr algn="ctr">
              <a:spcAft>
                <a:spcPts val="100"/>
              </a:spcAft>
            </a:pPr>
            <a:r>
              <a:rPr sz="1400" b="1" i="0">
                <a:solidFill>
                  <a:srgbClr val="FFFFFF"/>
                </a:solidFill>
              </a:rPr>
              <a:t>Joshua Peter</a:t>
            </a:r>
          </a:p>
          <a:p>
            <a:pPr algn="ctr">
              <a:spcAft>
                <a:spcPts val="0"/>
              </a:spcAft>
            </a:pPr>
            <a:r>
              <a:rPr sz="1200" b="0" i="0">
                <a:solidFill>
                  <a:srgbClr val="DDDDCB"/>
                </a:solidFill>
              </a:rPr>
              <a:t>23626527</a:t>
            </a:r>
          </a:p>
        </p:txBody>
      </p:sp>
      <p:sp>
        <p:nvSpPr>
          <p:cNvPr id="15" name="Team member"/>
          <p:cNvSpPr txBox="1"/>
          <p:nvPr/>
        </p:nvSpPr>
        <p:spPr>
          <a:xfrm>
            <a:off x="9421977" y="5349240"/>
            <a:ext cx="2218334" cy="548640"/>
          </a:xfrm>
          <a:prstGeom prst="rect">
            <a:avLst/>
          </a:prstGeom>
          <a:noFill/>
        </p:spPr>
        <p:txBody>
          <a:bodyPr wrap="square" lIns="0" rIns="0" tIns="0" bIns="0" anchor="t">
            <a:spAutoFit/>
          </a:bodyPr>
          <a:lstStyle/>
          <a:p>
            <a:pPr algn="ctr">
              <a:spcAft>
                <a:spcPts val="100"/>
              </a:spcAft>
            </a:pPr>
            <a:r>
              <a:rPr sz="1400" b="1" i="0">
                <a:solidFill>
                  <a:srgbClr val="FFFFFF"/>
                </a:solidFill>
              </a:rPr>
              <a:t>Musa Msibi</a:t>
            </a:r>
          </a:p>
          <a:p>
            <a:pPr algn="ctr">
              <a:spcAft>
                <a:spcPts val="0"/>
              </a:spcAft>
            </a:pPr>
            <a:r>
              <a:rPr sz="1200" b="0" i="0">
                <a:solidFill>
                  <a:srgbClr val="DDDDCB"/>
                </a:solidFill>
              </a:rPr>
              <a:t>25098022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OVERVIEW</a:t>
            </a:r>
          </a:p>
        </p:txBody>
      </p:sp>
      <p:sp>
        <p:nvSpPr>
          <p:cNvPr id="4" name="Agenda row"/>
          <p:cNvSpPr/>
          <p:nvPr/>
        </p:nvSpPr>
        <p:spPr>
          <a:xfrm>
            <a:off x="548640" y="1572768"/>
            <a:ext cx="11091672" cy="65836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genda number"/>
          <p:cNvSpPr/>
          <p:nvPr/>
        </p:nvSpPr>
        <p:spPr>
          <a:xfrm>
            <a:off x="713232" y="1682495"/>
            <a:ext cx="438912" cy="438912"/>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FFFFFF"/>
                </a:solidFill>
              </a:rPr>
              <a:t>01</a:t>
            </a:r>
          </a:p>
        </p:txBody>
      </p:sp>
      <p:sp>
        <p:nvSpPr>
          <p:cNvPr id="6" name="Agenda text"/>
          <p:cNvSpPr txBox="1"/>
          <p:nvPr/>
        </p:nvSpPr>
        <p:spPr>
          <a:xfrm>
            <a:off x="1371600" y="1627632"/>
            <a:ext cx="7863840" cy="548640"/>
          </a:xfrm>
          <a:prstGeom prst="rect">
            <a:avLst/>
          </a:prstGeom>
          <a:noFill/>
        </p:spPr>
        <p:txBody>
          <a:bodyPr wrap="square" lIns="0" rIns="0" tIns="0" bIns="0" anchor="ctr">
            <a:spAutoFit/>
          </a:bodyPr>
          <a:lstStyle/>
          <a:p>
            <a:pPr>
              <a:spcAft>
                <a:spcPts val="0"/>
              </a:spcAft>
            </a:pPr>
            <a:r>
              <a:rPr sz="1700" b="1" i="0">
                <a:solidFill>
                  <a:srgbClr val="14150F"/>
                </a:solidFill>
              </a:rPr>
              <a:t>The reusable workflow engine</a:t>
            </a:r>
          </a:p>
          <a:p>
            <a:pPr>
              <a:spcAft>
                <a:spcPts val="0"/>
              </a:spcAft>
            </a:pPr>
            <a:r>
              <a:rPr sz="1300" b="0" i="0">
                <a:solidFill>
                  <a:srgbClr val="66665A"/>
                </a:solidFill>
              </a:rPr>
              <a:t>Scope, definition versus instance, one engine for many industries</a:t>
            </a:r>
          </a:p>
        </p:txBody>
      </p:sp>
      <p:sp>
        <p:nvSpPr>
          <p:cNvPr id="7" name="Tag"/>
          <p:cNvSpPr/>
          <p:nvPr/>
        </p:nvSpPr>
        <p:spPr>
          <a:xfrm>
            <a:off x="10149840" y="1755648"/>
            <a:ext cx="1280160" cy="292608"/>
          </a:xfrm>
          <a:prstGeom prst="roundRect">
            <a:avLst>
              <a:gd name="adj" fmla="val 50000"/>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200" b="1" i="0">
                <a:solidFill>
                  <a:srgbClr val="14150F"/>
                </a:solidFill>
              </a:rPr>
              <a:t>0–4 min</a:t>
            </a:r>
          </a:p>
        </p:txBody>
      </p:sp>
      <p:sp>
        <p:nvSpPr>
          <p:cNvPr id="8" name="Agenda row"/>
          <p:cNvSpPr/>
          <p:nvPr/>
        </p:nvSpPr>
        <p:spPr>
          <a:xfrm>
            <a:off x="548640" y="2340864"/>
            <a:ext cx="11091672" cy="65836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genda number"/>
          <p:cNvSpPr/>
          <p:nvPr/>
        </p:nvSpPr>
        <p:spPr>
          <a:xfrm>
            <a:off x="713232" y="2450592"/>
            <a:ext cx="438912" cy="438912"/>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FFFFFF"/>
                </a:solidFill>
              </a:rPr>
              <a:t>02</a:t>
            </a:r>
          </a:p>
        </p:txBody>
      </p:sp>
      <p:sp>
        <p:nvSpPr>
          <p:cNvPr id="10" name="Agenda text"/>
          <p:cNvSpPr txBox="1"/>
          <p:nvPr/>
        </p:nvSpPr>
        <p:spPr>
          <a:xfrm>
            <a:off x="1371600" y="2395728"/>
            <a:ext cx="7863840" cy="548640"/>
          </a:xfrm>
          <a:prstGeom prst="rect">
            <a:avLst/>
          </a:prstGeom>
          <a:noFill/>
        </p:spPr>
        <p:txBody>
          <a:bodyPr wrap="square" lIns="0" rIns="0" tIns="0" bIns="0" anchor="ctr">
            <a:spAutoFit/>
          </a:bodyPr>
          <a:lstStyle/>
          <a:p>
            <a:pPr>
              <a:spcAft>
                <a:spcPts val="0"/>
              </a:spcAft>
            </a:pPr>
            <a:r>
              <a:rPr sz="1700" b="1" i="0">
                <a:solidFill>
                  <a:srgbClr val="14150F"/>
                </a:solidFill>
              </a:rPr>
              <a:t>Two industries</a:t>
            </a:r>
          </a:p>
          <a:p>
            <a:pPr>
              <a:spcAft>
                <a:spcPts val="0"/>
              </a:spcAft>
            </a:pPr>
            <a:r>
              <a:rPr sz="1300" b="0" i="0">
                <a:solidFill>
                  <a:srgbClr val="66665A"/>
                </a:solidFill>
              </a:rPr>
              <a:t>University complaint handling and hospital patient admission &amp; treatment</a:t>
            </a:r>
          </a:p>
        </p:txBody>
      </p:sp>
      <p:sp>
        <p:nvSpPr>
          <p:cNvPr id="11" name="Tag"/>
          <p:cNvSpPr/>
          <p:nvPr/>
        </p:nvSpPr>
        <p:spPr>
          <a:xfrm>
            <a:off x="10149840" y="2523744"/>
            <a:ext cx="1280160" cy="292608"/>
          </a:xfrm>
          <a:prstGeom prst="roundRect">
            <a:avLst>
              <a:gd name="adj" fmla="val 50000"/>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200" b="1" i="0">
                <a:solidFill>
                  <a:srgbClr val="14150F"/>
                </a:solidFill>
              </a:rPr>
              <a:t>4–20 min</a:t>
            </a:r>
          </a:p>
        </p:txBody>
      </p:sp>
      <p:sp>
        <p:nvSpPr>
          <p:cNvPr id="12" name="Agenda row"/>
          <p:cNvSpPr/>
          <p:nvPr/>
        </p:nvSpPr>
        <p:spPr>
          <a:xfrm>
            <a:off x="548640" y="3108960"/>
            <a:ext cx="11091672" cy="65836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genda number"/>
          <p:cNvSpPr/>
          <p:nvPr/>
        </p:nvSpPr>
        <p:spPr>
          <a:xfrm>
            <a:off x="713232" y="3218688"/>
            <a:ext cx="438912" cy="438912"/>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FFFFFF"/>
                </a:solidFill>
              </a:rPr>
              <a:t>03</a:t>
            </a:r>
          </a:p>
        </p:txBody>
      </p:sp>
      <p:sp>
        <p:nvSpPr>
          <p:cNvPr id="14" name="Agenda text"/>
          <p:cNvSpPr txBox="1"/>
          <p:nvPr/>
        </p:nvSpPr>
        <p:spPr>
          <a:xfrm>
            <a:off x="1371600" y="3163824"/>
            <a:ext cx="7863840" cy="548640"/>
          </a:xfrm>
          <a:prstGeom prst="rect">
            <a:avLst/>
          </a:prstGeom>
          <a:noFill/>
        </p:spPr>
        <p:txBody>
          <a:bodyPr wrap="square" lIns="0" rIns="0" tIns="0" bIns="0" anchor="ctr">
            <a:spAutoFit/>
          </a:bodyPr>
          <a:lstStyle/>
          <a:p>
            <a:pPr>
              <a:spcAft>
                <a:spcPts val="0"/>
              </a:spcAft>
            </a:pPr>
            <a:r>
              <a:rPr sz="1700" b="1" i="0">
                <a:solidFill>
                  <a:srgbClr val="14150F"/>
                </a:solidFill>
              </a:rPr>
              <a:t>Live demonstration</a:t>
            </a:r>
          </a:p>
          <a:p>
            <a:pPr>
              <a:spcAft>
                <a:spcPts val="0"/>
              </a:spcAft>
            </a:pPr>
            <a:r>
              <a:rPr sz="1300" b="0" i="0">
                <a:solidFill>
                  <a:srgbClr val="66665A"/>
                </a:solidFill>
              </a:rPr>
              <a:t>Interactive C++11 text interface: decisions, exceptions and history</a:t>
            </a:r>
          </a:p>
        </p:txBody>
      </p:sp>
      <p:sp>
        <p:nvSpPr>
          <p:cNvPr id="15" name="Tag"/>
          <p:cNvSpPr/>
          <p:nvPr/>
        </p:nvSpPr>
        <p:spPr>
          <a:xfrm>
            <a:off x="10149840" y="3291840"/>
            <a:ext cx="1280160" cy="292608"/>
          </a:xfrm>
          <a:prstGeom prst="roundRect">
            <a:avLst>
              <a:gd name="adj" fmla="val 50000"/>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200" b="1" i="0">
                <a:solidFill>
                  <a:srgbClr val="14150F"/>
                </a:solidFill>
              </a:rPr>
              <a:t>4–20 min</a:t>
            </a:r>
          </a:p>
        </p:txBody>
      </p:sp>
      <p:sp>
        <p:nvSpPr>
          <p:cNvPr id="16" name="Agenda row"/>
          <p:cNvSpPr/>
          <p:nvPr/>
        </p:nvSpPr>
        <p:spPr>
          <a:xfrm>
            <a:off x="548640" y="3877056"/>
            <a:ext cx="11091672" cy="65836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genda number"/>
          <p:cNvSpPr/>
          <p:nvPr/>
        </p:nvSpPr>
        <p:spPr>
          <a:xfrm>
            <a:off x="713232" y="3986784"/>
            <a:ext cx="438912" cy="438912"/>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FFFFFF"/>
                </a:solidFill>
              </a:rPr>
              <a:t>04</a:t>
            </a:r>
          </a:p>
        </p:txBody>
      </p:sp>
      <p:sp>
        <p:nvSpPr>
          <p:cNvPr id="18" name="Agenda text"/>
          <p:cNvSpPr txBox="1"/>
          <p:nvPr/>
        </p:nvSpPr>
        <p:spPr>
          <a:xfrm>
            <a:off x="1371600" y="3931920"/>
            <a:ext cx="7863840" cy="548640"/>
          </a:xfrm>
          <a:prstGeom prst="rect">
            <a:avLst/>
          </a:prstGeom>
          <a:noFill/>
        </p:spPr>
        <p:txBody>
          <a:bodyPr wrap="square" lIns="0" rIns="0" tIns="0" bIns="0" anchor="ctr">
            <a:spAutoFit/>
          </a:bodyPr>
          <a:lstStyle/>
          <a:p>
            <a:pPr>
              <a:spcAft>
                <a:spcPts val="0"/>
              </a:spcAft>
            </a:pPr>
            <a:r>
              <a:rPr sz="1700" b="1" i="0">
                <a:solidFill>
                  <a:srgbClr val="14150F"/>
                </a:solidFill>
              </a:rPr>
              <a:t>Design &amp; GoF patterns</a:t>
            </a:r>
          </a:p>
          <a:p>
            <a:pPr>
              <a:spcAft>
                <a:spcPts val="0"/>
              </a:spcAft>
            </a:pPr>
            <a:r>
              <a:rPr sz="1300" b="0" i="0">
                <a:solidFill>
                  <a:srgbClr val="66665A"/>
                </a:solidFill>
              </a:rPr>
              <a:t>Pattern collaborations, UML diagrams and design decisions</a:t>
            </a:r>
          </a:p>
        </p:txBody>
      </p:sp>
      <p:sp>
        <p:nvSpPr>
          <p:cNvPr id="19" name="Tag"/>
          <p:cNvSpPr/>
          <p:nvPr/>
        </p:nvSpPr>
        <p:spPr>
          <a:xfrm>
            <a:off x="10149840" y="4059936"/>
            <a:ext cx="1280160" cy="292608"/>
          </a:xfrm>
          <a:prstGeom prst="roundRect">
            <a:avLst>
              <a:gd name="adj" fmla="val 50000"/>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200" b="1" i="0">
                <a:solidFill>
                  <a:srgbClr val="14150F"/>
                </a:solidFill>
              </a:rPr>
              <a:t>20–25 min</a:t>
            </a:r>
          </a:p>
        </p:txBody>
      </p:sp>
      <p:sp>
        <p:nvSpPr>
          <p:cNvPr id="20" name="Agenda row"/>
          <p:cNvSpPr/>
          <p:nvPr/>
        </p:nvSpPr>
        <p:spPr>
          <a:xfrm>
            <a:off x="548640" y="4645152"/>
            <a:ext cx="11091672" cy="65836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genda number"/>
          <p:cNvSpPr/>
          <p:nvPr/>
        </p:nvSpPr>
        <p:spPr>
          <a:xfrm>
            <a:off x="713232" y="4754880"/>
            <a:ext cx="438912" cy="438912"/>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FFFFFF"/>
                </a:solidFill>
              </a:rPr>
              <a:t>05</a:t>
            </a:r>
          </a:p>
        </p:txBody>
      </p:sp>
      <p:sp>
        <p:nvSpPr>
          <p:cNvPr id="22" name="Agenda text"/>
          <p:cNvSpPr txBox="1"/>
          <p:nvPr/>
        </p:nvSpPr>
        <p:spPr>
          <a:xfrm>
            <a:off x="1371600" y="4700016"/>
            <a:ext cx="7863840" cy="548640"/>
          </a:xfrm>
          <a:prstGeom prst="rect">
            <a:avLst/>
          </a:prstGeom>
          <a:noFill/>
        </p:spPr>
        <p:txBody>
          <a:bodyPr wrap="square" lIns="0" rIns="0" tIns="0" bIns="0" anchor="ctr">
            <a:spAutoFit/>
          </a:bodyPr>
          <a:lstStyle/>
          <a:p>
            <a:pPr>
              <a:spcAft>
                <a:spcPts val="0"/>
              </a:spcAft>
            </a:pPr>
            <a:r>
              <a:rPr sz="1700" b="1" i="0">
                <a:solidFill>
                  <a:srgbClr val="14150F"/>
                </a:solidFill>
              </a:rPr>
              <a:t>Testing &amp; engineering</a:t>
            </a:r>
          </a:p>
          <a:p>
            <a:pPr>
              <a:spcAft>
                <a:spcPts val="0"/>
              </a:spcAft>
            </a:pPr>
            <a:r>
              <a:rPr sz="1300" b="0" i="0">
                <a:solidFill>
                  <a:srgbClr val="66665A"/>
                </a:solidFill>
              </a:rPr>
              <a:t>Framework-based tests, GitHub evidence and requirements traceability</a:t>
            </a:r>
          </a:p>
        </p:txBody>
      </p:sp>
      <p:sp>
        <p:nvSpPr>
          <p:cNvPr id="23" name="Tag"/>
          <p:cNvSpPr/>
          <p:nvPr/>
        </p:nvSpPr>
        <p:spPr>
          <a:xfrm>
            <a:off x="10149840" y="4828032"/>
            <a:ext cx="1280160" cy="292608"/>
          </a:xfrm>
          <a:prstGeom prst="roundRect">
            <a:avLst>
              <a:gd name="adj" fmla="val 50000"/>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200" b="1" i="0">
                <a:solidFill>
                  <a:srgbClr val="14150F"/>
                </a:solidFill>
              </a:rPr>
              <a:t>20–25 min</a:t>
            </a:r>
          </a:p>
        </p:txBody>
      </p:sp>
      <p:sp>
        <p:nvSpPr>
          <p:cNvPr id="24" name="Agenda row"/>
          <p:cNvSpPr/>
          <p:nvPr/>
        </p:nvSpPr>
        <p:spPr>
          <a:xfrm>
            <a:off x="548640" y="5413248"/>
            <a:ext cx="11091672" cy="65836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genda number"/>
          <p:cNvSpPr/>
          <p:nvPr/>
        </p:nvSpPr>
        <p:spPr>
          <a:xfrm>
            <a:off x="713232" y="5522976"/>
            <a:ext cx="438912" cy="438912"/>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FFFFFF"/>
                </a:solidFill>
              </a:rPr>
              <a:t>06</a:t>
            </a:r>
          </a:p>
        </p:txBody>
      </p:sp>
      <p:sp>
        <p:nvSpPr>
          <p:cNvPr id="26" name="Agenda text"/>
          <p:cNvSpPr txBox="1"/>
          <p:nvPr/>
        </p:nvSpPr>
        <p:spPr>
          <a:xfrm>
            <a:off x="1371600" y="5468112"/>
            <a:ext cx="7863840" cy="548640"/>
          </a:xfrm>
          <a:prstGeom prst="rect">
            <a:avLst/>
          </a:prstGeom>
          <a:noFill/>
        </p:spPr>
        <p:txBody>
          <a:bodyPr wrap="square" lIns="0" rIns="0" tIns="0" bIns="0" anchor="ctr">
            <a:spAutoFit/>
          </a:bodyPr>
          <a:lstStyle/>
          <a:p>
            <a:pPr>
              <a:spcAft>
                <a:spcPts val="0"/>
              </a:spcAft>
            </a:pPr>
            <a:r>
              <a:rPr sz="1700" b="1" i="0">
                <a:solidFill>
                  <a:srgbClr val="14150F"/>
                </a:solidFill>
              </a:rPr>
              <a:t>Questions</a:t>
            </a:r>
          </a:p>
          <a:p>
            <a:pPr>
              <a:spcAft>
                <a:spcPts val="0"/>
              </a:spcAft>
            </a:pPr>
            <a:r>
              <a:rPr sz="1300" b="0" i="0">
                <a:solidFill>
                  <a:srgbClr val="66665A"/>
                </a:solidFill>
              </a:rPr>
              <a:t>Code inspection and discussion</a:t>
            </a:r>
          </a:p>
        </p:txBody>
      </p:sp>
      <p:sp>
        <p:nvSpPr>
          <p:cNvPr id="27" name="Tag"/>
          <p:cNvSpPr/>
          <p:nvPr/>
        </p:nvSpPr>
        <p:spPr>
          <a:xfrm>
            <a:off x="10149840" y="5596128"/>
            <a:ext cx="1280160" cy="292608"/>
          </a:xfrm>
          <a:prstGeom prst="roundRect">
            <a:avLst>
              <a:gd name="adj" fmla="val 50000"/>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200" b="1" i="0">
                <a:solidFill>
                  <a:srgbClr val="14150F"/>
                </a:solidFill>
              </a:rPr>
              <a:t>25–30 min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Freeform 2"/>
          <p:cNvSpPr/>
          <p:nvPr/>
        </p:nvSpPr>
        <p:spPr>
          <a:xfrm flipV="1">
            <a:off x="0" y="-1"/>
            <a:ext cx="12192000" cy="6858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a:duotone>
                <a:prstClr val="black"/>
                <a:srgbClr val="FFFF00">
                  <a:tint val="45000"/>
                  <a:satMod val="400000"/>
                </a:srgbClr>
              </a:duotone>
            </a:blip>
            <a:stretch>
              <a:fillRect t="-1777" b="-1777"/>
            </a:stretch>
          </a:blipFill>
        </p:spPr>
        <p:txBody>
          <a:bodyPr/>
          <a:lstStyle/>
          <a:p>
            <a:endParaRPr lang="en-US" dirty="0"/>
          </a:p>
        </p:txBody>
      </p:sp>
      <p:sp>
        <p:nvSpPr>
          <p:cNvPr id="7" name="Freeform 7"/>
          <p:cNvSpPr/>
          <p:nvPr/>
        </p:nvSpPr>
        <p:spPr>
          <a:xfrm>
            <a:off x="893991" y="578875"/>
            <a:ext cx="705412" cy="961380"/>
          </a:xfrm>
          <a:custGeom>
            <a:avLst/>
            <a:gdLst/>
            <a:ahLst/>
            <a:cxnLst/>
            <a:rect l="l" t="t" r="r" b="b"/>
            <a:pathLst>
              <a:path w="1058118" h="1442069">
                <a:moveTo>
                  <a:pt x="0" y="0"/>
                </a:moveTo>
                <a:lnTo>
                  <a:pt x="1058118" y="0"/>
                </a:lnTo>
                <a:lnTo>
                  <a:pt x="1058118" y="1442070"/>
                </a:lnTo>
                <a:lnTo>
                  <a:pt x="0" y="1442070"/>
                </a:lnTo>
                <a:lnTo>
                  <a:pt x="0" y="0"/>
                </a:lnTo>
                <a:close/>
              </a:path>
            </a:pathLst>
          </a:custGeom>
          <a:blipFill>
            <a:blip r:embed="rId3"/>
            <a:stretch>
              <a:fillRect/>
            </a:stretch>
          </a:blipFill>
        </p:spPr>
        <p:txBody>
          <a:bodyPr/>
          <a:lstStyle/>
          <a:p>
            <a:endParaRPr lang="en-US"/>
          </a:p>
        </p:txBody>
      </p:sp>
      <p:sp>
        <p:nvSpPr>
          <p:cNvPr id="9" name="Freeform 8"/>
          <p:cNvSpPr/>
          <p:nvPr/>
        </p:nvSpPr>
        <p:spPr>
          <a:xfrm>
            <a:off x="10724588" y="578875"/>
            <a:ext cx="705412" cy="961380"/>
          </a:xfrm>
          <a:custGeom>
            <a:avLst/>
            <a:gdLst/>
            <a:ahLst/>
            <a:cxnLst/>
            <a:rect l="l" t="t" r="r" b="b"/>
            <a:pathLst>
              <a:path w="1058118" h="1442069">
                <a:moveTo>
                  <a:pt x="0" y="0"/>
                </a:moveTo>
                <a:lnTo>
                  <a:pt x="1058118" y="0"/>
                </a:lnTo>
                <a:lnTo>
                  <a:pt x="1058118" y="1442070"/>
                </a:lnTo>
                <a:lnTo>
                  <a:pt x="0" y="1442070"/>
                </a:lnTo>
                <a:lnTo>
                  <a:pt x="0" y="0"/>
                </a:lnTo>
                <a:close/>
              </a:path>
            </a:pathLst>
          </a:custGeom>
          <a:blipFill>
            <a:blip r:embed="rId3"/>
            <a:stretch>
              <a:fillRect/>
            </a:stretch>
          </a:blipFill>
        </p:spPr>
        <p:txBody>
          <a:bodyPr/>
          <a:lstStyle/>
          <a:p>
            <a:endParaRPr lang="en-US"/>
          </a:p>
        </p:txBody>
      </p:sp>
      <p:sp>
        <p:nvSpPr>
          <p:cNvPr id="2" name="Title 1"/>
          <p:cNvSpPr>
            <a:spLocks noGrp="1"/>
          </p:cNvSpPr>
          <p:nvPr>
            <p:ph type="ctrTitle"/>
          </p:nvPr>
        </p:nvSpPr>
        <p:spPr>
          <a:xfrm>
            <a:off x="1280160" y="2651760"/>
            <a:ext cx="9628632" cy="1417320"/>
          </a:xfrm>
        </p:spPr>
        <p:txBody>
          <a:bodyPr anchor="t"/>
          <a:lstStyle/>
          <a:p>
            <a:r>
              <a:rPr sz="5400" b="1">
                <a:solidFill>
                  <a:schemeClr val="bg1"/>
                </a:solidFill>
              </a:rPr>
              <a:t>The Reusable Workflow Engine</a:t>
            </a:r>
          </a:p>
        </p:txBody>
      </p:sp>
      <p:sp>
        <p:nvSpPr>
          <p:cNvPr id="3" name="Subtitle 2"/>
          <p:cNvSpPr>
            <a:spLocks noGrp="1"/>
          </p:cNvSpPr>
          <p:nvPr>
            <p:ph type="subTitle" idx="1"/>
          </p:nvPr>
        </p:nvSpPr>
        <p:spPr>
          <a:xfrm>
            <a:off x="1280160" y="4251960"/>
            <a:ext cx="9628632" cy="822960"/>
          </a:xfrm>
        </p:spPr>
        <p:txBody>
          <a:bodyPr/>
          <a:lstStyle/>
          <a:p>
            <a:r>
              <a:rPr sz="2000">
                <a:solidFill>
                  <a:srgbClr val="DDDDCB"/>
                </a:solidFill>
              </a:rPr>
              <a:t>One generic core · definitions, instances and clear boundaries</a:t>
            </a:r>
          </a:p>
        </p:txBody>
      </p:sp>
      <p:sp>
        <p:nvSpPr>
          <p:cNvPr id="10" name="Section number"/>
          <p:cNvSpPr txBox="1"/>
          <p:nvPr/>
        </p:nvSpPr>
        <p:spPr>
          <a:xfrm>
            <a:off x="1280160" y="2148840"/>
            <a:ext cx="9628632" cy="457200"/>
          </a:xfrm>
          <a:prstGeom prst="rect">
            <a:avLst/>
          </a:prstGeom>
          <a:noFill/>
        </p:spPr>
        <p:txBody>
          <a:bodyPr wrap="square" lIns="0" rIns="0" tIns="0" bIns="0" anchor="t">
            <a:spAutoFit/>
          </a:bodyPr>
          <a:lstStyle/>
          <a:p>
            <a:pPr algn="ctr">
              <a:spcAft>
                <a:spcPts val="400"/>
              </a:spcAft>
            </a:pPr>
            <a:r>
              <a:rPr sz="2000" b="1" i="0" spc="400">
                <a:solidFill>
                  <a:srgbClr val="CACA98"/>
                </a:solidFill>
              </a:rPr>
              <a:t>01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TIVIDY is</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01 · THE REUSABLE ENGINE</a:t>
            </a:r>
          </a:p>
        </p:txBody>
      </p:sp>
      <p:sp>
        <p:nvSpPr>
          <p:cNvPr id="4" name="Lead statement"/>
          <p:cNvSpPr txBox="1"/>
          <p:nvPr/>
        </p:nvSpPr>
        <p:spPr>
          <a:xfrm>
            <a:off x="548640" y="1554480"/>
            <a:ext cx="11091672" cy="822960"/>
          </a:xfrm>
          <a:prstGeom prst="rect">
            <a:avLst/>
          </a:prstGeom>
          <a:noFill/>
        </p:spPr>
        <p:txBody>
          <a:bodyPr wrap="square" lIns="0" rIns="0" tIns="0" bIns="0" anchor="t">
            <a:spAutoFit/>
          </a:bodyPr>
          <a:lstStyle/>
          <a:p>
            <a:pPr>
              <a:spcAft>
                <a:spcPts val="0"/>
              </a:spcAft>
            </a:pPr>
            <a:r>
              <a:rPr sz="2000" b="0" i="0">
                <a:solidFill>
                  <a:srgbClr val="14150F"/>
                </a:solidFill>
              </a:rPr>
              <a:t>A generic case-processing engine. It manages the movement of work — submission, routing, decisions, escalation and closure — rather than performing the work itself.</a:t>
            </a:r>
          </a:p>
        </p:txBody>
      </p:sp>
      <p:sp>
        <p:nvSpPr>
          <p:cNvPr id="5" name="Concept card"/>
          <p:cNvSpPr/>
          <p:nvPr/>
        </p:nvSpPr>
        <p:spPr>
          <a:xfrm>
            <a:off x="548640" y="2514600"/>
            <a:ext cx="3544824" cy="201168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con circle"/>
          <p:cNvSpPr/>
          <p:nvPr/>
        </p:nvSpPr>
        <p:spPr>
          <a:xfrm>
            <a:off x="777240" y="2715768"/>
            <a:ext cx="566928" cy="566928"/>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Icon FaFileAlt" descr="FaFileAlt_w.png"/>
          <p:cNvPicPr>
            <a:picLocks noChangeAspect="1"/>
          </p:cNvPicPr>
          <p:nvPr/>
        </p:nvPicPr>
        <p:blipFill>
          <a:blip r:embed="rId3"/>
          <a:stretch>
            <a:fillRect/>
          </a:stretch>
        </p:blipFill>
        <p:spPr>
          <a:xfrm>
            <a:off x="913302" y="2851830"/>
            <a:ext cx="294802" cy="294802"/>
          </a:xfrm>
          <a:prstGeom prst="rect">
            <a:avLst/>
          </a:prstGeom>
        </p:spPr>
      </p:pic>
      <p:sp>
        <p:nvSpPr>
          <p:cNvPr id="8" name="Concept text"/>
          <p:cNvSpPr txBox="1"/>
          <p:nvPr/>
        </p:nvSpPr>
        <p:spPr>
          <a:xfrm>
            <a:off x="777240" y="3383280"/>
            <a:ext cx="3087624" cy="1097280"/>
          </a:xfrm>
          <a:prstGeom prst="rect">
            <a:avLst/>
          </a:prstGeom>
          <a:noFill/>
        </p:spPr>
        <p:txBody>
          <a:bodyPr wrap="square" lIns="0" rIns="0" tIns="0" bIns="0" anchor="t">
            <a:spAutoFit/>
          </a:bodyPr>
          <a:lstStyle/>
          <a:p>
            <a:pPr>
              <a:spcAft>
                <a:spcPts val="400"/>
              </a:spcAft>
            </a:pPr>
            <a:r>
              <a:rPr sz="1800" b="1" i="0">
                <a:solidFill>
                  <a:srgbClr val="14150F"/>
                </a:solidFill>
              </a:rPr>
              <a:t>Workflow definition</a:t>
            </a:r>
          </a:p>
          <a:p>
            <a:pPr>
              <a:spcAft>
                <a:spcPts val="0"/>
              </a:spcAft>
            </a:pPr>
            <a:r>
              <a:rPr sz="1400" b="0" i="0">
                <a:solidFill>
                  <a:srgbClr val="66665A"/>
                </a:solidFill>
              </a:rPr>
              <a:t>A reusable blueprint: work items, roles, dependencies, routing and escalation rules.</a:t>
            </a:r>
          </a:p>
        </p:txBody>
      </p:sp>
      <p:sp>
        <p:nvSpPr>
          <p:cNvPr id="9" name="Concept card"/>
          <p:cNvSpPr/>
          <p:nvPr/>
        </p:nvSpPr>
        <p:spPr>
          <a:xfrm>
            <a:off x="4322064" y="2514600"/>
            <a:ext cx="3544824" cy="201168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con circle"/>
          <p:cNvSpPr/>
          <p:nvPr/>
        </p:nvSpPr>
        <p:spPr>
          <a:xfrm>
            <a:off x="4550664" y="2715768"/>
            <a:ext cx="566928" cy="566928"/>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Icon FaProjectDiagram" descr="FaProjectDiagram_w.png"/>
          <p:cNvPicPr>
            <a:picLocks noChangeAspect="1"/>
          </p:cNvPicPr>
          <p:nvPr/>
        </p:nvPicPr>
        <p:blipFill>
          <a:blip r:embed="rId4"/>
          <a:stretch>
            <a:fillRect/>
          </a:stretch>
        </p:blipFill>
        <p:spPr>
          <a:xfrm>
            <a:off x="4686726" y="2851830"/>
            <a:ext cx="294802" cy="294802"/>
          </a:xfrm>
          <a:prstGeom prst="rect">
            <a:avLst/>
          </a:prstGeom>
        </p:spPr>
      </p:pic>
      <p:sp>
        <p:nvSpPr>
          <p:cNvPr id="12" name="Concept text"/>
          <p:cNvSpPr txBox="1"/>
          <p:nvPr/>
        </p:nvSpPr>
        <p:spPr>
          <a:xfrm>
            <a:off x="4550664" y="3383280"/>
            <a:ext cx="3087624" cy="1097280"/>
          </a:xfrm>
          <a:prstGeom prst="rect">
            <a:avLst/>
          </a:prstGeom>
          <a:noFill/>
        </p:spPr>
        <p:txBody>
          <a:bodyPr wrap="square" lIns="0" rIns="0" tIns="0" bIns="0" anchor="t">
            <a:spAutoFit/>
          </a:bodyPr>
          <a:lstStyle/>
          <a:p>
            <a:pPr>
              <a:spcAft>
                <a:spcPts val="400"/>
              </a:spcAft>
            </a:pPr>
            <a:r>
              <a:rPr sz="1800" b="1" i="0">
                <a:solidFill>
                  <a:srgbClr val="14150F"/>
                </a:solidFill>
              </a:rPr>
              <a:t>Workflow instance</a:t>
            </a:r>
          </a:p>
          <a:p>
            <a:pPr>
              <a:spcAft>
                <a:spcPts val="0"/>
              </a:spcAft>
            </a:pPr>
            <a:r>
              <a:rPr sz="1400" b="0" i="0">
                <a:solidFill>
                  <a:srgbClr val="66665A"/>
                </a:solidFill>
              </a:rPr>
              <a:t>One independent execution with its own data, participants, state and history.</a:t>
            </a:r>
          </a:p>
        </p:txBody>
      </p:sp>
      <p:sp>
        <p:nvSpPr>
          <p:cNvPr id="13" name="Concept card"/>
          <p:cNvSpPr/>
          <p:nvPr/>
        </p:nvSpPr>
        <p:spPr>
          <a:xfrm>
            <a:off x="8095488" y="2514600"/>
            <a:ext cx="3544824" cy="201168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con circle"/>
          <p:cNvSpPr/>
          <p:nvPr/>
        </p:nvSpPr>
        <p:spPr>
          <a:xfrm>
            <a:off x="8324088" y="2715768"/>
            <a:ext cx="566928" cy="566928"/>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Icon FaShieldAlt" descr="FaShieldAlt_w.png"/>
          <p:cNvPicPr>
            <a:picLocks noChangeAspect="1"/>
          </p:cNvPicPr>
          <p:nvPr/>
        </p:nvPicPr>
        <p:blipFill>
          <a:blip r:embed="rId5"/>
          <a:stretch>
            <a:fillRect/>
          </a:stretch>
        </p:blipFill>
        <p:spPr>
          <a:xfrm>
            <a:off x="8460150" y="2851830"/>
            <a:ext cx="294802" cy="294802"/>
          </a:xfrm>
          <a:prstGeom prst="rect">
            <a:avLst/>
          </a:prstGeom>
        </p:spPr>
      </p:pic>
      <p:sp>
        <p:nvSpPr>
          <p:cNvPr id="16" name="Concept text"/>
          <p:cNvSpPr txBox="1"/>
          <p:nvPr/>
        </p:nvSpPr>
        <p:spPr>
          <a:xfrm>
            <a:off x="8324088" y="3383280"/>
            <a:ext cx="3087624" cy="1097280"/>
          </a:xfrm>
          <a:prstGeom prst="rect">
            <a:avLst/>
          </a:prstGeom>
          <a:noFill/>
        </p:spPr>
        <p:txBody>
          <a:bodyPr wrap="square" lIns="0" rIns="0" tIns="0" bIns="0" anchor="t">
            <a:spAutoFit/>
          </a:bodyPr>
          <a:lstStyle/>
          <a:p>
            <a:pPr>
              <a:spcAft>
                <a:spcPts val="400"/>
              </a:spcAft>
            </a:pPr>
            <a:r>
              <a:rPr sz="1800" b="1" i="0">
                <a:solidFill>
                  <a:srgbClr val="14150F"/>
                </a:solidFill>
              </a:rPr>
              <a:t>System boundary</a:t>
            </a:r>
          </a:p>
          <a:p>
            <a:pPr>
              <a:spcAft>
                <a:spcPts val="0"/>
              </a:spcAft>
            </a:pPr>
            <a:r>
              <a:rPr sz="1400" b="0" i="0">
                <a:solidFill>
                  <a:srgbClr val="66665A"/>
                </a:solidFill>
              </a:rPr>
              <a:t>TIVIDY tracks and routes work. People and external systems do the actual work.</a:t>
            </a:r>
          </a:p>
        </p:txBody>
      </p:sp>
      <p:sp>
        <p:nvSpPr>
          <p:cNvPr id="17" name="Stat"/>
          <p:cNvSpPr txBox="1"/>
          <p:nvPr/>
        </p:nvSpPr>
        <p:spPr>
          <a:xfrm>
            <a:off x="548640" y="4800600"/>
            <a:ext cx="2772918" cy="1371600"/>
          </a:xfrm>
          <a:prstGeom prst="rect">
            <a:avLst/>
          </a:prstGeom>
          <a:noFill/>
        </p:spPr>
        <p:txBody>
          <a:bodyPr wrap="square" lIns="0" rIns="0" tIns="0" bIns="0" anchor="t">
            <a:spAutoFit/>
          </a:bodyPr>
          <a:lstStyle/>
          <a:p>
            <a:pPr algn="ctr">
              <a:spcAft>
                <a:spcPts val="0"/>
              </a:spcAft>
            </a:pPr>
            <a:r>
              <a:rPr sz="4800" b="1" i="0">
                <a:solidFill>
                  <a:srgbClr val="5E5E38"/>
                </a:solidFill>
              </a:rPr>
              <a:t>1</a:t>
            </a:r>
          </a:p>
          <a:p>
            <a:pPr algn="ctr">
              <a:spcAft>
                <a:spcPts val="0"/>
              </a:spcAft>
            </a:pPr>
            <a:r>
              <a:rPr sz="1400" b="0" i="0">
                <a:solidFill>
                  <a:srgbClr val="66665A"/>
                </a:solidFill>
              </a:rPr>
              <a:t>generic engine</a:t>
            </a:r>
          </a:p>
        </p:txBody>
      </p:sp>
      <p:sp>
        <p:nvSpPr>
          <p:cNvPr id="18" name="Stat"/>
          <p:cNvSpPr txBox="1"/>
          <p:nvPr/>
        </p:nvSpPr>
        <p:spPr>
          <a:xfrm>
            <a:off x="3321558" y="4800600"/>
            <a:ext cx="2772918" cy="1371600"/>
          </a:xfrm>
          <a:prstGeom prst="rect">
            <a:avLst/>
          </a:prstGeom>
          <a:noFill/>
        </p:spPr>
        <p:txBody>
          <a:bodyPr wrap="square" lIns="0" rIns="0" tIns="0" bIns="0" anchor="t">
            <a:spAutoFit/>
          </a:bodyPr>
          <a:lstStyle/>
          <a:p>
            <a:pPr algn="ctr">
              <a:spcAft>
                <a:spcPts val="0"/>
              </a:spcAft>
            </a:pPr>
            <a:r>
              <a:rPr sz="4800" b="1" i="0">
                <a:solidFill>
                  <a:srgbClr val="5E5E38"/>
                </a:solidFill>
              </a:rPr>
              <a:t>2</a:t>
            </a:r>
          </a:p>
          <a:p>
            <a:pPr algn="ctr">
              <a:spcAft>
                <a:spcPts val="0"/>
              </a:spcAft>
            </a:pPr>
            <a:r>
              <a:rPr sz="1400" b="0" i="0">
                <a:solidFill>
                  <a:srgbClr val="66665A"/>
                </a:solidFill>
              </a:rPr>
              <a:t>industries</a:t>
            </a:r>
          </a:p>
        </p:txBody>
      </p:sp>
      <p:sp>
        <p:nvSpPr>
          <p:cNvPr id="19" name="Stat"/>
          <p:cNvSpPr txBox="1"/>
          <p:nvPr/>
        </p:nvSpPr>
        <p:spPr>
          <a:xfrm>
            <a:off x="6094476" y="4800600"/>
            <a:ext cx="2772918" cy="1371600"/>
          </a:xfrm>
          <a:prstGeom prst="rect">
            <a:avLst/>
          </a:prstGeom>
          <a:noFill/>
        </p:spPr>
        <p:txBody>
          <a:bodyPr wrap="square" lIns="0" rIns="0" tIns="0" bIns="0" anchor="t">
            <a:spAutoFit/>
          </a:bodyPr>
          <a:lstStyle/>
          <a:p>
            <a:pPr algn="ctr">
              <a:spcAft>
                <a:spcPts val="0"/>
              </a:spcAft>
            </a:pPr>
            <a:r>
              <a:rPr sz="4800" b="1" i="0">
                <a:solidFill>
                  <a:srgbClr val="5E5E38"/>
                </a:solidFill>
              </a:rPr>
              <a:t>11</a:t>
            </a:r>
          </a:p>
          <a:p>
            <a:pPr algn="ctr">
              <a:spcAft>
                <a:spcPts val="0"/>
              </a:spcAft>
            </a:pPr>
            <a:r>
              <a:rPr sz="1400" b="0" i="0">
                <a:solidFill>
                  <a:srgbClr val="66665A"/>
                </a:solidFill>
              </a:rPr>
              <a:t>GoF patterns</a:t>
            </a:r>
          </a:p>
        </p:txBody>
      </p:sp>
      <p:sp>
        <p:nvSpPr>
          <p:cNvPr id="20" name="Stat"/>
          <p:cNvSpPr txBox="1"/>
          <p:nvPr/>
        </p:nvSpPr>
        <p:spPr>
          <a:xfrm>
            <a:off x="8867394" y="4800600"/>
            <a:ext cx="2772918" cy="1371600"/>
          </a:xfrm>
          <a:prstGeom prst="rect">
            <a:avLst/>
          </a:prstGeom>
          <a:noFill/>
        </p:spPr>
        <p:txBody>
          <a:bodyPr wrap="square" lIns="0" rIns="0" tIns="0" bIns="0" anchor="t">
            <a:spAutoFit/>
          </a:bodyPr>
          <a:lstStyle/>
          <a:p>
            <a:pPr algn="ctr">
              <a:spcAft>
                <a:spcPts val="0"/>
              </a:spcAft>
            </a:pPr>
            <a:r>
              <a:rPr sz="4800" b="1" i="0">
                <a:solidFill>
                  <a:srgbClr val="5E5E38"/>
                </a:solidFill>
              </a:rPr>
              <a:t>C++11</a:t>
            </a:r>
          </a:p>
          <a:p>
            <a:pPr algn="ctr">
              <a:spcAft>
                <a:spcPts val="0"/>
              </a:spcAft>
            </a:pPr>
            <a:r>
              <a:rPr sz="1400" b="0" i="0">
                <a:solidFill>
                  <a:srgbClr val="66665A"/>
                </a:solidFill>
              </a:rPr>
              <a:t>interactive TUI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engine, two industries</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01 · THE REUSABLE ENGINE</a:t>
            </a:r>
          </a:p>
        </p:txBody>
      </p:sp>
      <p:sp>
        <p:nvSpPr>
          <p:cNvPr id="4" name="TUI layer"/>
          <p:cNvSpPr/>
          <p:nvPr/>
        </p:nvSpPr>
        <p:spPr>
          <a:xfrm>
            <a:off x="548640" y="1572768"/>
            <a:ext cx="11091672" cy="502920"/>
          </a:xfrm>
          <a:prstGeom prst="roundRect">
            <a:avLst>
              <a:gd name="adj" fmla="val 5000"/>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ctr">
              <a:spcAft>
                <a:spcPts val="0"/>
              </a:spcAft>
            </a:pPr>
            <a:r>
              <a:rPr sz="1500" b="1" i="0">
                <a:solidFill>
                  <a:srgbClr val="FFFFFF"/>
                </a:solidFill>
              </a:rPr>
              <a:t>Interactive text interface (TUI)</a:t>
            </a:r>
          </a:p>
        </p:txBody>
      </p:sp>
      <p:sp>
        <p:nvSpPr>
          <p:cNvPr id="5" name="Facade layer"/>
          <p:cNvSpPr/>
          <p:nvPr/>
        </p:nvSpPr>
        <p:spPr>
          <a:xfrm>
            <a:off x="548640" y="2212848"/>
            <a:ext cx="11091672" cy="502920"/>
          </a:xfrm>
          <a:prstGeom prst="roundRect">
            <a:avLst>
              <a:gd name="adj" fmla="val 5000"/>
            </a:avLst>
          </a:prstGeom>
          <a:solidFill>
            <a:srgbClr val="5E5E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ctr">
              <a:spcAft>
                <a:spcPts val="0"/>
              </a:spcAft>
            </a:pPr>
            <a:r>
              <a:rPr sz="1500" b="1" i="0">
                <a:solidFill>
                  <a:srgbClr val="FFFFFF"/>
                </a:solidFill>
              </a:rPr>
              <a:t>TIVIDYFacade  ·  single entry point to the engine</a:t>
            </a:r>
          </a:p>
        </p:txBody>
      </p:sp>
      <p:sp>
        <p:nvSpPr>
          <p:cNvPr id="6" name="Industry layer"/>
          <p:cNvSpPr/>
          <p:nvPr/>
        </p:nvSpPr>
        <p:spPr>
          <a:xfrm>
            <a:off x="548640" y="2852928"/>
            <a:ext cx="5454396" cy="914400"/>
          </a:xfrm>
          <a:prstGeom prst="roundRect">
            <a:avLst>
              <a:gd name="adj" fmla="val 5000"/>
            </a:avLst>
          </a:prstGeom>
          <a:solidFill>
            <a:srgbClr val="DFD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con circle"/>
          <p:cNvSpPr/>
          <p:nvPr/>
        </p:nvSpPr>
        <p:spPr>
          <a:xfrm>
            <a:off x="731520" y="3054096"/>
            <a:ext cx="512064" cy="512064"/>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Icon FaUniversity" descr="FaUniversity_w.png"/>
          <p:cNvPicPr>
            <a:picLocks noChangeAspect="1"/>
          </p:cNvPicPr>
          <p:nvPr/>
        </p:nvPicPr>
        <p:blipFill>
          <a:blip r:embed="rId3"/>
          <a:stretch>
            <a:fillRect/>
          </a:stretch>
        </p:blipFill>
        <p:spPr>
          <a:xfrm>
            <a:off x="854415" y="3176991"/>
            <a:ext cx="266273" cy="266273"/>
          </a:xfrm>
          <a:prstGeom prst="rect">
            <a:avLst/>
          </a:prstGeom>
        </p:spPr>
      </p:pic>
      <p:sp>
        <p:nvSpPr>
          <p:cNvPr id="9" name="Industry text"/>
          <p:cNvSpPr txBox="1"/>
          <p:nvPr/>
        </p:nvSpPr>
        <p:spPr>
          <a:xfrm>
            <a:off x="1417319" y="2926080"/>
            <a:ext cx="4434840" cy="777240"/>
          </a:xfrm>
          <a:prstGeom prst="rect">
            <a:avLst/>
          </a:prstGeom>
          <a:noFill/>
        </p:spPr>
        <p:txBody>
          <a:bodyPr wrap="square" lIns="0" rIns="0" tIns="0" bIns="0" anchor="ctr">
            <a:spAutoFit/>
          </a:bodyPr>
          <a:lstStyle/>
          <a:p>
            <a:pPr>
              <a:spcAft>
                <a:spcPts val="200"/>
              </a:spcAft>
            </a:pPr>
            <a:r>
              <a:rPr sz="1600" b="1" i="0">
                <a:solidFill>
                  <a:srgbClr val="14150F"/>
                </a:solidFill>
              </a:rPr>
              <a:t>University complaint layer</a:t>
            </a:r>
          </a:p>
          <a:p>
            <a:pPr>
              <a:spcAft>
                <a:spcPts val="0"/>
              </a:spcAft>
            </a:pPr>
            <a:r>
              <a:rPr sz="1300" b="0" i="0">
                <a:solidFill>
                  <a:srgbClr val="66665A"/>
                </a:solidFill>
              </a:rPr>
              <a:t>definition · roles · routing rules · email notices</a:t>
            </a:r>
          </a:p>
        </p:txBody>
      </p:sp>
      <p:sp>
        <p:nvSpPr>
          <p:cNvPr id="10" name="Industry layer"/>
          <p:cNvSpPr/>
          <p:nvPr/>
        </p:nvSpPr>
        <p:spPr>
          <a:xfrm>
            <a:off x="6185916" y="2852928"/>
            <a:ext cx="5454396" cy="914400"/>
          </a:xfrm>
          <a:prstGeom prst="roundRect">
            <a:avLst>
              <a:gd name="adj" fmla="val 5000"/>
            </a:avLst>
          </a:prstGeom>
          <a:solidFill>
            <a:srgbClr val="DFD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Icon circle"/>
          <p:cNvSpPr/>
          <p:nvPr/>
        </p:nvSpPr>
        <p:spPr>
          <a:xfrm>
            <a:off x="6368796" y="3054096"/>
            <a:ext cx="512064" cy="512064"/>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Icon FaHospital" descr="FaHospital_w.png"/>
          <p:cNvPicPr>
            <a:picLocks noChangeAspect="1"/>
          </p:cNvPicPr>
          <p:nvPr/>
        </p:nvPicPr>
        <p:blipFill>
          <a:blip r:embed="rId4"/>
          <a:stretch>
            <a:fillRect/>
          </a:stretch>
        </p:blipFill>
        <p:spPr>
          <a:xfrm>
            <a:off x="6491691" y="3176991"/>
            <a:ext cx="266273" cy="266273"/>
          </a:xfrm>
          <a:prstGeom prst="rect">
            <a:avLst/>
          </a:prstGeom>
        </p:spPr>
      </p:pic>
      <p:sp>
        <p:nvSpPr>
          <p:cNvPr id="13" name="Industry text"/>
          <p:cNvSpPr txBox="1"/>
          <p:nvPr/>
        </p:nvSpPr>
        <p:spPr>
          <a:xfrm>
            <a:off x="7054596" y="2926080"/>
            <a:ext cx="4434840" cy="777240"/>
          </a:xfrm>
          <a:prstGeom prst="rect">
            <a:avLst/>
          </a:prstGeom>
          <a:noFill/>
        </p:spPr>
        <p:txBody>
          <a:bodyPr wrap="square" lIns="0" rIns="0" tIns="0" bIns="0" anchor="ctr">
            <a:spAutoFit/>
          </a:bodyPr>
          <a:lstStyle/>
          <a:p>
            <a:pPr>
              <a:spcAft>
                <a:spcPts val="200"/>
              </a:spcAft>
            </a:pPr>
            <a:r>
              <a:rPr sz="1600" b="1" i="0">
                <a:solidFill>
                  <a:srgbClr val="14150F"/>
                </a:solidFill>
              </a:rPr>
              <a:t>Hospital admission &amp; treatment layer</a:t>
            </a:r>
          </a:p>
          <a:p>
            <a:pPr>
              <a:spcAft>
                <a:spcPts val="0"/>
              </a:spcAft>
            </a:pPr>
            <a:r>
              <a:rPr sz="1300" b="0" i="0">
                <a:solidFill>
                  <a:srgbClr val="66665A"/>
                </a:solidFill>
              </a:rPr>
              <a:t>definition · roles · routing rules · notifications</a:t>
            </a:r>
          </a:p>
        </p:txBody>
      </p:sp>
      <p:sp>
        <p:nvSpPr>
          <p:cNvPr id="14" name="Engine core"/>
          <p:cNvSpPr/>
          <p:nvPr/>
        </p:nvSpPr>
        <p:spPr>
          <a:xfrm>
            <a:off x="548640" y="3904487"/>
            <a:ext cx="11091672" cy="2286000"/>
          </a:xfrm>
          <a:prstGeom prst="roundRect">
            <a:avLst>
              <a:gd name="adj" fmla="val 5000"/>
            </a:avLst>
          </a:prstGeom>
          <a:solidFill>
            <a:srgbClr val="F1F1E7"/>
          </a:solidFill>
          <a:ln w="19050">
            <a:solidFill>
              <a:srgbClr val="5E5E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ngine label"/>
          <p:cNvSpPr txBox="1"/>
          <p:nvPr/>
        </p:nvSpPr>
        <p:spPr>
          <a:xfrm>
            <a:off x="777240" y="3995928"/>
            <a:ext cx="10607040" cy="320040"/>
          </a:xfrm>
          <a:prstGeom prst="rect">
            <a:avLst/>
          </a:prstGeom>
          <a:noFill/>
        </p:spPr>
        <p:txBody>
          <a:bodyPr wrap="square" lIns="0" rIns="0" tIns="0" bIns="0" anchor="t">
            <a:spAutoFit/>
          </a:bodyPr>
          <a:lstStyle/>
          <a:p>
            <a:pPr>
              <a:spcAft>
                <a:spcPts val="0"/>
              </a:spcAft>
            </a:pPr>
            <a:r>
              <a:rPr sz="1200" b="1" i="0" spc="100">
                <a:solidFill>
                  <a:srgbClr val="5E5E38"/>
                </a:solidFill>
              </a:rPr>
              <a:t>GENERIC ENGINE CORE — reused by both industries without modification</a:t>
            </a:r>
          </a:p>
        </p:txBody>
      </p:sp>
      <p:sp>
        <p:nvSpPr>
          <p:cNvPr id="16" name="Engine module"/>
          <p:cNvSpPr/>
          <p:nvPr/>
        </p:nvSpPr>
        <p:spPr>
          <a:xfrm>
            <a:off x="777240" y="4434840"/>
            <a:ext cx="1658112" cy="1554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con circle"/>
          <p:cNvSpPr/>
          <p:nvPr/>
        </p:nvSpPr>
        <p:spPr>
          <a:xfrm>
            <a:off x="1377696" y="4553712"/>
            <a:ext cx="457200" cy="457200"/>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Icon FaCogs" descr="FaCogs_w.png"/>
          <p:cNvPicPr>
            <a:picLocks noChangeAspect="1"/>
          </p:cNvPicPr>
          <p:nvPr/>
        </p:nvPicPr>
        <p:blipFill>
          <a:blip r:embed="rId5"/>
          <a:stretch>
            <a:fillRect/>
          </a:stretch>
        </p:blipFill>
        <p:spPr>
          <a:xfrm>
            <a:off x="1487424" y="4663440"/>
            <a:ext cx="237744" cy="237744"/>
          </a:xfrm>
          <a:prstGeom prst="rect">
            <a:avLst/>
          </a:prstGeom>
        </p:spPr>
      </p:pic>
      <p:sp>
        <p:nvSpPr>
          <p:cNvPr id="19" name="Module label"/>
          <p:cNvSpPr txBox="1"/>
          <p:nvPr/>
        </p:nvSpPr>
        <p:spPr>
          <a:xfrm>
            <a:off x="850392" y="5102352"/>
            <a:ext cx="1511808" cy="822960"/>
          </a:xfrm>
          <a:prstGeom prst="rect">
            <a:avLst/>
          </a:prstGeom>
          <a:noFill/>
        </p:spPr>
        <p:txBody>
          <a:bodyPr wrap="square" lIns="0" rIns="0" tIns="0" bIns="0" anchor="t">
            <a:spAutoFit/>
          </a:bodyPr>
          <a:lstStyle/>
          <a:p>
            <a:pPr algn="ctr">
              <a:spcAft>
                <a:spcPts val="0"/>
              </a:spcAft>
            </a:pPr>
            <a:r>
              <a:rPr sz="1300" b="1" i="0">
                <a:solidFill>
                  <a:srgbClr val="14150F"/>
                </a:solidFill>
              </a:rPr>
              <a:t>Definition &amp; Builder</a:t>
            </a:r>
          </a:p>
        </p:txBody>
      </p:sp>
      <p:sp>
        <p:nvSpPr>
          <p:cNvPr id="20" name="Engine module"/>
          <p:cNvSpPr/>
          <p:nvPr/>
        </p:nvSpPr>
        <p:spPr>
          <a:xfrm>
            <a:off x="2572512" y="4434840"/>
            <a:ext cx="1658112" cy="1554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con circle"/>
          <p:cNvSpPr/>
          <p:nvPr/>
        </p:nvSpPr>
        <p:spPr>
          <a:xfrm>
            <a:off x="3172968" y="4553712"/>
            <a:ext cx="457200" cy="457200"/>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Icon FaLayerGroup" descr="FaLayerGroup_w.png"/>
          <p:cNvPicPr>
            <a:picLocks noChangeAspect="1"/>
          </p:cNvPicPr>
          <p:nvPr/>
        </p:nvPicPr>
        <p:blipFill>
          <a:blip r:embed="rId6"/>
          <a:stretch>
            <a:fillRect/>
          </a:stretch>
        </p:blipFill>
        <p:spPr>
          <a:xfrm>
            <a:off x="3282696" y="4663440"/>
            <a:ext cx="237744" cy="237744"/>
          </a:xfrm>
          <a:prstGeom prst="rect">
            <a:avLst/>
          </a:prstGeom>
        </p:spPr>
      </p:pic>
      <p:sp>
        <p:nvSpPr>
          <p:cNvPr id="23" name="Module label"/>
          <p:cNvSpPr txBox="1"/>
          <p:nvPr/>
        </p:nvSpPr>
        <p:spPr>
          <a:xfrm>
            <a:off x="2645664" y="5102352"/>
            <a:ext cx="1511808" cy="822960"/>
          </a:xfrm>
          <a:prstGeom prst="rect">
            <a:avLst/>
          </a:prstGeom>
          <a:noFill/>
        </p:spPr>
        <p:txBody>
          <a:bodyPr wrap="square" lIns="0" rIns="0" tIns="0" bIns="0" anchor="t">
            <a:spAutoFit/>
          </a:bodyPr>
          <a:lstStyle/>
          <a:p>
            <a:pPr algn="ctr">
              <a:spcAft>
                <a:spcPts val="0"/>
              </a:spcAft>
            </a:pPr>
            <a:r>
              <a:rPr sz="1300" b="1" i="0">
                <a:solidFill>
                  <a:srgbClr val="14150F"/>
                </a:solidFill>
              </a:rPr>
              <a:t>Instances &amp; State</a:t>
            </a:r>
          </a:p>
        </p:txBody>
      </p:sp>
      <p:sp>
        <p:nvSpPr>
          <p:cNvPr id="24" name="Engine module"/>
          <p:cNvSpPr/>
          <p:nvPr/>
        </p:nvSpPr>
        <p:spPr>
          <a:xfrm>
            <a:off x="4367784" y="4434840"/>
            <a:ext cx="1658112" cy="1554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con circle"/>
          <p:cNvSpPr/>
          <p:nvPr/>
        </p:nvSpPr>
        <p:spPr>
          <a:xfrm>
            <a:off x="4968240" y="4553712"/>
            <a:ext cx="457200" cy="457200"/>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Icon FaSitemap" descr="FaSitemap_w.png"/>
          <p:cNvPicPr>
            <a:picLocks noChangeAspect="1"/>
          </p:cNvPicPr>
          <p:nvPr/>
        </p:nvPicPr>
        <p:blipFill>
          <a:blip r:embed="rId7"/>
          <a:stretch>
            <a:fillRect/>
          </a:stretch>
        </p:blipFill>
        <p:spPr>
          <a:xfrm>
            <a:off x="5077968" y="4663440"/>
            <a:ext cx="237744" cy="237744"/>
          </a:xfrm>
          <a:prstGeom prst="rect">
            <a:avLst/>
          </a:prstGeom>
        </p:spPr>
      </p:pic>
      <p:sp>
        <p:nvSpPr>
          <p:cNvPr id="27" name="Module label"/>
          <p:cNvSpPr txBox="1"/>
          <p:nvPr/>
        </p:nvSpPr>
        <p:spPr>
          <a:xfrm>
            <a:off x="4440936" y="5102352"/>
            <a:ext cx="1511808" cy="822960"/>
          </a:xfrm>
          <a:prstGeom prst="rect">
            <a:avLst/>
          </a:prstGeom>
          <a:noFill/>
        </p:spPr>
        <p:txBody>
          <a:bodyPr wrap="square" lIns="0" rIns="0" tIns="0" bIns="0" anchor="t">
            <a:spAutoFit/>
          </a:bodyPr>
          <a:lstStyle/>
          <a:p>
            <a:pPr algn="ctr">
              <a:spcAft>
                <a:spcPts val="0"/>
              </a:spcAft>
            </a:pPr>
            <a:r>
              <a:rPr sz="1300" b="1" i="0">
                <a:solidFill>
                  <a:srgbClr val="14150F"/>
                </a:solidFill>
              </a:rPr>
              <a:t>Work items (Composite)</a:t>
            </a:r>
          </a:p>
        </p:txBody>
      </p:sp>
      <p:sp>
        <p:nvSpPr>
          <p:cNvPr id="28" name="Engine module"/>
          <p:cNvSpPr/>
          <p:nvPr/>
        </p:nvSpPr>
        <p:spPr>
          <a:xfrm>
            <a:off x="6163056" y="4434840"/>
            <a:ext cx="1658112" cy="1554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con circle"/>
          <p:cNvSpPr/>
          <p:nvPr/>
        </p:nvSpPr>
        <p:spPr>
          <a:xfrm>
            <a:off x="6763512" y="4553712"/>
            <a:ext cx="457200" cy="457200"/>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Icon FaRoute" descr="FaRoute_w.png"/>
          <p:cNvPicPr>
            <a:picLocks noChangeAspect="1"/>
          </p:cNvPicPr>
          <p:nvPr/>
        </p:nvPicPr>
        <p:blipFill>
          <a:blip r:embed="rId8"/>
          <a:stretch>
            <a:fillRect/>
          </a:stretch>
        </p:blipFill>
        <p:spPr>
          <a:xfrm>
            <a:off x="6873240" y="4663440"/>
            <a:ext cx="237744" cy="237744"/>
          </a:xfrm>
          <a:prstGeom prst="rect">
            <a:avLst/>
          </a:prstGeom>
        </p:spPr>
      </p:pic>
      <p:sp>
        <p:nvSpPr>
          <p:cNvPr id="31" name="Module label"/>
          <p:cNvSpPr txBox="1"/>
          <p:nvPr/>
        </p:nvSpPr>
        <p:spPr>
          <a:xfrm>
            <a:off x="6236208" y="5102352"/>
            <a:ext cx="1511808" cy="822960"/>
          </a:xfrm>
          <a:prstGeom prst="rect">
            <a:avLst/>
          </a:prstGeom>
          <a:noFill/>
        </p:spPr>
        <p:txBody>
          <a:bodyPr wrap="square" lIns="0" rIns="0" tIns="0" bIns="0" anchor="t">
            <a:spAutoFit/>
          </a:bodyPr>
          <a:lstStyle/>
          <a:p>
            <a:pPr algn="ctr">
              <a:spcAft>
                <a:spcPts val="0"/>
              </a:spcAft>
            </a:pPr>
            <a:r>
              <a:rPr sz="1300" b="1" i="0">
                <a:solidFill>
                  <a:srgbClr val="14150F"/>
                </a:solidFill>
              </a:rPr>
              <a:t>Assignment &amp; routing</a:t>
            </a:r>
          </a:p>
        </p:txBody>
      </p:sp>
      <p:sp>
        <p:nvSpPr>
          <p:cNvPr id="32" name="Engine module"/>
          <p:cNvSpPr/>
          <p:nvPr/>
        </p:nvSpPr>
        <p:spPr>
          <a:xfrm>
            <a:off x="7958328" y="4434840"/>
            <a:ext cx="1658112" cy="1554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con circle"/>
          <p:cNvSpPr/>
          <p:nvPr/>
        </p:nvSpPr>
        <p:spPr>
          <a:xfrm>
            <a:off x="8558784" y="4553712"/>
            <a:ext cx="457200" cy="457200"/>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Icon FaCodeBranch" descr="FaCodeBranch_w.png"/>
          <p:cNvPicPr>
            <a:picLocks noChangeAspect="1"/>
          </p:cNvPicPr>
          <p:nvPr/>
        </p:nvPicPr>
        <p:blipFill>
          <a:blip r:embed="rId9"/>
          <a:stretch>
            <a:fillRect/>
          </a:stretch>
        </p:blipFill>
        <p:spPr>
          <a:xfrm>
            <a:off x="8668511" y="4663440"/>
            <a:ext cx="237744" cy="237744"/>
          </a:xfrm>
          <a:prstGeom prst="rect">
            <a:avLst/>
          </a:prstGeom>
        </p:spPr>
      </p:pic>
      <p:sp>
        <p:nvSpPr>
          <p:cNvPr id="35" name="Module label"/>
          <p:cNvSpPr txBox="1"/>
          <p:nvPr/>
        </p:nvSpPr>
        <p:spPr>
          <a:xfrm>
            <a:off x="8031480" y="5102352"/>
            <a:ext cx="1511808" cy="822960"/>
          </a:xfrm>
          <a:prstGeom prst="rect">
            <a:avLst/>
          </a:prstGeom>
          <a:noFill/>
        </p:spPr>
        <p:txBody>
          <a:bodyPr wrap="square" lIns="0" rIns="0" tIns="0" bIns="0" anchor="t">
            <a:spAutoFit/>
          </a:bodyPr>
          <a:lstStyle/>
          <a:p>
            <a:pPr algn="ctr">
              <a:spcAft>
                <a:spcPts val="0"/>
              </a:spcAft>
            </a:pPr>
            <a:r>
              <a:rPr sz="1300" b="1" i="0">
                <a:solidFill>
                  <a:srgbClr val="14150F"/>
                </a:solidFill>
              </a:rPr>
              <a:t>Escalation &amp; commands</a:t>
            </a:r>
          </a:p>
        </p:txBody>
      </p:sp>
      <p:sp>
        <p:nvSpPr>
          <p:cNvPr id="36" name="Engine module"/>
          <p:cNvSpPr/>
          <p:nvPr/>
        </p:nvSpPr>
        <p:spPr>
          <a:xfrm>
            <a:off x="9753600" y="4434840"/>
            <a:ext cx="1658112" cy="1554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con circle"/>
          <p:cNvSpPr/>
          <p:nvPr/>
        </p:nvSpPr>
        <p:spPr>
          <a:xfrm>
            <a:off x="10354056" y="4553712"/>
            <a:ext cx="457200" cy="457200"/>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Icon FaHistory" descr="FaHistory_w.png"/>
          <p:cNvPicPr>
            <a:picLocks noChangeAspect="1"/>
          </p:cNvPicPr>
          <p:nvPr/>
        </p:nvPicPr>
        <p:blipFill>
          <a:blip r:embed="rId10"/>
          <a:stretch>
            <a:fillRect/>
          </a:stretch>
        </p:blipFill>
        <p:spPr>
          <a:xfrm>
            <a:off x="10463783" y="4663440"/>
            <a:ext cx="237744" cy="237744"/>
          </a:xfrm>
          <a:prstGeom prst="rect">
            <a:avLst/>
          </a:prstGeom>
        </p:spPr>
      </p:pic>
      <p:sp>
        <p:nvSpPr>
          <p:cNvPr id="39" name="Module label"/>
          <p:cNvSpPr txBox="1"/>
          <p:nvPr/>
        </p:nvSpPr>
        <p:spPr>
          <a:xfrm>
            <a:off x="9826752" y="5102352"/>
            <a:ext cx="1511808" cy="822960"/>
          </a:xfrm>
          <a:prstGeom prst="rect">
            <a:avLst/>
          </a:prstGeom>
          <a:noFill/>
        </p:spPr>
        <p:txBody>
          <a:bodyPr wrap="square" lIns="0" rIns="0" tIns="0" bIns="0" anchor="t">
            <a:spAutoFit/>
          </a:bodyPr>
          <a:lstStyle/>
          <a:p>
            <a:pPr algn="ctr">
              <a:spcAft>
                <a:spcPts val="0"/>
              </a:spcAft>
            </a:pPr>
            <a:r>
              <a:rPr sz="1300" b="1" i="0">
                <a:solidFill>
                  <a:srgbClr val="14150F"/>
                </a:solidFill>
              </a:rPr>
              <a:t>History &amp; notifications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Freeform 2"/>
          <p:cNvSpPr/>
          <p:nvPr/>
        </p:nvSpPr>
        <p:spPr>
          <a:xfrm flipV="1">
            <a:off x="0" y="-1"/>
            <a:ext cx="12192000" cy="6858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a:duotone>
                <a:prstClr val="black"/>
                <a:srgbClr val="FFFF00">
                  <a:tint val="45000"/>
                  <a:satMod val="400000"/>
                </a:srgbClr>
              </a:duotone>
            </a:blip>
            <a:stretch>
              <a:fillRect t="-1777" b="-1777"/>
            </a:stretch>
          </a:blipFill>
        </p:spPr>
        <p:txBody>
          <a:bodyPr/>
          <a:lstStyle/>
          <a:p>
            <a:endParaRPr lang="en-US" dirty="0"/>
          </a:p>
        </p:txBody>
      </p:sp>
      <p:sp>
        <p:nvSpPr>
          <p:cNvPr id="7" name="Freeform 7"/>
          <p:cNvSpPr/>
          <p:nvPr/>
        </p:nvSpPr>
        <p:spPr>
          <a:xfrm>
            <a:off x="893991" y="578875"/>
            <a:ext cx="705412" cy="961380"/>
          </a:xfrm>
          <a:custGeom>
            <a:avLst/>
            <a:gdLst/>
            <a:ahLst/>
            <a:cxnLst/>
            <a:rect l="l" t="t" r="r" b="b"/>
            <a:pathLst>
              <a:path w="1058118" h="1442069">
                <a:moveTo>
                  <a:pt x="0" y="0"/>
                </a:moveTo>
                <a:lnTo>
                  <a:pt x="1058118" y="0"/>
                </a:lnTo>
                <a:lnTo>
                  <a:pt x="1058118" y="1442070"/>
                </a:lnTo>
                <a:lnTo>
                  <a:pt x="0" y="1442070"/>
                </a:lnTo>
                <a:lnTo>
                  <a:pt x="0" y="0"/>
                </a:lnTo>
                <a:close/>
              </a:path>
            </a:pathLst>
          </a:custGeom>
          <a:blipFill>
            <a:blip r:embed="rId3"/>
            <a:stretch>
              <a:fillRect/>
            </a:stretch>
          </a:blipFill>
        </p:spPr>
        <p:txBody>
          <a:bodyPr/>
          <a:lstStyle/>
          <a:p>
            <a:endParaRPr lang="en-US"/>
          </a:p>
        </p:txBody>
      </p:sp>
      <p:sp>
        <p:nvSpPr>
          <p:cNvPr id="9" name="Freeform 8"/>
          <p:cNvSpPr/>
          <p:nvPr/>
        </p:nvSpPr>
        <p:spPr>
          <a:xfrm>
            <a:off x="10724588" y="578875"/>
            <a:ext cx="705412" cy="961380"/>
          </a:xfrm>
          <a:custGeom>
            <a:avLst/>
            <a:gdLst/>
            <a:ahLst/>
            <a:cxnLst/>
            <a:rect l="l" t="t" r="r" b="b"/>
            <a:pathLst>
              <a:path w="1058118" h="1442069">
                <a:moveTo>
                  <a:pt x="0" y="0"/>
                </a:moveTo>
                <a:lnTo>
                  <a:pt x="1058118" y="0"/>
                </a:lnTo>
                <a:lnTo>
                  <a:pt x="1058118" y="1442070"/>
                </a:lnTo>
                <a:lnTo>
                  <a:pt x="0" y="1442070"/>
                </a:lnTo>
                <a:lnTo>
                  <a:pt x="0" y="0"/>
                </a:lnTo>
                <a:close/>
              </a:path>
            </a:pathLst>
          </a:custGeom>
          <a:blipFill>
            <a:blip r:embed="rId3"/>
            <a:stretch>
              <a:fillRect/>
            </a:stretch>
          </a:blipFill>
        </p:spPr>
        <p:txBody>
          <a:bodyPr/>
          <a:lstStyle/>
          <a:p>
            <a:endParaRPr lang="en-US"/>
          </a:p>
        </p:txBody>
      </p:sp>
      <p:sp>
        <p:nvSpPr>
          <p:cNvPr id="2" name="Title 1"/>
          <p:cNvSpPr>
            <a:spLocks noGrp="1"/>
          </p:cNvSpPr>
          <p:nvPr>
            <p:ph type="ctrTitle"/>
          </p:nvPr>
        </p:nvSpPr>
        <p:spPr>
          <a:xfrm>
            <a:off x="1280160" y="2651760"/>
            <a:ext cx="9628632" cy="1417320"/>
          </a:xfrm>
        </p:spPr>
        <p:txBody>
          <a:bodyPr anchor="t"/>
          <a:lstStyle/>
          <a:p>
            <a:r>
              <a:rPr sz="5400" b="1">
                <a:solidFill>
                  <a:schemeClr val="bg1"/>
                </a:solidFill>
              </a:rPr>
              <a:t>Two Industries</a:t>
            </a:r>
          </a:p>
        </p:txBody>
      </p:sp>
      <p:sp>
        <p:nvSpPr>
          <p:cNvPr id="3" name="Subtitle 2"/>
          <p:cNvSpPr>
            <a:spLocks noGrp="1"/>
          </p:cNvSpPr>
          <p:nvPr>
            <p:ph type="subTitle" idx="1"/>
          </p:nvPr>
        </p:nvSpPr>
        <p:spPr>
          <a:xfrm>
            <a:off x="1280160" y="4251960"/>
            <a:ext cx="9628632" cy="822960"/>
          </a:xfrm>
        </p:spPr>
        <p:txBody>
          <a:bodyPr/>
          <a:lstStyle/>
          <a:p>
            <a:r>
              <a:rPr sz="2000">
                <a:solidFill>
                  <a:srgbClr val="DDDDCB"/>
                </a:solidFill>
              </a:rPr>
              <a:t>University complaint handling · Hospital patient admission &amp; treatment</a:t>
            </a:r>
          </a:p>
        </p:txBody>
      </p:sp>
      <p:sp>
        <p:nvSpPr>
          <p:cNvPr id="10" name="Section number"/>
          <p:cNvSpPr txBox="1"/>
          <p:nvPr/>
        </p:nvSpPr>
        <p:spPr>
          <a:xfrm>
            <a:off x="1280160" y="2148840"/>
            <a:ext cx="9628632" cy="457200"/>
          </a:xfrm>
          <a:prstGeom prst="rect">
            <a:avLst/>
          </a:prstGeom>
          <a:noFill/>
        </p:spPr>
        <p:txBody>
          <a:bodyPr wrap="square" lIns="0" rIns="0" tIns="0" bIns="0" anchor="t">
            <a:spAutoFit/>
          </a:bodyPr>
          <a:lstStyle/>
          <a:p>
            <a:pPr algn="ctr">
              <a:spcAft>
                <a:spcPts val="400"/>
              </a:spcAft>
            </a:pPr>
            <a:r>
              <a:rPr sz="2000" b="1" i="0" spc="400">
                <a:solidFill>
                  <a:srgbClr val="CACA98"/>
                </a:solidFill>
              </a:rPr>
              <a:t>02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University Complaint Workflow</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02 · INDUSTRY 1 · EDUCATION</a:t>
            </a:r>
          </a:p>
        </p:txBody>
      </p:sp>
      <p:sp>
        <p:nvSpPr>
          <p:cNvPr id="4" name="Step 1"/>
          <p:cNvSpPr/>
          <p:nvPr/>
        </p:nvSpPr>
        <p:spPr>
          <a:xfrm>
            <a:off x="548640" y="1572768"/>
            <a:ext cx="1780032" cy="777240"/>
          </a:xfrm>
          <a:prstGeom prst="homePlat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rIns="201168"/>
          <a:lstStyle/>
          <a:p>
            <a:pPr algn="ctr">
              <a:spcAft>
                <a:spcPts val="100"/>
              </a:spcAft>
            </a:pPr>
            <a:r>
              <a:rPr sz="1100" b="1" i="0">
                <a:solidFill>
                  <a:srgbClr val="CACA98"/>
                </a:solidFill>
              </a:rPr>
              <a:t>1</a:t>
            </a:r>
          </a:p>
          <a:p>
            <a:pPr>
              <a:spcAft>
                <a:spcPts val="0"/>
              </a:spcAft>
            </a:pPr>
            <a:r>
              <a:rPr sz="1400" b="1" i="0">
                <a:solidFill>
                  <a:srgbClr val="FFFFFF"/>
                </a:solidFill>
              </a:rPr>
              <a:t>Submit complaint</a:t>
            </a:r>
          </a:p>
        </p:txBody>
      </p:sp>
      <p:sp>
        <p:nvSpPr>
          <p:cNvPr id="5" name="Step 2"/>
          <p:cNvSpPr/>
          <p:nvPr/>
        </p:nvSpPr>
        <p:spPr>
          <a:xfrm>
            <a:off x="2410968" y="1572768"/>
            <a:ext cx="1780032" cy="777240"/>
          </a:xfrm>
          <a:prstGeom prst="homePlate">
            <a:avLst/>
          </a:prstGeom>
          <a:solidFill>
            <a:srgbClr val="5E5E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rIns="201168"/>
          <a:lstStyle/>
          <a:p>
            <a:pPr algn="ctr">
              <a:spcAft>
                <a:spcPts val="100"/>
              </a:spcAft>
            </a:pPr>
            <a:r>
              <a:rPr sz="1100" b="1" i="0">
                <a:solidFill>
                  <a:srgbClr val="CACA98"/>
                </a:solidFill>
              </a:rPr>
              <a:t>2</a:t>
            </a:r>
          </a:p>
          <a:p>
            <a:pPr>
              <a:spcAft>
                <a:spcPts val="0"/>
              </a:spcAft>
            </a:pPr>
            <a:r>
              <a:rPr sz="1400" b="1" i="0">
                <a:solidFill>
                  <a:srgbClr val="FFFFFF"/>
                </a:solidFill>
              </a:rPr>
              <a:t>Review &amp; classify</a:t>
            </a:r>
          </a:p>
        </p:txBody>
      </p:sp>
      <p:sp>
        <p:nvSpPr>
          <p:cNvPr id="6" name="Step 3"/>
          <p:cNvSpPr/>
          <p:nvPr/>
        </p:nvSpPr>
        <p:spPr>
          <a:xfrm>
            <a:off x="4273296" y="1572768"/>
            <a:ext cx="1780032" cy="777240"/>
          </a:xfrm>
          <a:prstGeom prst="homePlate">
            <a:avLst/>
          </a:prstGeom>
          <a:solidFill>
            <a:srgbClr val="5E5E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rIns="201168"/>
          <a:lstStyle/>
          <a:p>
            <a:pPr algn="ctr">
              <a:spcAft>
                <a:spcPts val="100"/>
              </a:spcAft>
            </a:pPr>
            <a:r>
              <a:rPr sz="1100" b="1" i="0">
                <a:solidFill>
                  <a:srgbClr val="CACA98"/>
                </a:solidFill>
              </a:rPr>
              <a:t>3</a:t>
            </a:r>
          </a:p>
          <a:p>
            <a:pPr>
              <a:spcAft>
                <a:spcPts val="0"/>
              </a:spcAft>
            </a:pPr>
            <a:r>
              <a:rPr sz="1400" b="1" i="0">
                <a:solidFill>
                  <a:srgbClr val="FFFFFF"/>
                </a:solidFill>
              </a:rPr>
              <a:t>Assign to department</a:t>
            </a:r>
          </a:p>
        </p:txBody>
      </p:sp>
      <p:sp>
        <p:nvSpPr>
          <p:cNvPr id="7" name="Step 4"/>
          <p:cNvSpPr/>
          <p:nvPr/>
        </p:nvSpPr>
        <p:spPr>
          <a:xfrm>
            <a:off x="6135624" y="1572768"/>
            <a:ext cx="1780032" cy="777240"/>
          </a:xfrm>
          <a:prstGeom prst="homePlate">
            <a:avLst/>
          </a:prstGeom>
          <a:solidFill>
            <a:srgbClr val="5E5E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rIns="201168"/>
          <a:lstStyle/>
          <a:p>
            <a:pPr algn="ctr">
              <a:spcAft>
                <a:spcPts val="100"/>
              </a:spcAft>
            </a:pPr>
            <a:r>
              <a:rPr sz="1100" b="1" i="0">
                <a:solidFill>
                  <a:srgbClr val="CACA98"/>
                </a:solidFill>
              </a:rPr>
              <a:t>4</a:t>
            </a:r>
          </a:p>
          <a:p>
            <a:pPr>
              <a:spcAft>
                <a:spcPts val="0"/>
              </a:spcAft>
            </a:pPr>
            <a:r>
              <a:rPr sz="1400" b="1" i="0">
                <a:solidFill>
                  <a:srgbClr val="FFFFFF"/>
                </a:solidFill>
              </a:rPr>
              <a:t>Investigate</a:t>
            </a:r>
          </a:p>
        </p:txBody>
      </p:sp>
      <p:sp>
        <p:nvSpPr>
          <p:cNvPr id="8" name="Step 5"/>
          <p:cNvSpPr/>
          <p:nvPr/>
        </p:nvSpPr>
        <p:spPr>
          <a:xfrm>
            <a:off x="7997952" y="1572768"/>
            <a:ext cx="1780032" cy="777240"/>
          </a:xfrm>
          <a:prstGeom prst="homePlate">
            <a:avLst/>
          </a:prstGeom>
          <a:solidFill>
            <a:srgbClr val="5E5E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rIns="201168"/>
          <a:lstStyle/>
          <a:p>
            <a:pPr algn="ctr">
              <a:spcAft>
                <a:spcPts val="100"/>
              </a:spcAft>
            </a:pPr>
            <a:r>
              <a:rPr sz="1100" b="1" i="0">
                <a:solidFill>
                  <a:srgbClr val="CACA98"/>
                </a:solidFill>
              </a:rPr>
              <a:t>5</a:t>
            </a:r>
          </a:p>
          <a:p>
            <a:pPr>
              <a:spcAft>
                <a:spcPts val="0"/>
              </a:spcAft>
            </a:pPr>
            <a:r>
              <a:rPr sz="1400" b="1" i="0">
                <a:solidFill>
                  <a:srgbClr val="FFFFFF"/>
                </a:solidFill>
              </a:rPr>
              <a:t>Decide or escalate</a:t>
            </a:r>
          </a:p>
        </p:txBody>
      </p:sp>
      <p:sp>
        <p:nvSpPr>
          <p:cNvPr id="9" name="Step 6"/>
          <p:cNvSpPr/>
          <p:nvPr/>
        </p:nvSpPr>
        <p:spPr>
          <a:xfrm>
            <a:off x="9860280" y="1572768"/>
            <a:ext cx="1780032" cy="777240"/>
          </a:xfrm>
          <a:prstGeom prst="homePlat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rIns="201168"/>
          <a:lstStyle/>
          <a:p>
            <a:pPr algn="ctr">
              <a:spcAft>
                <a:spcPts val="100"/>
              </a:spcAft>
            </a:pPr>
            <a:r>
              <a:rPr sz="1100" b="1" i="0">
                <a:solidFill>
                  <a:srgbClr val="CACA98"/>
                </a:solidFill>
              </a:rPr>
              <a:t>6</a:t>
            </a:r>
          </a:p>
          <a:p>
            <a:pPr>
              <a:spcAft>
                <a:spcPts val="0"/>
              </a:spcAft>
            </a:pPr>
            <a:r>
              <a:rPr sz="1400" b="1" i="0">
                <a:solidFill>
                  <a:srgbClr val="FFFFFF"/>
                </a:solidFill>
              </a:rPr>
              <a:t>Resolve or close</a:t>
            </a:r>
          </a:p>
        </p:txBody>
      </p:sp>
      <p:sp>
        <p:nvSpPr>
          <p:cNvPr id="10" name="Sub heading"/>
          <p:cNvSpPr txBox="1"/>
          <p:nvPr/>
        </p:nvSpPr>
        <p:spPr>
          <a:xfrm>
            <a:off x="548640" y="2578608"/>
            <a:ext cx="6766560" cy="274320"/>
          </a:xfrm>
          <a:prstGeom prst="rect">
            <a:avLst/>
          </a:prstGeom>
          <a:noFill/>
        </p:spPr>
        <p:txBody>
          <a:bodyPr wrap="square" lIns="0" rIns="0" tIns="0" bIns="0" anchor="t">
            <a:spAutoFit/>
          </a:bodyPr>
          <a:lstStyle/>
          <a:p>
            <a:pPr>
              <a:spcAft>
                <a:spcPts val="0"/>
              </a:spcAft>
            </a:pPr>
            <a:r>
              <a:rPr sz="1100" b="1" i="0" spc="150">
                <a:solidFill>
                  <a:srgbClr val="5E5E38"/>
                </a:solidFill>
              </a:rPr>
              <a:t>PARTICIPANTS AND ROLES</a:t>
            </a:r>
          </a:p>
        </p:txBody>
      </p:sp>
      <p:sp>
        <p:nvSpPr>
          <p:cNvPr id="11" name="Role card"/>
          <p:cNvSpPr/>
          <p:nvPr/>
        </p:nvSpPr>
        <p:spPr>
          <a:xfrm>
            <a:off x="548640" y="2898648"/>
            <a:ext cx="6766560" cy="54864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con circle"/>
          <p:cNvSpPr/>
          <p:nvPr/>
        </p:nvSpPr>
        <p:spPr>
          <a:xfrm>
            <a:off x="658368" y="2971800"/>
            <a:ext cx="402336" cy="402336"/>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Icon FaUserGraduate" descr="FaUserGraduate_w.png"/>
          <p:cNvPicPr>
            <a:picLocks noChangeAspect="1"/>
          </p:cNvPicPr>
          <p:nvPr/>
        </p:nvPicPr>
        <p:blipFill>
          <a:blip r:embed="rId3"/>
          <a:stretch>
            <a:fillRect/>
          </a:stretch>
        </p:blipFill>
        <p:spPr>
          <a:xfrm>
            <a:off x="754928" y="3068360"/>
            <a:ext cx="209214" cy="209214"/>
          </a:xfrm>
          <a:prstGeom prst="rect">
            <a:avLst/>
          </a:prstGeom>
        </p:spPr>
      </p:pic>
      <p:sp>
        <p:nvSpPr>
          <p:cNvPr id="14" name="Role text"/>
          <p:cNvSpPr txBox="1"/>
          <p:nvPr/>
        </p:nvSpPr>
        <p:spPr>
          <a:xfrm>
            <a:off x="1207007" y="2935224"/>
            <a:ext cx="5989320" cy="475488"/>
          </a:xfrm>
          <a:prstGeom prst="rect">
            <a:avLst/>
          </a:prstGeom>
          <a:noFill/>
        </p:spPr>
        <p:txBody>
          <a:bodyPr wrap="square" lIns="0" rIns="0" tIns="0" bIns="0" anchor="ctr">
            <a:spAutoFit/>
          </a:bodyPr>
          <a:lstStyle/>
          <a:p>
            <a:pPr>
              <a:spcAft>
                <a:spcPts val="0"/>
              </a:spcAft>
            </a:pPr>
            <a:r>
              <a:rPr sz="1400" b="1" i="0">
                <a:solidFill>
                  <a:srgbClr val="14150F"/>
                </a:solidFill>
              </a:rPr>
              <a:t>Student</a:t>
            </a:r>
            <a:r>
              <a:rPr sz="1300" b="0" i="0">
                <a:solidFill>
                  <a:srgbClr val="66665A"/>
                </a:solidFill>
              </a:rPr>
              <a:t>  submits the complaint, receives the outcome</a:t>
            </a:r>
          </a:p>
        </p:txBody>
      </p:sp>
      <p:sp>
        <p:nvSpPr>
          <p:cNvPr id="15" name="Role card"/>
          <p:cNvSpPr/>
          <p:nvPr/>
        </p:nvSpPr>
        <p:spPr>
          <a:xfrm>
            <a:off x="548640" y="3538728"/>
            <a:ext cx="6766560" cy="54864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con circle"/>
          <p:cNvSpPr/>
          <p:nvPr/>
        </p:nvSpPr>
        <p:spPr>
          <a:xfrm>
            <a:off x="658368" y="3611880"/>
            <a:ext cx="402336" cy="402336"/>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Icon FaClipboardCheck" descr="FaClipboardCheck_w.png"/>
          <p:cNvPicPr>
            <a:picLocks noChangeAspect="1"/>
          </p:cNvPicPr>
          <p:nvPr/>
        </p:nvPicPr>
        <p:blipFill>
          <a:blip r:embed="rId4"/>
          <a:stretch>
            <a:fillRect/>
          </a:stretch>
        </p:blipFill>
        <p:spPr>
          <a:xfrm>
            <a:off x="754928" y="3708440"/>
            <a:ext cx="209214" cy="209214"/>
          </a:xfrm>
          <a:prstGeom prst="rect">
            <a:avLst/>
          </a:prstGeom>
        </p:spPr>
      </p:pic>
      <p:sp>
        <p:nvSpPr>
          <p:cNvPr id="18" name="Role text"/>
          <p:cNvSpPr txBox="1"/>
          <p:nvPr/>
        </p:nvSpPr>
        <p:spPr>
          <a:xfrm>
            <a:off x="1207007" y="3575304"/>
            <a:ext cx="5989320" cy="475488"/>
          </a:xfrm>
          <a:prstGeom prst="rect">
            <a:avLst/>
          </a:prstGeom>
          <a:noFill/>
        </p:spPr>
        <p:txBody>
          <a:bodyPr wrap="square" lIns="0" rIns="0" tIns="0" bIns="0" anchor="ctr">
            <a:spAutoFit/>
          </a:bodyPr>
          <a:lstStyle/>
          <a:p>
            <a:pPr>
              <a:spcAft>
                <a:spcPts val="0"/>
              </a:spcAft>
            </a:pPr>
            <a:r>
              <a:rPr sz="1400" b="1" i="0">
                <a:solidFill>
                  <a:srgbClr val="14150F"/>
                </a:solidFill>
              </a:rPr>
              <a:t>Administrator</a:t>
            </a:r>
            <a:r>
              <a:rPr sz="1300" b="0" i="0">
                <a:solidFill>
                  <a:srgbClr val="66665A"/>
                </a:solidFill>
              </a:rPr>
              <a:t>  reviews, classifies and routes</a:t>
            </a:r>
          </a:p>
        </p:txBody>
      </p:sp>
      <p:sp>
        <p:nvSpPr>
          <p:cNvPr id="19" name="Role card"/>
          <p:cNvSpPr/>
          <p:nvPr/>
        </p:nvSpPr>
        <p:spPr>
          <a:xfrm>
            <a:off x="548640" y="4178808"/>
            <a:ext cx="6766560" cy="54864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con circle"/>
          <p:cNvSpPr/>
          <p:nvPr/>
        </p:nvSpPr>
        <p:spPr>
          <a:xfrm>
            <a:off x="658368" y="4251960"/>
            <a:ext cx="402336" cy="402336"/>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Icon FaUsers" descr="FaUsers_w.png"/>
          <p:cNvPicPr>
            <a:picLocks noChangeAspect="1"/>
          </p:cNvPicPr>
          <p:nvPr/>
        </p:nvPicPr>
        <p:blipFill>
          <a:blip r:embed="rId5"/>
          <a:stretch>
            <a:fillRect/>
          </a:stretch>
        </p:blipFill>
        <p:spPr>
          <a:xfrm>
            <a:off x="754928" y="4348520"/>
            <a:ext cx="209214" cy="209214"/>
          </a:xfrm>
          <a:prstGeom prst="rect">
            <a:avLst/>
          </a:prstGeom>
        </p:spPr>
      </p:pic>
      <p:sp>
        <p:nvSpPr>
          <p:cNvPr id="22" name="Role text"/>
          <p:cNvSpPr txBox="1"/>
          <p:nvPr/>
        </p:nvSpPr>
        <p:spPr>
          <a:xfrm>
            <a:off x="1207007" y="4215384"/>
            <a:ext cx="5989320" cy="475488"/>
          </a:xfrm>
          <a:prstGeom prst="rect">
            <a:avLst/>
          </a:prstGeom>
          <a:noFill/>
        </p:spPr>
        <p:txBody>
          <a:bodyPr wrap="square" lIns="0" rIns="0" tIns="0" bIns="0" anchor="ctr">
            <a:spAutoFit/>
          </a:bodyPr>
          <a:lstStyle/>
          <a:p>
            <a:pPr>
              <a:spcAft>
                <a:spcPts val="0"/>
              </a:spcAft>
            </a:pPr>
            <a:r>
              <a:rPr sz="1400" b="1" i="0">
                <a:solidFill>
                  <a:srgbClr val="14150F"/>
                </a:solidFill>
              </a:rPr>
              <a:t>Staff member / lecturer</a:t>
            </a:r>
            <a:r>
              <a:rPr sz="1300" b="0" i="0">
                <a:solidFill>
                  <a:srgbClr val="66665A"/>
                </a:solidFill>
              </a:rPr>
              <a:t>  investigates and tries to resolve</a:t>
            </a:r>
          </a:p>
        </p:txBody>
      </p:sp>
      <p:sp>
        <p:nvSpPr>
          <p:cNvPr id="23" name="Role card"/>
          <p:cNvSpPr/>
          <p:nvPr/>
        </p:nvSpPr>
        <p:spPr>
          <a:xfrm>
            <a:off x="548640" y="4818888"/>
            <a:ext cx="6766560" cy="54864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con circle"/>
          <p:cNvSpPr/>
          <p:nvPr/>
        </p:nvSpPr>
        <p:spPr>
          <a:xfrm>
            <a:off x="658368" y="4892040"/>
            <a:ext cx="402336" cy="402336"/>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Icon FaUserTie" descr="FaUserTie_w.png"/>
          <p:cNvPicPr>
            <a:picLocks noChangeAspect="1"/>
          </p:cNvPicPr>
          <p:nvPr/>
        </p:nvPicPr>
        <p:blipFill>
          <a:blip r:embed="rId6"/>
          <a:stretch>
            <a:fillRect/>
          </a:stretch>
        </p:blipFill>
        <p:spPr>
          <a:xfrm>
            <a:off x="754928" y="4988600"/>
            <a:ext cx="209214" cy="209214"/>
          </a:xfrm>
          <a:prstGeom prst="rect">
            <a:avLst/>
          </a:prstGeom>
        </p:spPr>
      </p:pic>
      <p:sp>
        <p:nvSpPr>
          <p:cNvPr id="26" name="Role text"/>
          <p:cNvSpPr txBox="1"/>
          <p:nvPr/>
        </p:nvSpPr>
        <p:spPr>
          <a:xfrm>
            <a:off x="1207007" y="4855464"/>
            <a:ext cx="5989320" cy="475488"/>
          </a:xfrm>
          <a:prstGeom prst="rect">
            <a:avLst/>
          </a:prstGeom>
          <a:noFill/>
        </p:spPr>
        <p:txBody>
          <a:bodyPr wrap="square" lIns="0" rIns="0" tIns="0" bIns="0" anchor="ctr">
            <a:spAutoFit/>
          </a:bodyPr>
          <a:lstStyle/>
          <a:p>
            <a:pPr>
              <a:spcAft>
                <a:spcPts val="0"/>
              </a:spcAft>
            </a:pPr>
            <a:r>
              <a:rPr sz="1400" b="1" i="0">
                <a:solidFill>
                  <a:srgbClr val="14150F"/>
                </a:solidFill>
              </a:rPr>
              <a:t>Department head</a:t>
            </a:r>
            <a:r>
              <a:rPr sz="1300" b="0" i="0">
                <a:solidFill>
                  <a:srgbClr val="66665A"/>
                </a:solidFill>
              </a:rPr>
              <a:t>  handles escalated or higher-approval cases</a:t>
            </a:r>
          </a:p>
        </p:txBody>
      </p:sp>
      <p:sp>
        <p:nvSpPr>
          <p:cNvPr id="27" name="Role card"/>
          <p:cNvSpPr/>
          <p:nvPr/>
        </p:nvSpPr>
        <p:spPr>
          <a:xfrm>
            <a:off x="548640" y="5458968"/>
            <a:ext cx="6766560" cy="54864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con circle"/>
          <p:cNvSpPr/>
          <p:nvPr/>
        </p:nvSpPr>
        <p:spPr>
          <a:xfrm>
            <a:off x="658368" y="5532120"/>
            <a:ext cx="402336" cy="402336"/>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Icon FaShieldAlt" descr="FaShieldAlt_w.png"/>
          <p:cNvPicPr>
            <a:picLocks noChangeAspect="1"/>
          </p:cNvPicPr>
          <p:nvPr/>
        </p:nvPicPr>
        <p:blipFill>
          <a:blip r:embed="rId7"/>
          <a:stretch>
            <a:fillRect/>
          </a:stretch>
        </p:blipFill>
        <p:spPr>
          <a:xfrm>
            <a:off x="754928" y="5628680"/>
            <a:ext cx="209214" cy="209214"/>
          </a:xfrm>
          <a:prstGeom prst="rect">
            <a:avLst/>
          </a:prstGeom>
        </p:spPr>
      </p:pic>
      <p:sp>
        <p:nvSpPr>
          <p:cNvPr id="30" name="Role text"/>
          <p:cNvSpPr txBox="1"/>
          <p:nvPr/>
        </p:nvSpPr>
        <p:spPr>
          <a:xfrm>
            <a:off x="1207007" y="5495544"/>
            <a:ext cx="5989320" cy="475488"/>
          </a:xfrm>
          <a:prstGeom prst="rect">
            <a:avLst/>
          </a:prstGeom>
          <a:noFill/>
        </p:spPr>
        <p:txBody>
          <a:bodyPr wrap="square" lIns="0" rIns="0" tIns="0" bIns="0" anchor="ctr">
            <a:spAutoFit/>
          </a:bodyPr>
          <a:lstStyle/>
          <a:p>
            <a:pPr>
              <a:spcAft>
                <a:spcPts val="0"/>
              </a:spcAft>
            </a:pPr>
            <a:r>
              <a:rPr sz="1400" b="1" i="0">
                <a:solidFill>
                  <a:srgbClr val="14150F"/>
                </a:solidFill>
              </a:rPr>
              <a:t>Faculty representative</a:t>
            </a:r>
            <a:r>
              <a:rPr sz="1300" b="0" i="0">
                <a:solidFill>
                  <a:srgbClr val="66665A"/>
                </a:solidFill>
              </a:rPr>
              <a:t>  final escalation level</a:t>
            </a:r>
          </a:p>
        </p:txBody>
      </p:sp>
      <p:sp>
        <p:nvSpPr>
          <p:cNvPr id="31" name="Sub heading"/>
          <p:cNvSpPr txBox="1"/>
          <p:nvPr/>
        </p:nvSpPr>
        <p:spPr>
          <a:xfrm>
            <a:off x="7635240" y="2578608"/>
            <a:ext cx="4005072" cy="274320"/>
          </a:xfrm>
          <a:prstGeom prst="rect">
            <a:avLst/>
          </a:prstGeom>
          <a:noFill/>
        </p:spPr>
        <p:txBody>
          <a:bodyPr wrap="square" lIns="0" rIns="0" tIns="0" bIns="0" anchor="t">
            <a:spAutoFit/>
          </a:bodyPr>
          <a:lstStyle/>
          <a:p>
            <a:pPr>
              <a:spcAft>
                <a:spcPts val="0"/>
              </a:spcAft>
            </a:pPr>
            <a:r>
              <a:rPr sz="1100" b="1" i="0" spc="150">
                <a:solidFill>
                  <a:srgbClr val="5E5E38"/>
                </a:solidFill>
              </a:rPr>
              <a:t>POSSIBLE OUTCOMES</a:t>
            </a:r>
          </a:p>
        </p:txBody>
      </p:sp>
      <p:sp>
        <p:nvSpPr>
          <p:cNvPr id="32" name="Outcome card"/>
          <p:cNvSpPr/>
          <p:nvPr/>
        </p:nvSpPr>
        <p:spPr>
          <a:xfrm>
            <a:off x="7635240" y="2898648"/>
            <a:ext cx="4005072" cy="79552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con circle"/>
          <p:cNvSpPr/>
          <p:nvPr/>
        </p:nvSpPr>
        <p:spPr>
          <a:xfrm>
            <a:off x="7772400" y="3081528"/>
            <a:ext cx="420624" cy="420624"/>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Icon FaCheckCircle" descr="FaCheckCircle_w.png"/>
          <p:cNvPicPr>
            <a:picLocks noChangeAspect="1"/>
          </p:cNvPicPr>
          <p:nvPr/>
        </p:nvPicPr>
        <p:blipFill>
          <a:blip r:embed="rId8"/>
          <a:stretch>
            <a:fillRect/>
          </a:stretch>
        </p:blipFill>
        <p:spPr>
          <a:xfrm>
            <a:off x="7873349" y="3182477"/>
            <a:ext cx="218724" cy="218724"/>
          </a:xfrm>
          <a:prstGeom prst="rect">
            <a:avLst/>
          </a:prstGeom>
        </p:spPr>
      </p:pic>
      <p:sp>
        <p:nvSpPr>
          <p:cNvPr id="35" name="Outcome text"/>
          <p:cNvSpPr txBox="1"/>
          <p:nvPr/>
        </p:nvSpPr>
        <p:spPr>
          <a:xfrm>
            <a:off x="8366760" y="2953512"/>
            <a:ext cx="3154680" cy="685800"/>
          </a:xfrm>
          <a:prstGeom prst="rect">
            <a:avLst/>
          </a:prstGeom>
          <a:noFill/>
        </p:spPr>
        <p:txBody>
          <a:bodyPr wrap="square" lIns="0" rIns="0" tIns="0" bIns="0" anchor="ctr">
            <a:spAutoFit/>
          </a:bodyPr>
          <a:lstStyle/>
          <a:p>
            <a:pPr>
              <a:spcAft>
                <a:spcPts val="100"/>
              </a:spcAft>
            </a:pPr>
            <a:r>
              <a:rPr sz="1600" b="1" i="0">
                <a:solidFill>
                  <a:srgbClr val="14150F"/>
                </a:solidFill>
              </a:rPr>
              <a:t>Resolved</a:t>
            </a:r>
          </a:p>
          <a:p>
            <a:pPr>
              <a:spcAft>
                <a:spcPts val="0"/>
              </a:spcAft>
            </a:pPr>
            <a:r>
              <a:rPr sz="1300" b="0" i="0">
                <a:solidFill>
                  <a:srgbClr val="66665A"/>
                </a:solidFill>
              </a:rPr>
              <a:t>Student accepts the outcome</a:t>
            </a:r>
          </a:p>
        </p:txBody>
      </p:sp>
      <p:sp>
        <p:nvSpPr>
          <p:cNvPr id="36" name="Outcome card"/>
          <p:cNvSpPr/>
          <p:nvPr/>
        </p:nvSpPr>
        <p:spPr>
          <a:xfrm>
            <a:off x="7635240" y="3785615"/>
            <a:ext cx="4005072" cy="79552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con circle"/>
          <p:cNvSpPr/>
          <p:nvPr/>
        </p:nvSpPr>
        <p:spPr>
          <a:xfrm>
            <a:off x="7772400" y="3968496"/>
            <a:ext cx="420624" cy="420624"/>
          </a:xfrm>
          <a:prstGeom prst="ellipse">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Icon FaTimesCircle" descr="FaTimesCircle_d.png"/>
          <p:cNvPicPr>
            <a:picLocks noChangeAspect="1"/>
          </p:cNvPicPr>
          <p:nvPr/>
        </p:nvPicPr>
        <p:blipFill>
          <a:blip r:embed="rId9"/>
          <a:stretch>
            <a:fillRect/>
          </a:stretch>
        </p:blipFill>
        <p:spPr>
          <a:xfrm>
            <a:off x="7873349" y="4069445"/>
            <a:ext cx="218724" cy="218724"/>
          </a:xfrm>
          <a:prstGeom prst="rect">
            <a:avLst/>
          </a:prstGeom>
        </p:spPr>
      </p:pic>
      <p:sp>
        <p:nvSpPr>
          <p:cNvPr id="39" name="Outcome text"/>
          <p:cNvSpPr txBox="1"/>
          <p:nvPr/>
        </p:nvSpPr>
        <p:spPr>
          <a:xfrm>
            <a:off x="8366760" y="3840479"/>
            <a:ext cx="3154680" cy="685800"/>
          </a:xfrm>
          <a:prstGeom prst="rect">
            <a:avLst/>
          </a:prstGeom>
          <a:noFill/>
        </p:spPr>
        <p:txBody>
          <a:bodyPr wrap="square" lIns="0" rIns="0" tIns="0" bIns="0" anchor="ctr">
            <a:spAutoFit/>
          </a:bodyPr>
          <a:lstStyle/>
          <a:p>
            <a:pPr>
              <a:spcAft>
                <a:spcPts val="100"/>
              </a:spcAft>
            </a:pPr>
            <a:r>
              <a:rPr sz="1600" b="1" i="0">
                <a:solidFill>
                  <a:srgbClr val="14150F"/>
                </a:solidFill>
              </a:rPr>
              <a:t>Closed: retracted</a:t>
            </a:r>
          </a:p>
          <a:p>
            <a:pPr>
              <a:spcAft>
                <a:spcPts val="0"/>
              </a:spcAft>
            </a:pPr>
            <a:r>
              <a:rPr sz="1300" b="0" i="0">
                <a:solidFill>
                  <a:srgbClr val="66665A"/>
                </a:solidFill>
              </a:rPr>
              <a:t>Student withdraws the complaint</a:t>
            </a:r>
          </a:p>
        </p:txBody>
      </p:sp>
      <p:sp>
        <p:nvSpPr>
          <p:cNvPr id="40" name="Outcome card"/>
          <p:cNvSpPr/>
          <p:nvPr/>
        </p:nvSpPr>
        <p:spPr>
          <a:xfrm>
            <a:off x="7635240" y="4672583"/>
            <a:ext cx="4005072" cy="79552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con circle"/>
          <p:cNvSpPr/>
          <p:nvPr/>
        </p:nvSpPr>
        <p:spPr>
          <a:xfrm>
            <a:off x="7772400" y="4855464"/>
            <a:ext cx="420624" cy="420624"/>
          </a:xfrm>
          <a:prstGeom prst="ellipse">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Icon FaTimesCircle" descr="FaTimesCircle_d.png"/>
          <p:cNvPicPr>
            <a:picLocks noChangeAspect="1"/>
          </p:cNvPicPr>
          <p:nvPr/>
        </p:nvPicPr>
        <p:blipFill>
          <a:blip r:embed="rId9"/>
          <a:stretch>
            <a:fillRect/>
          </a:stretch>
        </p:blipFill>
        <p:spPr>
          <a:xfrm>
            <a:off x="7873349" y="4956413"/>
            <a:ext cx="218724" cy="218724"/>
          </a:xfrm>
          <a:prstGeom prst="rect">
            <a:avLst/>
          </a:prstGeom>
        </p:spPr>
      </p:pic>
      <p:sp>
        <p:nvSpPr>
          <p:cNvPr id="43" name="Outcome text"/>
          <p:cNvSpPr txBox="1"/>
          <p:nvPr/>
        </p:nvSpPr>
        <p:spPr>
          <a:xfrm>
            <a:off x="8366760" y="4727447"/>
            <a:ext cx="3154680" cy="685800"/>
          </a:xfrm>
          <a:prstGeom prst="rect">
            <a:avLst/>
          </a:prstGeom>
          <a:noFill/>
        </p:spPr>
        <p:txBody>
          <a:bodyPr wrap="square" lIns="0" rIns="0" tIns="0" bIns="0" anchor="ctr">
            <a:spAutoFit/>
          </a:bodyPr>
          <a:lstStyle/>
          <a:p>
            <a:pPr>
              <a:spcAft>
                <a:spcPts val="100"/>
              </a:spcAft>
            </a:pPr>
            <a:r>
              <a:rPr sz="1600" b="1" i="0">
                <a:solidFill>
                  <a:srgbClr val="14150F"/>
                </a:solidFill>
              </a:rPr>
              <a:t>Closed: appeal denied</a:t>
            </a:r>
          </a:p>
          <a:p>
            <a:pPr>
              <a:spcAft>
                <a:spcPts val="0"/>
              </a:spcAft>
            </a:pPr>
            <a:r>
              <a:rPr sz="1300" b="0" i="0">
                <a:solidFill>
                  <a:srgbClr val="66665A"/>
                </a:solidFill>
              </a:rPr>
              <a:t>Final appeal is denied</a:t>
            </a:r>
          </a:p>
        </p:txBody>
      </p:sp>
      <p:sp>
        <p:nvSpPr>
          <p:cNvPr id="44" name="Input data"/>
          <p:cNvSpPr txBox="1"/>
          <p:nvPr/>
        </p:nvSpPr>
        <p:spPr>
          <a:xfrm>
            <a:off x="7635240" y="5623560"/>
            <a:ext cx="4005072" cy="548640"/>
          </a:xfrm>
          <a:prstGeom prst="rect">
            <a:avLst/>
          </a:prstGeom>
          <a:noFill/>
        </p:spPr>
        <p:txBody>
          <a:bodyPr wrap="square" lIns="0" rIns="0" tIns="0" bIns="0" anchor="t">
            <a:spAutoFit/>
          </a:bodyPr>
          <a:lstStyle/>
          <a:p>
            <a:pPr>
              <a:spcAft>
                <a:spcPts val="0"/>
              </a:spcAft>
            </a:pPr>
            <a:r>
              <a:rPr sz="1300" b="1" i="0">
                <a:solidFill>
                  <a:srgbClr val="14150F"/>
                </a:solidFill>
              </a:rPr>
              <a:t>Input data: </a:t>
            </a:r>
            <a:r>
              <a:rPr sz="1300" b="0" i="0">
                <a:solidFill>
                  <a:srgbClr val="66665A"/>
                </a:solidFill>
              </a:rPr>
              <a:t>complaint type, description, student details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University: work, decisions and exceptions</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02 · INDUSTRY 1 · EDUCATION</a:t>
            </a:r>
          </a:p>
        </p:txBody>
      </p:sp>
      <p:sp>
        <p:nvSpPr>
          <p:cNvPr id="4" name="Column card"/>
          <p:cNvSpPr/>
          <p:nvPr/>
        </p:nvSpPr>
        <p:spPr>
          <a:xfrm>
            <a:off x="548640" y="1572768"/>
            <a:ext cx="3544824" cy="361188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ag"/>
          <p:cNvSpPr/>
          <p:nvPr/>
        </p:nvSpPr>
        <p:spPr>
          <a:xfrm>
            <a:off x="731520" y="1755648"/>
            <a:ext cx="1417320" cy="292608"/>
          </a:xfrm>
          <a:prstGeom prst="roundRect">
            <a:avLst>
              <a:gd name="adj" fmla="val 50000"/>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100" b="1" i="0">
                <a:solidFill>
                  <a:srgbClr val="FFFFFF"/>
                </a:solidFill>
              </a:rPr>
              <a:t>WORK ITEMS</a:t>
            </a:r>
          </a:p>
        </p:txBody>
      </p:sp>
      <p:sp>
        <p:nvSpPr>
          <p:cNvPr id="6" name="Column list"/>
          <p:cNvSpPr txBox="1"/>
          <p:nvPr/>
        </p:nvSpPr>
        <p:spPr>
          <a:xfrm>
            <a:off x="731520" y="2194560"/>
            <a:ext cx="3179064" cy="2834640"/>
          </a:xfrm>
          <a:prstGeom prst="rect">
            <a:avLst/>
          </a:prstGeom>
          <a:noFill/>
        </p:spPr>
        <p:txBody>
          <a:bodyPr wrap="square" lIns="0" rIns="0" tIns="0" bIns="0" anchor="t">
            <a:spAutoFit/>
          </a:bodyPr>
          <a:lstStyle/>
          <a:p>
            <a:pPr marL="182880" indent="-182880">
              <a:spcAft>
                <a:spcPts val="400"/>
              </a:spcAft>
              <a:buClr>
                <a:srgbClr val="5E5E38"/>
              </a:buClr>
              <a:buFont typeface="Arial"/>
              <a:buChar char="•"/>
            </a:pPr>
            <a:r>
              <a:rPr sz="1400" b="0" i="0">
                <a:solidFill>
                  <a:srgbClr val="14150F"/>
                </a:solidFill>
              </a:rPr>
              <a:t>Submit complaint</a:t>
            </a:r>
          </a:p>
          <a:p>
            <a:pPr marL="182880" indent="-182880">
              <a:spcAft>
                <a:spcPts val="400"/>
              </a:spcAft>
              <a:buClr>
                <a:srgbClr val="5E5E38"/>
              </a:buClr>
              <a:buFont typeface="Arial"/>
              <a:buChar char="•"/>
            </a:pPr>
            <a:r>
              <a:rPr sz="1400" b="0" i="0">
                <a:solidFill>
                  <a:srgbClr val="14150F"/>
                </a:solidFill>
              </a:rPr>
              <a:t>Review complaint</a:t>
            </a:r>
          </a:p>
          <a:p>
            <a:pPr marL="182880" indent="-182880">
              <a:spcAft>
                <a:spcPts val="400"/>
              </a:spcAft>
              <a:buClr>
                <a:srgbClr val="5E5E38"/>
              </a:buClr>
              <a:buFont typeface="Arial"/>
              <a:buChar char="•"/>
            </a:pPr>
            <a:r>
              <a:rPr sz="1400" b="0" i="0">
                <a:solidFill>
                  <a:srgbClr val="14150F"/>
                </a:solidFill>
              </a:rPr>
              <a:t>Identify complaint type</a:t>
            </a:r>
          </a:p>
          <a:p>
            <a:pPr marL="182880" indent="-182880">
              <a:spcAft>
                <a:spcPts val="400"/>
              </a:spcAft>
              <a:buClr>
                <a:srgbClr val="5E5E38"/>
              </a:buClr>
              <a:buFont typeface="Arial"/>
              <a:buChar char="•"/>
            </a:pPr>
            <a:r>
              <a:rPr sz="1400" b="0" i="0">
                <a:solidFill>
                  <a:srgbClr val="14150F"/>
                </a:solidFill>
              </a:rPr>
              <a:t>Assign complaint</a:t>
            </a:r>
          </a:p>
          <a:p>
            <a:pPr marL="182880" indent="-182880">
              <a:spcAft>
                <a:spcPts val="400"/>
              </a:spcAft>
              <a:buClr>
                <a:srgbClr val="5E5E38"/>
              </a:buClr>
              <a:buFont typeface="Arial"/>
              <a:buChar char="•"/>
            </a:pPr>
            <a:r>
              <a:rPr sz="1400" b="0" i="0">
                <a:solidFill>
                  <a:srgbClr val="14150F"/>
                </a:solidFill>
              </a:rPr>
              <a:t>Investigate complaint</a:t>
            </a:r>
          </a:p>
          <a:p>
            <a:pPr marL="182880" indent="-182880">
              <a:spcAft>
                <a:spcPts val="400"/>
              </a:spcAft>
              <a:buClr>
                <a:srgbClr val="5E5E38"/>
              </a:buClr>
              <a:buFont typeface="Arial"/>
              <a:buChar char="•"/>
            </a:pPr>
            <a:r>
              <a:rPr sz="1400" b="0" i="0">
                <a:solidFill>
                  <a:srgbClr val="14150F"/>
                </a:solidFill>
              </a:rPr>
              <a:t>Make decision</a:t>
            </a:r>
          </a:p>
          <a:p>
            <a:pPr marL="182880" indent="-182880">
              <a:spcAft>
                <a:spcPts val="400"/>
              </a:spcAft>
              <a:buClr>
                <a:srgbClr val="5E5E38"/>
              </a:buClr>
              <a:buFont typeface="Arial"/>
              <a:buChar char="•"/>
            </a:pPr>
            <a:r>
              <a:rPr sz="1400" b="0" i="0">
                <a:solidFill>
                  <a:srgbClr val="14150F"/>
                </a:solidFill>
              </a:rPr>
              <a:t>Escalate complaint</a:t>
            </a:r>
          </a:p>
          <a:p>
            <a:pPr marL="182880" indent="-182880">
              <a:spcAft>
                <a:spcPts val="400"/>
              </a:spcAft>
              <a:buClr>
                <a:srgbClr val="5E5E38"/>
              </a:buClr>
              <a:buFont typeface="Arial"/>
              <a:buChar char="•"/>
            </a:pPr>
            <a:r>
              <a:rPr sz="1400" b="0" i="0">
                <a:solidFill>
                  <a:srgbClr val="14150F"/>
                </a:solidFill>
              </a:rPr>
              <a:t>Review appeal</a:t>
            </a:r>
          </a:p>
          <a:p>
            <a:pPr marL="182880" indent="-182880">
              <a:spcAft>
                <a:spcPts val="400"/>
              </a:spcAft>
              <a:buClr>
                <a:srgbClr val="5E5E38"/>
              </a:buClr>
              <a:buFont typeface="Arial"/>
              <a:buChar char="•"/>
            </a:pPr>
            <a:r>
              <a:rPr sz="1400" b="0" i="0">
                <a:solidFill>
                  <a:srgbClr val="14150F"/>
                </a:solidFill>
              </a:rPr>
              <a:t>Resolve complaint</a:t>
            </a:r>
          </a:p>
          <a:p>
            <a:pPr marL="182880" indent="-182880">
              <a:spcAft>
                <a:spcPts val="400"/>
              </a:spcAft>
              <a:buClr>
                <a:srgbClr val="5E5E38"/>
              </a:buClr>
              <a:buFont typeface="Arial"/>
              <a:buChar char="•"/>
            </a:pPr>
            <a:r>
              <a:rPr sz="1400" b="0" i="0">
                <a:solidFill>
                  <a:srgbClr val="14150F"/>
                </a:solidFill>
              </a:rPr>
              <a:t>Close complaint</a:t>
            </a:r>
          </a:p>
        </p:txBody>
      </p:sp>
      <p:sp>
        <p:nvSpPr>
          <p:cNvPr id="7" name="Column card"/>
          <p:cNvSpPr/>
          <p:nvPr/>
        </p:nvSpPr>
        <p:spPr>
          <a:xfrm>
            <a:off x="4322064" y="1572768"/>
            <a:ext cx="3544824" cy="361188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ag"/>
          <p:cNvSpPr/>
          <p:nvPr/>
        </p:nvSpPr>
        <p:spPr>
          <a:xfrm>
            <a:off x="4504944" y="1755648"/>
            <a:ext cx="2322576" cy="292608"/>
          </a:xfrm>
          <a:prstGeom prst="roundRect">
            <a:avLst>
              <a:gd name="adj" fmla="val 50000"/>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100" b="1" i="0">
                <a:solidFill>
                  <a:srgbClr val="FFFFFF"/>
                </a:solidFill>
              </a:rPr>
              <a:t>DECISIONS &amp; ROUTING</a:t>
            </a:r>
          </a:p>
        </p:txBody>
      </p:sp>
      <p:sp>
        <p:nvSpPr>
          <p:cNvPr id="9" name="Column list"/>
          <p:cNvSpPr txBox="1"/>
          <p:nvPr/>
        </p:nvSpPr>
        <p:spPr>
          <a:xfrm>
            <a:off x="4504944" y="2194560"/>
            <a:ext cx="3179064" cy="2834640"/>
          </a:xfrm>
          <a:prstGeom prst="rect">
            <a:avLst/>
          </a:prstGeom>
          <a:noFill/>
        </p:spPr>
        <p:txBody>
          <a:bodyPr wrap="square" lIns="0" rIns="0" tIns="0" bIns="0" anchor="t">
            <a:spAutoFit/>
          </a:bodyPr>
          <a:lstStyle/>
          <a:p>
            <a:pPr marL="182880" indent="-182880">
              <a:spcAft>
                <a:spcPts val="400"/>
              </a:spcAft>
              <a:buClr>
                <a:srgbClr val="5E5E38"/>
              </a:buClr>
              <a:buFont typeface="Arial"/>
              <a:buChar char="•"/>
            </a:pPr>
            <a:r>
              <a:rPr sz="1400" b="0" i="0">
                <a:solidFill>
                  <a:srgbClr val="14150F"/>
                </a:solidFill>
              </a:rPr>
              <a:t>What type of complaint is it?</a:t>
            </a:r>
          </a:p>
          <a:p>
            <a:pPr marL="182880" indent="-182880">
              <a:spcAft>
                <a:spcPts val="400"/>
              </a:spcAft>
              <a:buClr>
                <a:srgbClr val="5E5E38"/>
              </a:buClr>
              <a:buFont typeface="Arial"/>
              <a:buChar char="•"/>
            </a:pPr>
            <a:r>
              <a:rPr sz="1400" b="0" i="0">
                <a:solidFill>
                  <a:srgbClr val="14150F"/>
                </a:solidFill>
              </a:rPr>
              <a:t>Which department receives it?</a:t>
            </a:r>
          </a:p>
          <a:p>
            <a:pPr marL="182880" indent="-182880">
              <a:spcAft>
                <a:spcPts val="400"/>
              </a:spcAft>
              <a:buClr>
                <a:srgbClr val="5E5E38"/>
              </a:buClr>
              <a:buFont typeface="Arial"/>
              <a:buChar char="•"/>
            </a:pPr>
            <a:r>
              <a:rPr sz="1400" b="0" i="0">
                <a:solidFill>
                  <a:srgbClr val="14150F"/>
                </a:solidFill>
              </a:rPr>
              <a:t>Can the staff member resolve it?</a:t>
            </a:r>
          </a:p>
          <a:p>
            <a:pPr marL="182880" indent="-182880">
              <a:spcAft>
                <a:spcPts val="400"/>
              </a:spcAft>
              <a:buClr>
                <a:srgbClr val="5E5E38"/>
              </a:buClr>
              <a:buFont typeface="Arial"/>
              <a:buChar char="•"/>
            </a:pPr>
            <a:r>
              <a:rPr sz="1400" b="0" i="0">
                <a:solidFill>
                  <a:srgbClr val="14150F"/>
                </a:solidFill>
              </a:rPr>
              <a:t>Should it be escalated?</a:t>
            </a:r>
          </a:p>
          <a:p>
            <a:pPr marL="182880" indent="-182880">
              <a:spcAft>
                <a:spcPts val="400"/>
              </a:spcAft>
              <a:buClr>
                <a:srgbClr val="5E5E38"/>
              </a:buClr>
              <a:buFont typeface="Arial"/>
              <a:buChar char="•"/>
            </a:pPr>
            <a:r>
              <a:rPr sz="1400" b="0" i="0">
                <a:solidFill>
                  <a:srgbClr val="14150F"/>
                </a:solidFill>
              </a:rPr>
              <a:t>Does the student accept the outcome?</a:t>
            </a:r>
          </a:p>
          <a:p>
            <a:pPr marL="182880" indent="-182880">
              <a:spcAft>
                <a:spcPts val="400"/>
              </a:spcAft>
              <a:buClr>
                <a:srgbClr val="5E5E38"/>
              </a:buClr>
              <a:buFont typeface="Arial"/>
              <a:buChar char="•"/>
            </a:pPr>
            <a:r>
              <a:rPr sz="1400" b="0" i="0">
                <a:solidFill>
                  <a:srgbClr val="14150F"/>
                </a:solidFill>
              </a:rPr>
              <a:t>Should an appeal be created?</a:t>
            </a:r>
          </a:p>
        </p:txBody>
      </p:sp>
      <p:sp>
        <p:nvSpPr>
          <p:cNvPr id="10" name="Column card"/>
          <p:cNvSpPr/>
          <p:nvPr/>
        </p:nvSpPr>
        <p:spPr>
          <a:xfrm>
            <a:off x="8095488" y="1572768"/>
            <a:ext cx="3544824" cy="361188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g"/>
          <p:cNvSpPr/>
          <p:nvPr/>
        </p:nvSpPr>
        <p:spPr>
          <a:xfrm>
            <a:off x="8278367" y="1755648"/>
            <a:ext cx="1417320" cy="292608"/>
          </a:xfrm>
          <a:prstGeom prst="roundRect">
            <a:avLst>
              <a:gd name="adj" fmla="val 50000"/>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100" b="1" i="0">
                <a:solidFill>
                  <a:srgbClr val="FFFFFF"/>
                </a:solidFill>
              </a:rPr>
              <a:t>EXCEPTIONS</a:t>
            </a:r>
          </a:p>
        </p:txBody>
      </p:sp>
      <p:sp>
        <p:nvSpPr>
          <p:cNvPr id="12" name="Column list"/>
          <p:cNvSpPr txBox="1"/>
          <p:nvPr/>
        </p:nvSpPr>
        <p:spPr>
          <a:xfrm>
            <a:off x="8278367" y="2194560"/>
            <a:ext cx="3179064" cy="2834640"/>
          </a:xfrm>
          <a:prstGeom prst="rect">
            <a:avLst/>
          </a:prstGeom>
          <a:noFill/>
        </p:spPr>
        <p:txBody>
          <a:bodyPr wrap="square" lIns="0" rIns="0" tIns="0" bIns="0" anchor="t">
            <a:spAutoFit/>
          </a:bodyPr>
          <a:lstStyle/>
          <a:p>
            <a:pPr marL="182880" indent="-182880">
              <a:spcAft>
                <a:spcPts val="400"/>
              </a:spcAft>
              <a:buClr>
                <a:srgbClr val="5E5E38"/>
              </a:buClr>
              <a:buFont typeface="Arial"/>
              <a:buChar char="•"/>
            </a:pPr>
            <a:r>
              <a:rPr sz="1400" b="0" i="0">
                <a:solidFill>
                  <a:srgbClr val="14150F"/>
                </a:solidFill>
              </a:rPr>
              <a:t>Insufficient information from the student</a:t>
            </a:r>
          </a:p>
          <a:p>
            <a:pPr marL="182880" indent="-182880">
              <a:spcAft>
                <a:spcPts val="400"/>
              </a:spcAft>
              <a:buClr>
                <a:srgbClr val="5E5E38"/>
              </a:buClr>
              <a:buFont typeface="Arial"/>
              <a:buChar char="•"/>
            </a:pPr>
            <a:r>
              <a:rPr sz="1400" b="0" i="0">
                <a:solidFill>
                  <a:srgbClr val="14150F"/>
                </a:solidFill>
              </a:rPr>
              <a:t>Complaint sent to the wrong department</a:t>
            </a:r>
          </a:p>
          <a:p>
            <a:pPr marL="182880" indent="-182880">
              <a:spcAft>
                <a:spcPts val="400"/>
              </a:spcAft>
              <a:buClr>
                <a:srgbClr val="5E5E38"/>
              </a:buClr>
              <a:buFont typeface="Arial"/>
              <a:buChar char="•"/>
            </a:pPr>
            <a:r>
              <a:rPr sz="1400" b="0" i="0">
                <a:solidFill>
                  <a:srgbClr val="14150F"/>
                </a:solidFill>
              </a:rPr>
              <a:t>Cannot be resolved at the current level</a:t>
            </a:r>
          </a:p>
          <a:p>
            <a:pPr marL="182880" indent="-182880">
              <a:spcAft>
                <a:spcPts val="400"/>
              </a:spcAft>
              <a:buClr>
                <a:srgbClr val="5E5E38"/>
              </a:buClr>
              <a:buFont typeface="Arial"/>
              <a:buChar char="•"/>
            </a:pPr>
            <a:r>
              <a:rPr sz="1400" b="0" i="0">
                <a:solidFill>
                  <a:srgbClr val="14150F"/>
                </a:solidFill>
              </a:rPr>
              <a:t>Email notification fails</a:t>
            </a:r>
          </a:p>
          <a:p>
            <a:pPr marL="182880" indent="-182880">
              <a:spcAft>
                <a:spcPts val="400"/>
              </a:spcAft>
              <a:buClr>
                <a:srgbClr val="5E5E38"/>
              </a:buClr>
              <a:buFont typeface="Arial"/>
              <a:buChar char="•"/>
            </a:pPr>
            <a:r>
              <a:rPr sz="1400" b="0" i="0">
                <a:solidFill>
                  <a:srgbClr val="14150F"/>
                </a:solidFill>
              </a:rPr>
              <a:t>Student withdraws the complaint</a:t>
            </a:r>
          </a:p>
          <a:p>
            <a:pPr marL="182880" indent="-182880">
              <a:spcAft>
                <a:spcPts val="400"/>
              </a:spcAft>
              <a:buClr>
                <a:srgbClr val="5E5E38"/>
              </a:buClr>
              <a:buFont typeface="Arial"/>
              <a:buChar char="•"/>
            </a:pPr>
            <a:r>
              <a:rPr sz="1400" b="0" i="0">
                <a:solidFill>
                  <a:srgbClr val="14150F"/>
                </a:solidFill>
              </a:rPr>
              <a:t>Student appeals the decision</a:t>
            </a:r>
          </a:p>
        </p:txBody>
      </p:sp>
      <p:sp>
        <p:nvSpPr>
          <p:cNvPr id="13" name="Dependencies strip"/>
          <p:cNvSpPr/>
          <p:nvPr/>
        </p:nvSpPr>
        <p:spPr>
          <a:xfrm>
            <a:off x="548640" y="5321808"/>
            <a:ext cx="11091672" cy="777240"/>
          </a:xfrm>
          <a:prstGeom prst="roundRect">
            <a:avLst>
              <a:gd name="adj" fmla="val 5000"/>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37160" bIns="137160"/>
          <a:lstStyle/>
          <a:p>
            <a:pPr algn="l">
              <a:spcAft>
                <a:spcPts val="0"/>
              </a:spcAft>
            </a:pPr>
            <a:r>
              <a:rPr sz="1400" b="1" i="0">
                <a:solidFill>
                  <a:srgbClr val="CACA98"/>
                </a:solidFill>
              </a:rPr>
              <a:t>Dependencies: </a:t>
            </a:r>
            <a:r>
              <a:rPr sz="1400" b="0" i="0">
                <a:solidFill>
                  <a:srgbClr val="FFFFFF"/>
                </a:solidFill>
              </a:rPr>
              <a:t>submit → review → assign → investigate.    </a:t>
            </a:r>
            <a:r>
              <a:rPr sz="1400" b="1" i="0">
                <a:solidFill>
                  <a:srgbClr val="CACA98"/>
                </a:solidFill>
              </a:rPr>
              <a:t>External system: </a:t>
            </a:r>
            <a:r>
              <a:rPr sz="1400" b="0" i="0">
                <a:solidFill>
                  <a:srgbClr val="FFFFFF"/>
                </a:solidFill>
              </a:rPr>
              <a:t>email notices for confirmation, assignment, escalation and resolution.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University: activity diagram</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02 · INDUSTRY 1 · EDUCATION</a:t>
            </a:r>
          </a:p>
        </p:txBody>
      </p:sp>
      <p:sp>
        <p:nvSpPr>
          <p:cNvPr id="4" name="Image placeholder"/>
          <p:cNvSpPr/>
          <p:nvPr/>
        </p:nvSpPr>
        <p:spPr>
          <a:xfrm>
            <a:off x="548640" y="1572768"/>
            <a:ext cx="11091672" cy="4160520"/>
          </a:xfrm>
          <a:prstGeom prst="roundRect">
            <a:avLst>
              <a:gd name="adj" fmla="val 2000"/>
            </a:avLst>
          </a:prstGeom>
          <a:solidFill>
            <a:srgbClr val="F7F7F2"/>
          </a:solidFill>
          <a:ln w="19050">
            <a:solidFill>
              <a:srgbClr val="5E5E3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ctr">
              <a:spcAft>
                <a:spcPts val="600"/>
              </a:spcAft>
            </a:pPr>
            <a:r>
              <a:rPr sz="2200" b="1" i="0">
                <a:solidFill>
                  <a:srgbClr val="5E5E38"/>
                </a:solidFill>
              </a:rPr>
              <a:t>Insert image here</a:t>
            </a:r>
          </a:p>
          <a:p>
            <a:pPr algn="ctr">
              <a:spcAft>
                <a:spcPts val="400"/>
              </a:spcAft>
            </a:pPr>
            <a:r>
              <a:rPr sz="1400" b="0" i="0">
                <a:solidFill>
                  <a:srgbClr val="66665A"/>
                </a:solidFill>
              </a:rPr>
              <a:t>UML activity diagram: complaint submission to resolution or closure</a:t>
            </a:r>
          </a:p>
          <a:p>
            <a:pPr algn="ctr">
              <a:spcAft>
                <a:spcPts val="0"/>
              </a:spcAft>
            </a:pPr>
            <a:r>
              <a:rPr sz="1200" b="0" i="1">
                <a:solidFill>
                  <a:srgbClr val="66665A"/>
                </a:solidFill>
              </a:rPr>
              <a:t>Export from the Visual Paradigm project</a:t>
            </a:r>
          </a:p>
        </p:txBody>
      </p:sp>
      <p:sp>
        <p:nvSpPr>
          <p:cNvPr id="5" name="Caption"/>
          <p:cNvSpPr txBox="1"/>
          <p:nvPr/>
        </p:nvSpPr>
        <p:spPr>
          <a:xfrm>
            <a:off x="548640" y="5852160"/>
            <a:ext cx="11091672" cy="457200"/>
          </a:xfrm>
          <a:prstGeom prst="rect">
            <a:avLst/>
          </a:prstGeom>
          <a:noFill/>
        </p:spPr>
        <p:txBody>
          <a:bodyPr wrap="square" lIns="0" rIns="0" tIns="0" bIns="0" anchor="t">
            <a:spAutoFit/>
          </a:bodyPr>
          <a:lstStyle/>
          <a:p>
            <a:pPr>
              <a:spcAft>
                <a:spcPts val="0"/>
              </a:spcAft>
            </a:pPr>
            <a:r>
              <a:rPr sz="1300" b="0" i="0">
                <a:solidFill>
                  <a:srgbClr val="66665A"/>
                </a:solidFill>
              </a:rPr>
              <a:t>Swimlanes show student, administrator, staff, department head and faculty representative. Routing guards decide escalation and appeal paths.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Hospital Patient Admission &amp; Treatment</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02 · INDUSTRY 2 · HEALTHCARE</a:t>
            </a:r>
          </a:p>
        </p:txBody>
      </p:sp>
      <p:sp>
        <p:nvSpPr>
          <p:cNvPr id="4" name="Step 1"/>
          <p:cNvSpPr/>
          <p:nvPr/>
        </p:nvSpPr>
        <p:spPr>
          <a:xfrm>
            <a:off x="548640" y="1572768"/>
            <a:ext cx="1780032" cy="777240"/>
          </a:xfrm>
          <a:prstGeom prst="homePlat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rIns="201168"/>
          <a:lstStyle/>
          <a:p>
            <a:pPr algn="ctr">
              <a:spcAft>
                <a:spcPts val="100"/>
              </a:spcAft>
            </a:pPr>
            <a:r>
              <a:rPr sz="1100" b="1" i="0">
                <a:solidFill>
                  <a:srgbClr val="CACA98"/>
                </a:solidFill>
              </a:rPr>
              <a:t>1</a:t>
            </a:r>
          </a:p>
          <a:p>
            <a:pPr>
              <a:spcAft>
                <a:spcPts val="0"/>
              </a:spcAft>
            </a:pPr>
            <a:r>
              <a:rPr sz="1400" b="1" i="0">
                <a:solidFill>
                  <a:srgbClr val="FFFFFF"/>
                </a:solidFill>
              </a:rPr>
              <a:t>Register patient</a:t>
            </a:r>
          </a:p>
        </p:txBody>
      </p:sp>
      <p:sp>
        <p:nvSpPr>
          <p:cNvPr id="5" name="Step 2"/>
          <p:cNvSpPr/>
          <p:nvPr/>
        </p:nvSpPr>
        <p:spPr>
          <a:xfrm>
            <a:off x="2410968" y="1572768"/>
            <a:ext cx="1780032" cy="777240"/>
          </a:xfrm>
          <a:prstGeom prst="homePlate">
            <a:avLst/>
          </a:prstGeom>
          <a:solidFill>
            <a:srgbClr val="5E5E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rIns="201168"/>
          <a:lstStyle/>
          <a:p>
            <a:pPr algn="ctr">
              <a:spcAft>
                <a:spcPts val="100"/>
              </a:spcAft>
            </a:pPr>
            <a:r>
              <a:rPr sz="1100" b="1" i="0">
                <a:solidFill>
                  <a:srgbClr val="CACA98"/>
                </a:solidFill>
              </a:rPr>
              <a:t>2</a:t>
            </a:r>
          </a:p>
          <a:p>
            <a:pPr>
              <a:spcAft>
                <a:spcPts val="0"/>
              </a:spcAft>
            </a:pPr>
            <a:r>
              <a:rPr sz="1400" b="1" i="0">
                <a:solidFill>
                  <a:srgbClr val="FFFFFF"/>
                </a:solidFill>
              </a:rPr>
              <a:t>Triage</a:t>
            </a:r>
          </a:p>
        </p:txBody>
      </p:sp>
      <p:sp>
        <p:nvSpPr>
          <p:cNvPr id="6" name="Step 3"/>
          <p:cNvSpPr/>
          <p:nvPr/>
        </p:nvSpPr>
        <p:spPr>
          <a:xfrm>
            <a:off x="4273296" y="1572768"/>
            <a:ext cx="1780032" cy="777240"/>
          </a:xfrm>
          <a:prstGeom prst="homePlate">
            <a:avLst/>
          </a:prstGeom>
          <a:solidFill>
            <a:srgbClr val="5E5E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rIns="201168"/>
          <a:lstStyle/>
          <a:p>
            <a:pPr algn="ctr">
              <a:spcAft>
                <a:spcPts val="100"/>
              </a:spcAft>
            </a:pPr>
            <a:r>
              <a:rPr sz="1100" b="1" i="0">
                <a:solidFill>
                  <a:srgbClr val="CACA98"/>
                </a:solidFill>
              </a:rPr>
              <a:t>3</a:t>
            </a:r>
          </a:p>
          <a:p>
            <a:pPr>
              <a:spcAft>
                <a:spcPts val="0"/>
              </a:spcAft>
            </a:pPr>
            <a:r>
              <a:rPr sz="1400" b="1" i="0">
                <a:solidFill>
                  <a:srgbClr val="FFFFFF"/>
                </a:solidFill>
              </a:rPr>
              <a:t>Admit &amp; assign</a:t>
            </a:r>
          </a:p>
        </p:txBody>
      </p:sp>
      <p:sp>
        <p:nvSpPr>
          <p:cNvPr id="7" name="Step 4"/>
          <p:cNvSpPr/>
          <p:nvPr/>
        </p:nvSpPr>
        <p:spPr>
          <a:xfrm>
            <a:off x="6135624" y="1572768"/>
            <a:ext cx="1780032" cy="777240"/>
          </a:xfrm>
          <a:prstGeom prst="homePlate">
            <a:avLst/>
          </a:prstGeom>
          <a:solidFill>
            <a:srgbClr val="5E5E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rIns="201168"/>
          <a:lstStyle/>
          <a:p>
            <a:pPr algn="ctr">
              <a:spcAft>
                <a:spcPts val="100"/>
              </a:spcAft>
            </a:pPr>
            <a:r>
              <a:rPr sz="1100" b="1" i="0">
                <a:solidFill>
                  <a:srgbClr val="CACA98"/>
                </a:solidFill>
              </a:rPr>
              <a:t>4</a:t>
            </a:r>
          </a:p>
          <a:p>
            <a:pPr>
              <a:spcAft>
                <a:spcPts val="0"/>
              </a:spcAft>
            </a:pPr>
            <a:r>
              <a:rPr sz="1400" b="1" i="0">
                <a:solidFill>
                  <a:srgbClr val="FFFFFF"/>
                </a:solidFill>
              </a:rPr>
              <a:t>Diagnose</a:t>
            </a:r>
          </a:p>
        </p:txBody>
      </p:sp>
      <p:sp>
        <p:nvSpPr>
          <p:cNvPr id="8" name="Step 5"/>
          <p:cNvSpPr/>
          <p:nvPr/>
        </p:nvSpPr>
        <p:spPr>
          <a:xfrm>
            <a:off x="7997952" y="1572768"/>
            <a:ext cx="1780032" cy="777240"/>
          </a:xfrm>
          <a:prstGeom prst="homePlate">
            <a:avLst/>
          </a:prstGeom>
          <a:solidFill>
            <a:srgbClr val="5E5E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rIns="201168"/>
          <a:lstStyle/>
          <a:p>
            <a:pPr algn="ctr">
              <a:spcAft>
                <a:spcPts val="100"/>
              </a:spcAft>
            </a:pPr>
            <a:r>
              <a:rPr sz="1100" b="1" i="0">
                <a:solidFill>
                  <a:srgbClr val="CACA98"/>
                </a:solidFill>
              </a:rPr>
              <a:t>5</a:t>
            </a:r>
          </a:p>
          <a:p>
            <a:pPr>
              <a:spcAft>
                <a:spcPts val="0"/>
              </a:spcAft>
            </a:pPr>
            <a:r>
              <a:rPr sz="1400" b="1" i="0">
                <a:solidFill>
                  <a:srgbClr val="FFFFFF"/>
                </a:solidFill>
              </a:rPr>
              <a:t>Treat</a:t>
            </a:r>
          </a:p>
        </p:txBody>
      </p:sp>
      <p:sp>
        <p:nvSpPr>
          <p:cNvPr id="9" name="Step 6"/>
          <p:cNvSpPr/>
          <p:nvPr/>
        </p:nvSpPr>
        <p:spPr>
          <a:xfrm>
            <a:off x="9860280" y="1572768"/>
            <a:ext cx="1780032" cy="777240"/>
          </a:xfrm>
          <a:prstGeom prst="homePlat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rIns="201168"/>
          <a:lstStyle/>
          <a:p>
            <a:pPr algn="ctr">
              <a:spcAft>
                <a:spcPts val="100"/>
              </a:spcAft>
            </a:pPr>
            <a:r>
              <a:rPr sz="1100" b="1" i="0">
                <a:solidFill>
                  <a:srgbClr val="CACA98"/>
                </a:solidFill>
              </a:rPr>
              <a:t>6</a:t>
            </a:r>
          </a:p>
          <a:p>
            <a:pPr>
              <a:spcAft>
                <a:spcPts val="0"/>
              </a:spcAft>
            </a:pPr>
            <a:r>
              <a:rPr sz="1400" b="1" i="0">
                <a:solidFill>
                  <a:srgbClr val="FFFFFF"/>
                </a:solidFill>
              </a:rPr>
              <a:t>Discharge or close</a:t>
            </a:r>
          </a:p>
        </p:txBody>
      </p:sp>
      <p:sp>
        <p:nvSpPr>
          <p:cNvPr id="10" name="Sub heading"/>
          <p:cNvSpPr txBox="1"/>
          <p:nvPr/>
        </p:nvSpPr>
        <p:spPr>
          <a:xfrm>
            <a:off x="548640" y="2578608"/>
            <a:ext cx="6766560" cy="274320"/>
          </a:xfrm>
          <a:prstGeom prst="rect">
            <a:avLst/>
          </a:prstGeom>
          <a:noFill/>
        </p:spPr>
        <p:txBody>
          <a:bodyPr wrap="square" lIns="0" rIns="0" tIns="0" bIns="0" anchor="t">
            <a:spAutoFit/>
          </a:bodyPr>
          <a:lstStyle/>
          <a:p>
            <a:pPr>
              <a:spcAft>
                <a:spcPts val="0"/>
              </a:spcAft>
            </a:pPr>
            <a:r>
              <a:rPr sz="1100" b="1" i="0" spc="150">
                <a:solidFill>
                  <a:srgbClr val="5E5E38"/>
                </a:solidFill>
              </a:rPr>
              <a:t>PARTICIPANTS AND ROLES</a:t>
            </a:r>
          </a:p>
        </p:txBody>
      </p:sp>
      <p:sp>
        <p:nvSpPr>
          <p:cNvPr id="11" name="Role card"/>
          <p:cNvSpPr/>
          <p:nvPr/>
        </p:nvSpPr>
        <p:spPr>
          <a:xfrm>
            <a:off x="548640" y="2898648"/>
            <a:ext cx="6766560" cy="54864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con circle"/>
          <p:cNvSpPr/>
          <p:nvPr/>
        </p:nvSpPr>
        <p:spPr>
          <a:xfrm>
            <a:off x="658368" y="2971800"/>
            <a:ext cx="402336" cy="402336"/>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Icon FaUsers" descr="FaUsers_w.png"/>
          <p:cNvPicPr>
            <a:picLocks noChangeAspect="1"/>
          </p:cNvPicPr>
          <p:nvPr/>
        </p:nvPicPr>
        <p:blipFill>
          <a:blip r:embed="rId3"/>
          <a:stretch>
            <a:fillRect/>
          </a:stretch>
        </p:blipFill>
        <p:spPr>
          <a:xfrm>
            <a:off x="754928" y="3068360"/>
            <a:ext cx="209214" cy="209214"/>
          </a:xfrm>
          <a:prstGeom prst="rect">
            <a:avLst/>
          </a:prstGeom>
        </p:spPr>
      </p:pic>
      <p:sp>
        <p:nvSpPr>
          <p:cNvPr id="14" name="Role text"/>
          <p:cNvSpPr txBox="1"/>
          <p:nvPr/>
        </p:nvSpPr>
        <p:spPr>
          <a:xfrm>
            <a:off x="1207007" y="2935224"/>
            <a:ext cx="5989320" cy="475488"/>
          </a:xfrm>
          <a:prstGeom prst="rect">
            <a:avLst/>
          </a:prstGeom>
          <a:noFill/>
        </p:spPr>
        <p:txBody>
          <a:bodyPr wrap="square" lIns="0" rIns="0" tIns="0" bIns="0" anchor="ctr">
            <a:spAutoFit/>
          </a:bodyPr>
          <a:lstStyle/>
          <a:p>
            <a:pPr>
              <a:spcAft>
                <a:spcPts val="0"/>
              </a:spcAft>
            </a:pPr>
            <a:r>
              <a:rPr sz="1400" b="1" i="0">
                <a:solidFill>
                  <a:srgbClr val="14150F"/>
                </a:solidFill>
              </a:rPr>
              <a:t>Patient</a:t>
            </a:r>
            <a:r>
              <a:rPr sz="1300" b="0" i="0">
                <a:solidFill>
                  <a:srgbClr val="66665A"/>
                </a:solidFill>
              </a:rPr>
              <a:t>  arrives and receives care</a:t>
            </a:r>
          </a:p>
        </p:txBody>
      </p:sp>
      <p:sp>
        <p:nvSpPr>
          <p:cNvPr id="15" name="Role card"/>
          <p:cNvSpPr/>
          <p:nvPr/>
        </p:nvSpPr>
        <p:spPr>
          <a:xfrm>
            <a:off x="548640" y="3538728"/>
            <a:ext cx="6766560" cy="54864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con circle"/>
          <p:cNvSpPr/>
          <p:nvPr/>
        </p:nvSpPr>
        <p:spPr>
          <a:xfrm>
            <a:off x="658368" y="3611880"/>
            <a:ext cx="402336" cy="402336"/>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Icon FaClipboardCheck" descr="FaClipboardCheck_w.png"/>
          <p:cNvPicPr>
            <a:picLocks noChangeAspect="1"/>
          </p:cNvPicPr>
          <p:nvPr/>
        </p:nvPicPr>
        <p:blipFill>
          <a:blip r:embed="rId4"/>
          <a:stretch>
            <a:fillRect/>
          </a:stretch>
        </p:blipFill>
        <p:spPr>
          <a:xfrm>
            <a:off x="754928" y="3708440"/>
            <a:ext cx="209214" cy="209214"/>
          </a:xfrm>
          <a:prstGeom prst="rect">
            <a:avLst/>
          </a:prstGeom>
        </p:spPr>
      </p:pic>
      <p:sp>
        <p:nvSpPr>
          <p:cNvPr id="18" name="Role text"/>
          <p:cNvSpPr txBox="1"/>
          <p:nvPr/>
        </p:nvSpPr>
        <p:spPr>
          <a:xfrm>
            <a:off x="1207007" y="3575304"/>
            <a:ext cx="5989320" cy="475488"/>
          </a:xfrm>
          <a:prstGeom prst="rect">
            <a:avLst/>
          </a:prstGeom>
          <a:noFill/>
        </p:spPr>
        <p:txBody>
          <a:bodyPr wrap="square" lIns="0" rIns="0" tIns="0" bIns="0" anchor="ctr">
            <a:spAutoFit/>
          </a:bodyPr>
          <a:lstStyle/>
          <a:p>
            <a:pPr>
              <a:spcAft>
                <a:spcPts val="0"/>
              </a:spcAft>
            </a:pPr>
            <a:r>
              <a:rPr sz="1400" b="1" i="0">
                <a:solidFill>
                  <a:srgbClr val="14150F"/>
                </a:solidFill>
              </a:rPr>
              <a:t>Admissions clerk</a:t>
            </a:r>
            <a:r>
              <a:rPr sz="1300" b="0" i="0">
                <a:solidFill>
                  <a:srgbClr val="66665A"/>
                </a:solidFill>
              </a:rPr>
              <a:t>  registers and admits the patient</a:t>
            </a:r>
          </a:p>
        </p:txBody>
      </p:sp>
      <p:sp>
        <p:nvSpPr>
          <p:cNvPr id="19" name="Role card"/>
          <p:cNvSpPr/>
          <p:nvPr/>
        </p:nvSpPr>
        <p:spPr>
          <a:xfrm>
            <a:off x="548640" y="4178808"/>
            <a:ext cx="6766560" cy="54864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con circle"/>
          <p:cNvSpPr/>
          <p:nvPr/>
        </p:nvSpPr>
        <p:spPr>
          <a:xfrm>
            <a:off x="658368" y="4251960"/>
            <a:ext cx="402336" cy="402336"/>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Icon FaUserNurse" descr="FaUserNurse_w.png"/>
          <p:cNvPicPr>
            <a:picLocks noChangeAspect="1"/>
          </p:cNvPicPr>
          <p:nvPr/>
        </p:nvPicPr>
        <p:blipFill>
          <a:blip r:embed="rId5"/>
          <a:stretch>
            <a:fillRect/>
          </a:stretch>
        </p:blipFill>
        <p:spPr>
          <a:xfrm>
            <a:off x="754928" y="4348520"/>
            <a:ext cx="209214" cy="209214"/>
          </a:xfrm>
          <a:prstGeom prst="rect">
            <a:avLst/>
          </a:prstGeom>
        </p:spPr>
      </p:pic>
      <p:sp>
        <p:nvSpPr>
          <p:cNvPr id="22" name="Role text"/>
          <p:cNvSpPr txBox="1"/>
          <p:nvPr/>
        </p:nvSpPr>
        <p:spPr>
          <a:xfrm>
            <a:off x="1207007" y="4215384"/>
            <a:ext cx="5989320" cy="475488"/>
          </a:xfrm>
          <a:prstGeom prst="rect">
            <a:avLst/>
          </a:prstGeom>
          <a:noFill/>
        </p:spPr>
        <p:txBody>
          <a:bodyPr wrap="square" lIns="0" rIns="0" tIns="0" bIns="0" anchor="ctr">
            <a:spAutoFit/>
          </a:bodyPr>
          <a:lstStyle/>
          <a:p>
            <a:pPr>
              <a:spcAft>
                <a:spcPts val="0"/>
              </a:spcAft>
            </a:pPr>
            <a:r>
              <a:rPr sz="1400" b="1" i="0">
                <a:solidFill>
                  <a:srgbClr val="14150F"/>
                </a:solidFill>
              </a:rPr>
              <a:t>Triage nurse</a:t>
            </a:r>
            <a:r>
              <a:rPr sz="1300" b="0" i="0">
                <a:solidFill>
                  <a:srgbClr val="66665A"/>
                </a:solidFill>
              </a:rPr>
              <a:t>  assesses urgency</a:t>
            </a:r>
          </a:p>
        </p:txBody>
      </p:sp>
      <p:sp>
        <p:nvSpPr>
          <p:cNvPr id="23" name="Role card"/>
          <p:cNvSpPr/>
          <p:nvPr/>
        </p:nvSpPr>
        <p:spPr>
          <a:xfrm>
            <a:off x="548640" y="4818888"/>
            <a:ext cx="6766560" cy="54864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con circle"/>
          <p:cNvSpPr/>
          <p:nvPr/>
        </p:nvSpPr>
        <p:spPr>
          <a:xfrm>
            <a:off x="658368" y="4892040"/>
            <a:ext cx="402336" cy="402336"/>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Icon FaUserMd" descr="FaUserMd_w.png"/>
          <p:cNvPicPr>
            <a:picLocks noChangeAspect="1"/>
          </p:cNvPicPr>
          <p:nvPr/>
        </p:nvPicPr>
        <p:blipFill>
          <a:blip r:embed="rId6"/>
          <a:stretch>
            <a:fillRect/>
          </a:stretch>
        </p:blipFill>
        <p:spPr>
          <a:xfrm>
            <a:off x="754928" y="4988600"/>
            <a:ext cx="209214" cy="209214"/>
          </a:xfrm>
          <a:prstGeom prst="rect">
            <a:avLst/>
          </a:prstGeom>
        </p:spPr>
      </p:pic>
      <p:sp>
        <p:nvSpPr>
          <p:cNvPr id="26" name="Role text"/>
          <p:cNvSpPr txBox="1"/>
          <p:nvPr/>
        </p:nvSpPr>
        <p:spPr>
          <a:xfrm>
            <a:off x="1207007" y="4855464"/>
            <a:ext cx="5989320" cy="475488"/>
          </a:xfrm>
          <a:prstGeom prst="rect">
            <a:avLst/>
          </a:prstGeom>
          <a:noFill/>
        </p:spPr>
        <p:txBody>
          <a:bodyPr wrap="square" lIns="0" rIns="0" tIns="0" bIns="0" anchor="ctr">
            <a:spAutoFit/>
          </a:bodyPr>
          <a:lstStyle/>
          <a:p>
            <a:pPr>
              <a:spcAft>
                <a:spcPts val="0"/>
              </a:spcAft>
            </a:pPr>
            <a:r>
              <a:rPr sz="1400" b="1" i="0">
                <a:solidFill>
                  <a:srgbClr val="14150F"/>
                </a:solidFill>
              </a:rPr>
              <a:t>Doctor</a:t>
            </a:r>
            <a:r>
              <a:rPr sz="1300" b="0" i="0">
                <a:solidFill>
                  <a:srgbClr val="66665A"/>
                </a:solidFill>
              </a:rPr>
              <a:t>  diagnoses and treats</a:t>
            </a:r>
          </a:p>
        </p:txBody>
      </p:sp>
      <p:sp>
        <p:nvSpPr>
          <p:cNvPr id="27" name="Role card"/>
          <p:cNvSpPr/>
          <p:nvPr/>
        </p:nvSpPr>
        <p:spPr>
          <a:xfrm>
            <a:off x="548640" y="5458968"/>
            <a:ext cx="6766560" cy="54864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con circle"/>
          <p:cNvSpPr/>
          <p:nvPr/>
        </p:nvSpPr>
        <p:spPr>
          <a:xfrm>
            <a:off x="658368" y="5532120"/>
            <a:ext cx="402336" cy="402336"/>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Icon FaStethoscope" descr="FaStethoscope_w.png"/>
          <p:cNvPicPr>
            <a:picLocks noChangeAspect="1"/>
          </p:cNvPicPr>
          <p:nvPr/>
        </p:nvPicPr>
        <p:blipFill>
          <a:blip r:embed="rId7"/>
          <a:stretch>
            <a:fillRect/>
          </a:stretch>
        </p:blipFill>
        <p:spPr>
          <a:xfrm>
            <a:off x="754928" y="5628680"/>
            <a:ext cx="209214" cy="209214"/>
          </a:xfrm>
          <a:prstGeom prst="rect">
            <a:avLst/>
          </a:prstGeom>
        </p:spPr>
      </p:pic>
      <p:sp>
        <p:nvSpPr>
          <p:cNvPr id="30" name="Role text"/>
          <p:cNvSpPr txBox="1"/>
          <p:nvPr/>
        </p:nvSpPr>
        <p:spPr>
          <a:xfrm>
            <a:off x="1207007" y="5495544"/>
            <a:ext cx="5989320" cy="475488"/>
          </a:xfrm>
          <a:prstGeom prst="rect">
            <a:avLst/>
          </a:prstGeom>
          <a:noFill/>
        </p:spPr>
        <p:txBody>
          <a:bodyPr wrap="square" lIns="0" rIns="0" tIns="0" bIns="0" anchor="ctr">
            <a:spAutoFit/>
          </a:bodyPr>
          <a:lstStyle/>
          <a:p>
            <a:pPr>
              <a:spcAft>
                <a:spcPts val="0"/>
              </a:spcAft>
            </a:pPr>
            <a:r>
              <a:rPr sz="1400" b="1" i="0">
                <a:solidFill>
                  <a:srgbClr val="14150F"/>
                </a:solidFill>
              </a:rPr>
              <a:t>Specialist</a:t>
            </a:r>
            <a:r>
              <a:rPr sz="1300" b="0" i="0">
                <a:solidFill>
                  <a:srgbClr val="66665A"/>
                </a:solidFill>
              </a:rPr>
              <a:t>  handles escalated cases, final decisions</a:t>
            </a:r>
          </a:p>
        </p:txBody>
      </p:sp>
      <p:sp>
        <p:nvSpPr>
          <p:cNvPr id="31" name="Sub heading"/>
          <p:cNvSpPr txBox="1"/>
          <p:nvPr/>
        </p:nvSpPr>
        <p:spPr>
          <a:xfrm>
            <a:off x="7635240" y="2578608"/>
            <a:ext cx="4005072" cy="274320"/>
          </a:xfrm>
          <a:prstGeom prst="rect">
            <a:avLst/>
          </a:prstGeom>
          <a:noFill/>
        </p:spPr>
        <p:txBody>
          <a:bodyPr wrap="square" lIns="0" rIns="0" tIns="0" bIns="0" anchor="t">
            <a:spAutoFit/>
          </a:bodyPr>
          <a:lstStyle/>
          <a:p>
            <a:pPr>
              <a:spcAft>
                <a:spcPts val="0"/>
              </a:spcAft>
            </a:pPr>
            <a:r>
              <a:rPr sz="1100" b="1" i="0" spc="150">
                <a:solidFill>
                  <a:srgbClr val="5E5E38"/>
                </a:solidFill>
              </a:rPr>
              <a:t>POSSIBLE OUTCOMES</a:t>
            </a:r>
          </a:p>
        </p:txBody>
      </p:sp>
      <p:sp>
        <p:nvSpPr>
          <p:cNvPr id="32" name="Outcome card"/>
          <p:cNvSpPr/>
          <p:nvPr/>
        </p:nvSpPr>
        <p:spPr>
          <a:xfrm>
            <a:off x="7635240" y="2898648"/>
            <a:ext cx="4005072" cy="79552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con circle"/>
          <p:cNvSpPr/>
          <p:nvPr/>
        </p:nvSpPr>
        <p:spPr>
          <a:xfrm>
            <a:off x="7772400" y="3081528"/>
            <a:ext cx="420624" cy="420624"/>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Icon FaCheckCircle" descr="FaCheckCircle_w.png"/>
          <p:cNvPicPr>
            <a:picLocks noChangeAspect="1"/>
          </p:cNvPicPr>
          <p:nvPr/>
        </p:nvPicPr>
        <p:blipFill>
          <a:blip r:embed="rId8"/>
          <a:stretch>
            <a:fillRect/>
          </a:stretch>
        </p:blipFill>
        <p:spPr>
          <a:xfrm>
            <a:off x="7873349" y="3182477"/>
            <a:ext cx="218724" cy="218724"/>
          </a:xfrm>
          <a:prstGeom prst="rect">
            <a:avLst/>
          </a:prstGeom>
        </p:spPr>
      </p:pic>
      <p:sp>
        <p:nvSpPr>
          <p:cNvPr id="35" name="Outcome text"/>
          <p:cNvSpPr txBox="1"/>
          <p:nvPr/>
        </p:nvSpPr>
        <p:spPr>
          <a:xfrm>
            <a:off x="8366760" y="2953512"/>
            <a:ext cx="3154680" cy="685800"/>
          </a:xfrm>
          <a:prstGeom prst="rect">
            <a:avLst/>
          </a:prstGeom>
          <a:noFill/>
        </p:spPr>
        <p:txBody>
          <a:bodyPr wrap="square" lIns="0" rIns="0" tIns="0" bIns="0" anchor="ctr">
            <a:spAutoFit/>
          </a:bodyPr>
          <a:lstStyle/>
          <a:p>
            <a:pPr>
              <a:spcAft>
                <a:spcPts val="100"/>
              </a:spcAft>
            </a:pPr>
            <a:r>
              <a:rPr sz="1600" b="1" i="0">
                <a:solidFill>
                  <a:srgbClr val="14150F"/>
                </a:solidFill>
              </a:rPr>
              <a:t>Resolved: discharged</a:t>
            </a:r>
          </a:p>
          <a:p>
            <a:pPr>
              <a:spcAft>
                <a:spcPts val="0"/>
              </a:spcAft>
            </a:pPr>
            <a:r>
              <a:rPr sz="1300" b="0" i="0">
                <a:solidFill>
                  <a:srgbClr val="66665A"/>
                </a:solidFill>
              </a:rPr>
              <a:t>Treatment complete</a:t>
            </a:r>
          </a:p>
        </p:txBody>
      </p:sp>
      <p:sp>
        <p:nvSpPr>
          <p:cNvPr id="36" name="Outcome card"/>
          <p:cNvSpPr/>
          <p:nvPr/>
        </p:nvSpPr>
        <p:spPr>
          <a:xfrm>
            <a:off x="7635240" y="3785615"/>
            <a:ext cx="4005072" cy="79552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con circle"/>
          <p:cNvSpPr/>
          <p:nvPr/>
        </p:nvSpPr>
        <p:spPr>
          <a:xfrm>
            <a:off x="7772400" y="3968496"/>
            <a:ext cx="420624" cy="420624"/>
          </a:xfrm>
          <a:prstGeom prst="ellipse">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Icon FaTimesCircle" descr="FaTimesCircle_d.png"/>
          <p:cNvPicPr>
            <a:picLocks noChangeAspect="1"/>
          </p:cNvPicPr>
          <p:nvPr/>
        </p:nvPicPr>
        <p:blipFill>
          <a:blip r:embed="rId9"/>
          <a:stretch>
            <a:fillRect/>
          </a:stretch>
        </p:blipFill>
        <p:spPr>
          <a:xfrm>
            <a:off x="7873349" y="4069445"/>
            <a:ext cx="218724" cy="218724"/>
          </a:xfrm>
          <a:prstGeom prst="rect">
            <a:avLst/>
          </a:prstGeom>
        </p:spPr>
      </p:pic>
      <p:sp>
        <p:nvSpPr>
          <p:cNvPr id="39" name="Outcome text"/>
          <p:cNvSpPr txBox="1"/>
          <p:nvPr/>
        </p:nvSpPr>
        <p:spPr>
          <a:xfrm>
            <a:off x="8366760" y="3840479"/>
            <a:ext cx="3154680" cy="685800"/>
          </a:xfrm>
          <a:prstGeom prst="rect">
            <a:avLst/>
          </a:prstGeom>
          <a:noFill/>
        </p:spPr>
        <p:txBody>
          <a:bodyPr wrap="square" lIns="0" rIns="0" tIns="0" bIns="0" anchor="ctr">
            <a:spAutoFit/>
          </a:bodyPr>
          <a:lstStyle/>
          <a:p>
            <a:pPr>
              <a:spcAft>
                <a:spcPts val="100"/>
              </a:spcAft>
            </a:pPr>
            <a:r>
              <a:rPr sz="1600" b="1" i="0">
                <a:solidFill>
                  <a:srgbClr val="14150F"/>
                </a:solidFill>
              </a:rPr>
              <a:t>Closed: withdrawn</a:t>
            </a:r>
          </a:p>
          <a:p>
            <a:pPr>
              <a:spcAft>
                <a:spcPts val="0"/>
              </a:spcAft>
            </a:pPr>
            <a:r>
              <a:rPr sz="1300" b="0" i="0">
                <a:solidFill>
                  <a:srgbClr val="66665A"/>
                </a:solidFill>
              </a:rPr>
              <a:t>Patient leaves or withdraws</a:t>
            </a:r>
          </a:p>
        </p:txBody>
      </p:sp>
      <p:sp>
        <p:nvSpPr>
          <p:cNvPr id="40" name="Outcome card"/>
          <p:cNvSpPr/>
          <p:nvPr/>
        </p:nvSpPr>
        <p:spPr>
          <a:xfrm>
            <a:off x="7635240" y="4672583"/>
            <a:ext cx="4005072" cy="79552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con circle"/>
          <p:cNvSpPr/>
          <p:nvPr/>
        </p:nvSpPr>
        <p:spPr>
          <a:xfrm>
            <a:off x="7772400" y="4855464"/>
            <a:ext cx="420624" cy="420624"/>
          </a:xfrm>
          <a:prstGeom prst="ellipse">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Icon FaTimesCircle" descr="FaTimesCircle_d.png"/>
          <p:cNvPicPr>
            <a:picLocks noChangeAspect="1"/>
          </p:cNvPicPr>
          <p:nvPr/>
        </p:nvPicPr>
        <p:blipFill>
          <a:blip r:embed="rId9"/>
          <a:stretch>
            <a:fillRect/>
          </a:stretch>
        </p:blipFill>
        <p:spPr>
          <a:xfrm>
            <a:off x="7873349" y="4956413"/>
            <a:ext cx="218724" cy="218724"/>
          </a:xfrm>
          <a:prstGeom prst="rect">
            <a:avLst/>
          </a:prstGeom>
        </p:spPr>
      </p:pic>
      <p:sp>
        <p:nvSpPr>
          <p:cNvPr id="43" name="Outcome text"/>
          <p:cNvSpPr txBox="1"/>
          <p:nvPr/>
        </p:nvSpPr>
        <p:spPr>
          <a:xfrm>
            <a:off x="8366760" y="4727447"/>
            <a:ext cx="3154680" cy="685800"/>
          </a:xfrm>
          <a:prstGeom prst="rect">
            <a:avLst/>
          </a:prstGeom>
          <a:noFill/>
        </p:spPr>
        <p:txBody>
          <a:bodyPr wrap="square" lIns="0" rIns="0" tIns="0" bIns="0" anchor="ctr">
            <a:spAutoFit/>
          </a:bodyPr>
          <a:lstStyle/>
          <a:p>
            <a:pPr>
              <a:spcAft>
                <a:spcPts val="100"/>
              </a:spcAft>
            </a:pPr>
            <a:r>
              <a:rPr sz="1600" b="1" i="0">
                <a:solidFill>
                  <a:srgbClr val="14150F"/>
                </a:solidFill>
              </a:rPr>
              <a:t>Closed: referred</a:t>
            </a:r>
          </a:p>
          <a:p>
            <a:pPr>
              <a:spcAft>
                <a:spcPts val="0"/>
              </a:spcAft>
            </a:pPr>
            <a:r>
              <a:rPr sz="1300" b="0" i="0">
                <a:solidFill>
                  <a:srgbClr val="66665A"/>
                </a:solidFill>
              </a:rPr>
              <a:t>Case continues elsewhere</a:t>
            </a:r>
          </a:p>
        </p:txBody>
      </p:sp>
      <p:sp>
        <p:nvSpPr>
          <p:cNvPr id="44" name="Input data"/>
          <p:cNvSpPr txBox="1"/>
          <p:nvPr/>
        </p:nvSpPr>
        <p:spPr>
          <a:xfrm>
            <a:off x="7635240" y="5623560"/>
            <a:ext cx="4005072" cy="548640"/>
          </a:xfrm>
          <a:prstGeom prst="rect">
            <a:avLst/>
          </a:prstGeom>
          <a:noFill/>
        </p:spPr>
        <p:txBody>
          <a:bodyPr wrap="square" lIns="0" rIns="0" tIns="0" bIns="0" anchor="t">
            <a:spAutoFit/>
          </a:bodyPr>
          <a:lstStyle/>
          <a:p>
            <a:pPr>
              <a:spcAft>
                <a:spcPts val="0"/>
              </a:spcAft>
            </a:pPr>
            <a:r>
              <a:rPr sz="1300" b="1" i="0">
                <a:solidFill>
                  <a:srgbClr val="14150F"/>
                </a:solidFill>
              </a:rPr>
              <a:t>Input data: </a:t>
            </a:r>
            <a:r>
              <a:rPr sz="1300" b="0" i="0">
                <a:solidFill>
                  <a:srgbClr val="66665A"/>
                </a:solidFill>
              </a:rPr>
              <a:t>patient details, symptoms, urgency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Hospital: work, decisions and exceptions</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02 · INDUSTRY 2 · HEALTHCARE</a:t>
            </a:r>
          </a:p>
        </p:txBody>
      </p:sp>
      <p:sp>
        <p:nvSpPr>
          <p:cNvPr id="4" name="Column card"/>
          <p:cNvSpPr/>
          <p:nvPr/>
        </p:nvSpPr>
        <p:spPr>
          <a:xfrm>
            <a:off x="548640" y="1572768"/>
            <a:ext cx="3544824" cy="361188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ag"/>
          <p:cNvSpPr/>
          <p:nvPr/>
        </p:nvSpPr>
        <p:spPr>
          <a:xfrm>
            <a:off x="731520" y="1755648"/>
            <a:ext cx="1417320" cy="292608"/>
          </a:xfrm>
          <a:prstGeom prst="roundRect">
            <a:avLst>
              <a:gd name="adj" fmla="val 50000"/>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100" b="1" i="0">
                <a:solidFill>
                  <a:srgbClr val="FFFFFF"/>
                </a:solidFill>
              </a:rPr>
              <a:t>WORK ITEMS</a:t>
            </a:r>
          </a:p>
        </p:txBody>
      </p:sp>
      <p:sp>
        <p:nvSpPr>
          <p:cNvPr id="6" name="Column list"/>
          <p:cNvSpPr txBox="1"/>
          <p:nvPr/>
        </p:nvSpPr>
        <p:spPr>
          <a:xfrm>
            <a:off x="731520" y="2194560"/>
            <a:ext cx="3179064" cy="2834640"/>
          </a:xfrm>
          <a:prstGeom prst="rect">
            <a:avLst/>
          </a:prstGeom>
          <a:noFill/>
        </p:spPr>
        <p:txBody>
          <a:bodyPr wrap="square" lIns="0" rIns="0" tIns="0" bIns="0" anchor="t">
            <a:spAutoFit/>
          </a:bodyPr>
          <a:lstStyle/>
          <a:p>
            <a:pPr marL="182880" indent="-182880">
              <a:spcAft>
                <a:spcPts val="400"/>
              </a:spcAft>
              <a:buClr>
                <a:srgbClr val="5E5E38"/>
              </a:buClr>
              <a:buFont typeface="Arial"/>
              <a:buChar char="•"/>
            </a:pPr>
            <a:r>
              <a:rPr sz="1400" b="0" i="0">
                <a:solidFill>
                  <a:srgbClr val="14150F"/>
                </a:solidFill>
              </a:rPr>
              <a:t>Register patient</a:t>
            </a:r>
          </a:p>
          <a:p>
            <a:pPr marL="182880" indent="-182880">
              <a:spcAft>
                <a:spcPts val="400"/>
              </a:spcAft>
              <a:buClr>
                <a:srgbClr val="5E5E38"/>
              </a:buClr>
              <a:buFont typeface="Arial"/>
              <a:buChar char="•"/>
            </a:pPr>
            <a:r>
              <a:rPr sz="1400" b="0" i="0">
                <a:solidFill>
                  <a:srgbClr val="14150F"/>
                </a:solidFill>
              </a:rPr>
              <a:t>Capture patient details</a:t>
            </a:r>
          </a:p>
          <a:p>
            <a:pPr marL="182880" indent="-182880">
              <a:spcAft>
                <a:spcPts val="400"/>
              </a:spcAft>
              <a:buClr>
                <a:srgbClr val="5E5E38"/>
              </a:buClr>
              <a:buFont typeface="Arial"/>
              <a:buChar char="•"/>
            </a:pPr>
            <a:r>
              <a:rPr sz="1400" b="0" i="0">
                <a:solidFill>
                  <a:srgbClr val="14150F"/>
                </a:solidFill>
              </a:rPr>
              <a:t>Triage assessment</a:t>
            </a:r>
          </a:p>
          <a:p>
            <a:pPr marL="182880" indent="-182880">
              <a:spcAft>
                <a:spcPts val="400"/>
              </a:spcAft>
              <a:buClr>
                <a:srgbClr val="5E5E38"/>
              </a:buClr>
              <a:buFont typeface="Arial"/>
              <a:buChar char="•"/>
            </a:pPr>
            <a:r>
              <a:rPr sz="1400" b="0" i="0">
                <a:solidFill>
                  <a:srgbClr val="14150F"/>
                </a:solidFill>
              </a:rPr>
              <a:t>Assign doctor and bed</a:t>
            </a:r>
          </a:p>
          <a:p>
            <a:pPr marL="182880" indent="-182880">
              <a:spcAft>
                <a:spcPts val="400"/>
              </a:spcAft>
              <a:buClr>
                <a:srgbClr val="5E5E38"/>
              </a:buClr>
              <a:buFont typeface="Arial"/>
              <a:buChar char="•"/>
            </a:pPr>
            <a:r>
              <a:rPr sz="1400" b="0" i="0">
                <a:solidFill>
                  <a:srgbClr val="14150F"/>
                </a:solidFill>
              </a:rPr>
              <a:t>Diagnose</a:t>
            </a:r>
          </a:p>
          <a:p>
            <a:pPr marL="182880" indent="-182880">
              <a:spcAft>
                <a:spcPts val="400"/>
              </a:spcAft>
              <a:buClr>
                <a:srgbClr val="5E5E38"/>
              </a:buClr>
              <a:buFont typeface="Arial"/>
              <a:buChar char="•"/>
            </a:pPr>
            <a:r>
              <a:rPr sz="1400" b="0" i="0">
                <a:solidFill>
                  <a:srgbClr val="14150F"/>
                </a:solidFill>
              </a:rPr>
              <a:t>Treat</a:t>
            </a:r>
          </a:p>
          <a:p>
            <a:pPr marL="182880" indent="-182880">
              <a:spcAft>
                <a:spcPts val="400"/>
              </a:spcAft>
              <a:buClr>
                <a:srgbClr val="5E5E38"/>
              </a:buClr>
              <a:buFont typeface="Arial"/>
              <a:buChar char="•"/>
            </a:pPr>
            <a:r>
              <a:rPr sz="1400" b="0" i="0">
                <a:solidFill>
                  <a:srgbClr val="14150F"/>
                </a:solidFill>
              </a:rPr>
              <a:t>Review treatment plan</a:t>
            </a:r>
          </a:p>
          <a:p>
            <a:pPr marL="182880" indent="-182880">
              <a:spcAft>
                <a:spcPts val="400"/>
              </a:spcAft>
              <a:buClr>
                <a:srgbClr val="5E5E38"/>
              </a:buClr>
              <a:buFont typeface="Arial"/>
              <a:buChar char="•"/>
            </a:pPr>
            <a:r>
              <a:rPr sz="1400" b="0" i="0">
                <a:solidFill>
                  <a:srgbClr val="14150F"/>
                </a:solidFill>
              </a:rPr>
              <a:t>Escalate to specialist</a:t>
            </a:r>
          </a:p>
          <a:p>
            <a:pPr marL="182880" indent="-182880">
              <a:spcAft>
                <a:spcPts val="400"/>
              </a:spcAft>
              <a:buClr>
                <a:srgbClr val="5E5E38"/>
              </a:buClr>
              <a:buFont typeface="Arial"/>
              <a:buChar char="•"/>
            </a:pPr>
            <a:r>
              <a:rPr sz="1400" b="0" i="0">
                <a:solidFill>
                  <a:srgbClr val="14150F"/>
                </a:solidFill>
              </a:rPr>
              <a:t>Discharge patient</a:t>
            </a:r>
          </a:p>
          <a:p>
            <a:pPr marL="182880" indent="-182880">
              <a:spcAft>
                <a:spcPts val="400"/>
              </a:spcAft>
              <a:buClr>
                <a:srgbClr val="5E5E38"/>
              </a:buClr>
              <a:buFont typeface="Arial"/>
              <a:buChar char="•"/>
            </a:pPr>
            <a:r>
              <a:rPr sz="1400" b="0" i="0">
                <a:solidFill>
                  <a:srgbClr val="14150F"/>
                </a:solidFill>
              </a:rPr>
              <a:t>Close case</a:t>
            </a:r>
          </a:p>
        </p:txBody>
      </p:sp>
      <p:sp>
        <p:nvSpPr>
          <p:cNvPr id="7" name="Column card"/>
          <p:cNvSpPr/>
          <p:nvPr/>
        </p:nvSpPr>
        <p:spPr>
          <a:xfrm>
            <a:off x="4322064" y="1572768"/>
            <a:ext cx="3544824" cy="361188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ag"/>
          <p:cNvSpPr/>
          <p:nvPr/>
        </p:nvSpPr>
        <p:spPr>
          <a:xfrm>
            <a:off x="4504944" y="1755648"/>
            <a:ext cx="2322576" cy="292608"/>
          </a:xfrm>
          <a:prstGeom prst="roundRect">
            <a:avLst>
              <a:gd name="adj" fmla="val 50000"/>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100" b="1" i="0">
                <a:solidFill>
                  <a:srgbClr val="FFFFFF"/>
                </a:solidFill>
              </a:rPr>
              <a:t>DECISIONS &amp; ROUTING</a:t>
            </a:r>
          </a:p>
        </p:txBody>
      </p:sp>
      <p:sp>
        <p:nvSpPr>
          <p:cNvPr id="9" name="Column list"/>
          <p:cNvSpPr txBox="1"/>
          <p:nvPr/>
        </p:nvSpPr>
        <p:spPr>
          <a:xfrm>
            <a:off x="4504944" y="2194560"/>
            <a:ext cx="3179064" cy="2834640"/>
          </a:xfrm>
          <a:prstGeom prst="rect">
            <a:avLst/>
          </a:prstGeom>
          <a:noFill/>
        </p:spPr>
        <p:txBody>
          <a:bodyPr wrap="square" lIns="0" rIns="0" tIns="0" bIns="0" anchor="t">
            <a:spAutoFit/>
          </a:bodyPr>
          <a:lstStyle/>
          <a:p>
            <a:pPr marL="182880" indent="-182880">
              <a:spcAft>
                <a:spcPts val="400"/>
              </a:spcAft>
              <a:buClr>
                <a:srgbClr val="5E5E38"/>
              </a:buClr>
              <a:buFont typeface="Arial"/>
              <a:buChar char="•"/>
            </a:pPr>
            <a:r>
              <a:rPr sz="1400" b="0" i="0">
                <a:solidFill>
                  <a:srgbClr val="14150F"/>
                </a:solidFill>
              </a:rPr>
              <a:t>Is the case urgent?</a:t>
            </a:r>
          </a:p>
          <a:p>
            <a:pPr marL="182880" indent="-182880">
              <a:spcAft>
                <a:spcPts val="400"/>
              </a:spcAft>
              <a:buClr>
                <a:srgbClr val="5E5E38"/>
              </a:buClr>
              <a:buFont typeface="Arial"/>
              <a:buChar char="•"/>
            </a:pPr>
            <a:r>
              <a:rPr sz="1400" b="0" i="0">
                <a:solidFill>
                  <a:srgbClr val="14150F"/>
                </a:solidFill>
              </a:rPr>
              <a:t>Admit or treat as outpatient?</a:t>
            </a:r>
          </a:p>
          <a:p>
            <a:pPr marL="182880" indent="-182880">
              <a:spcAft>
                <a:spcPts val="400"/>
              </a:spcAft>
              <a:buClr>
                <a:srgbClr val="5E5E38"/>
              </a:buClr>
              <a:buFont typeface="Arial"/>
              <a:buChar char="•"/>
            </a:pPr>
            <a:r>
              <a:rPr sz="1400" b="0" i="0">
                <a:solidFill>
                  <a:srgbClr val="14150F"/>
                </a:solidFill>
              </a:rPr>
              <a:t>Which doctor and bed are available?</a:t>
            </a:r>
          </a:p>
          <a:p>
            <a:pPr marL="182880" indent="-182880">
              <a:spcAft>
                <a:spcPts val="400"/>
              </a:spcAft>
              <a:buClr>
                <a:srgbClr val="5E5E38"/>
              </a:buClr>
              <a:buFont typeface="Arial"/>
              <a:buChar char="•"/>
            </a:pPr>
            <a:r>
              <a:rPr sz="1400" b="0" i="0">
                <a:solidFill>
                  <a:srgbClr val="14150F"/>
                </a:solidFill>
              </a:rPr>
              <a:t>Can the doctor treat, or escalate?</a:t>
            </a:r>
          </a:p>
          <a:p>
            <a:pPr marL="182880" indent="-182880">
              <a:spcAft>
                <a:spcPts val="400"/>
              </a:spcAft>
              <a:buClr>
                <a:srgbClr val="5E5E38"/>
              </a:buClr>
              <a:buFont typeface="Arial"/>
              <a:buChar char="•"/>
            </a:pPr>
            <a:r>
              <a:rPr sz="1400" b="0" i="0">
                <a:solidFill>
                  <a:srgbClr val="14150F"/>
                </a:solidFill>
              </a:rPr>
              <a:t>Is the treatment plan approved?</a:t>
            </a:r>
          </a:p>
          <a:p>
            <a:pPr marL="182880" indent="-182880">
              <a:spcAft>
                <a:spcPts val="400"/>
              </a:spcAft>
              <a:buClr>
                <a:srgbClr val="5E5E38"/>
              </a:buClr>
              <a:buFont typeface="Arial"/>
              <a:buChar char="•"/>
            </a:pPr>
            <a:r>
              <a:rPr sz="1400" b="0" i="0">
                <a:solidFill>
                  <a:srgbClr val="14150F"/>
                </a:solidFill>
              </a:rPr>
              <a:t>Is the patient fit for discharge?</a:t>
            </a:r>
          </a:p>
        </p:txBody>
      </p:sp>
      <p:sp>
        <p:nvSpPr>
          <p:cNvPr id="10" name="Column card"/>
          <p:cNvSpPr/>
          <p:nvPr/>
        </p:nvSpPr>
        <p:spPr>
          <a:xfrm>
            <a:off x="8095488" y="1572768"/>
            <a:ext cx="3544824" cy="361188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g"/>
          <p:cNvSpPr/>
          <p:nvPr/>
        </p:nvSpPr>
        <p:spPr>
          <a:xfrm>
            <a:off x="8278367" y="1755648"/>
            <a:ext cx="1417320" cy="292608"/>
          </a:xfrm>
          <a:prstGeom prst="roundRect">
            <a:avLst>
              <a:gd name="adj" fmla="val 50000"/>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100" b="1" i="0">
                <a:solidFill>
                  <a:srgbClr val="FFFFFF"/>
                </a:solidFill>
              </a:rPr>
              <a:t>EXCEPTIONS</a:t>
            </a:r>
          </a:p>
        </p:txBody>
      </p:sp>
      <p:sp>
        <p:nvSpPr>
          <p:cNvPr id="12" name="Column list"/>
          <p:cNvSpPr txBox="1"/>
          <p:nvPr/>
        </p:nvSpPr>
        <p:spPr>
          <a:xfrm>
            <a:off x="8278367" y="2194560"/>
            <a:ext cx="3179064" cy="2834640"/>
          </a:xfrm>
          <a:prstGeom prst="rect">
            <a:avLst/>
          </a:prstGeom>
          <a:noFill/>
        </p:spPr>
        <p:txBody>
          <a:bodyPr wrap="square" lIns="0" rIns="0" tIns="0" bIns="0" anchor="t">
            <a:spAutoFit/>
          </a:bodyPr>
          <a:lstStyle/>
          <a:p>
            <a:pPr marL="182880" indent="-182880">
              <a:spcAft>
                <a:spcPts val="400"/>
              </a:spcAft>
              <a:buClr>
                <a:srgbClr val="5E5E38"/>
              </a:buClr>
              <a:buFont typeface="Arial"/>
              <a:buChar char="•"/>
            </a:pPr>
            <a:r>
              <a:rPr sz="1400" b="0" i="0">
                <a:solidFill>
                  <a:srgbClr val="14150F"/>
                </a:solidFill>
              </a:rPr>
              <a:t>Missing patient information</a:t>
            </a:r>
          </a:p>
          <a:p>
            <a:pPr marL="182880" indent="-182880">
              <a:spcAft>
                <a:spcPts val="400"/>
              </a:spcAft>
              <a:buClr>
                <a:srgbClr val="5E5E38"/>
              </a:buClr>
              <a:buFont typeface="Arial"/>
              <a:buChar char="•"/>
            </a:pPr>
            <a:r>
              <a:rPr sz="1400" b="0" i="0">
                <a:solidFill>
                  <a:srgbClr val="14150F"/>
                </a:solidFill>
              </a:rPr>
              <a:t>No bed available</a:t>
            </a:r>
          </a:p>
          <a:p>
            <a:pPr marL="182880" indent="-182880">
              <a:spcAft>
                <a:spcPts val="400"/>
              </a:spcAft>
              <a:buClr>
                <a:srgbClr val="5E5E38"/>
              </a:buClr>
              <a:buFont typeface="Arial"/>
              <a:buChar char="•"/>
            </a:pPr>
            <a:r>
              <a:rPr sz="1400" b="0" i="0">
                <a:solidFill>
                  <a:srgbClr val="14150F"/>
                </a:solidFill>
              </a:rPr>
              <a:t>Complication during treatment</a:t>
            </a:r>
          </a:p>
          <a:p>
            <a:pPr marL="182880" indent="-182880">
              <a:spcAft>
                <a:spcPts val="400"/>
              </a:spcAft>
              <a:buClr>
                <a:srgbClr val="5E5E38"/>
              </a:buClr>
              <a:buFont typeface="Arial"/>
              <a:buChar char="•"/>
            </a:pPr>
            <a:r>
              <a:rPr sz="1400" b="0" i="0">
                <a:solidFill>
                  <a:srgbClr val="14150F"/>
                </a:solidFill>
              </a:rPr>
              <a:t>Specialist unavailable: next level</a:t>
            </a:r>
          </a:p>
          <a:p>
            <a:pPr marL="182880" indent="-182880">
              <a:spcAft>
                <a:spcPts val="400"/>
              </a:spcAft>
              <a:buClr>
                <a:srgbClr val="5E5E38"/>
              </a:buClr>
              <a:buFont typeface="Arial"/>
              <a:buChar char="•"/>
            </a:pPr>
            <a:r>
              <a:rPr sz="1400" b="0" i="0">
                <a:solidFill>
                  <a:srgbClr val="14150F"/>
                </a:solidFill>
              </a:rPr>
              <a:t>Patient leaves against advice</a:t>
            </a:r>
          </a:p>
          <a:p>
            <a:pPr marL="182880" indent="-182880">
              <a:spcAft>
                <a:spcPts val="400"/>
              </a:spcAft>
              <a:buClr>
                <a:srgbClr val="5E5E38"/>
              </a:buClr>
              <a:buFont typeface="Arial"/>
              <a:buChar char="•"/>
            </a:pPr>
            <a:r>
              <a:rPr sz="1400" b="0" i="0">
                <a:solidFill>
                  <a:srgbClr val="14150F"/>
                </a:solidFill>
              </a:rPr>
              <a:t>Notification fails</a:t>
            </a:r>
          </a:p>
        </p:txBody>
      </p:sp>
      <p:sp>
        <p:nvSpPr>
          <p:cNvPr id="13" name="Dependencies strip"/>
          <p:cNvSpPr/>
          <p:nvPr/>
        </p:nvSpPr>
        <p:spPr>
          <a:xfrm>
            <a:off x="548640" y="5321808"/>
            <a:ext cx="11091672" cy="777240"/>
          </a:xfrm>
          <a:prstGeom prst="roundRect">
            <a:avLst>
              <a:gd name="adj" fmla="val 5000"/>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37160" bIns="137160"/>
          <a:lstStyle/>
          <a:p>
            <a:pPr algn="l">
              <a:spcAft>
                <a:spcPts val="0"/>
              </a:spcAft>
            </a:pPr>
            <a:r>
              <a:rPr sz="1400" b="1" i="0">
                <a:solidFill>
                  <a:srgbClr val="CACA98"/>
                </a:solidFill>
              </a:rPr>
              <a:t>Dependencies: </a:t>
            </a:r>
            <a:r>
              <a:rPr sz="1400" b="0" i="0">
                <a:solidFill>
                  <a:srgbClr val="FFFFFF"/>
                </a:solidFill>
              </a:rPr>
              <a:t>register → triage → admit → diagnose → treat.    </a:t>
            </a:r>
            <a:r>
              <a:rPr sz="1400" b="1" i="0">
                <a:solidFill>
                  <a:srgbClr val="CACA98"/>
                </a:solidFill>
              </a:rPr>
              <a:t>External system: </a:t>
            </a:r>
            <a:r>
              <a:rPr sz="1400" b="0" i="0">
                <a:solidFill>
                  <a:srgbClr val="FFFFFF"/>
                </a:solidFill>
              </a:rPr>
              <a:t>ward and patient notifications through the same adapter.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Hospital: activity diagram</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02 · INDUSTRY 2 · HEALTHCARE</a:t>
            </a:r>
          </a:p>
        </p:txBody>
      </p:sp>
      <p:sp>
        <p:nvSpPr>
          <p:cNvPr id="4" name="Image placeholder"/>
          <p:cNvSpPr/>
          <p:nvPr/>
        </p:nvSpPr>
        <p:spPr>
          <a:xfrm>
            <a:off x="548640" y="1572768"/>
            <a:ext cx="11091672" cy="4160520"/>
          </a:xfrm>
          <a:prstGeom prst="roundRect">
            <a:avLst>
              <a:gd name="adj" fmla="val 2000"/>
            </a:avLst>
          </a:prstGeom>
          <a:solidFill>
            <a:srgbClr val="F7F7F2"/>
          </a:solidFill>
          <a:ln w="19050">
            <a:solidFill>
              <a:srgbClr val="5E5E3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ctr">
              <a:spcAft>
                <a:spcPts val="600"/>
              </a:spcAft>
            </a:pPr>
            <a:r>
              <a:rPr sz="2200" b="1" i="0">
                <a:solidFill>
                  <a:srgbClr val="5E5E38"/>
                </a:solidFill>
              </a:rPr>
              <a:t>Insert image here</a:t>
            </a:r>
          </a:p>
          <a:p>
            <a:pPr algn="ctr">
              <a:spcAft>
                <a:spcPts val="400"/>
              </a:spcAft>
            </a:pPr>
            <a:r>
              <a:rPr sz="1400" b="0" i="0">
                <a:solidFill>
                  <a:srgbClr val="66665A"/>
                </a:solidFill>
              </a:rPr>
              <a:t>UML activity diagram: admission, treatment and discharge</a:t>
            </a:r>
          </a:p>
          <a:p>
            <a:pPr algn="ctr">
              <a:spcAft>
                <a:spcPts val="0"/>
              </a:spcAft>
            </a:pPr>
            <a:r>
              <a:rPr sz="1200" b="0" i="1">
                <a:solidFill>
                  <a:srgbClr val="66665A"/>
                </a:solidFill>
              </a:rPr>
              <a:t>Export from the Visual Paradigm project</a:t>
            </a:r>
          </a:p>
        </p:txBody>
      </p:sp>
      <p:sp>
        <p:nvSpPr>
          <p:cNvPr id="5" name="Caption"/>
          <p:cNvSpPr txBox="1"/>
          <p:nvPr/>
        </p:nvSpPr>
        <p:spPr>
          <a:xfrm>
            <a:off x="548640" y="5852160"/>
            <a:ext cx="11091672" cy="457200"/>
          </a:xfrm>
          <a:prstGeom prst="rect">
            <a:avLst/>
          </a:prstGeom>
          <a:noFill/>
        </p:spPr>
        <p:txBody>
          <a:bodyPr wrap="square" lIns="0" rIns="0" tIns="0" bIns="0" anchor="t">
            <a:spAutoFit/>
          </a:bodyPr>
          <a:lstStyle/>
          <a:p>
            <a:pPr>
              <a:spcAft>
                <a:spcPts val="0"/>
              </a:spcAft>
            </a:pPr>
            <a:r>
              <a:rPr sz="1300" b="0" i="0">
                <a:solidFill>
                  <a:srgbClr val="66665A"/>
                </a:solidFill>
              </a:rPr>
              <a:t>Swimlanes show patient, admissions clerk, triage nurse, doctor and specialist. Escalation and discharge decisions route the case.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Same engine, different configuration</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02 · BOTH INDUSTRIES</a:t>
            </a:r>
          </a:p>
        </p:txBody>
      </p:sp>
      <p:graphicFrame>
        <p:nvGraphicFramePr>
          <p:cNvPr id="4" name="Table"/>
          <p:cNvGraphicFramePr>
            <a:graphicFrameLocks noGrp="1"/>
          </p:cNvGraphicFramePr>
          <p:nvPr/>
        </p:nvGraphicFramePr>
        <p:xfrm>
          <a:off x="548640" y="1572768"/>
          <a:ext cx="11091672" cy="4572000"/>
        </p:xfrm>
        <a:graphic>
          <a:graphicData uri="http://schemas.openxmlformats.org/drawingml/2006/table">
            <a:tbl>
              <a:tblPr firstRow="0" bandRow="0">
                <a:tableStyleId>{2D5ABB26-0587-4C30-8999-92F81FD0307C}</a:tableStyleId>
              </a:tblPr>
              <a:tblGrid>
                <a:gridCol w="1920240"/>
                <a:gridCol w="2788920"/>
                <a:gridCol w="2788920"/>
                <a:gridCol w="3593592"/>
              </a:tblGrid>
              <a:tr h="457200">
                <a:tc>
                  <a:txBody>
                    <a:bodyPr wrap="square" lIns="0" rIns="0" tIns="0" bIns="0" anchor="ctr"/>
                    <a:lstStyle/>
                    <a:p>
                      <a:pPr>
                        <a:spcAft>
                          <a:spcPts val="0"/>
                        </a:spcAft>
                      </a:pPr>
                      <a:r>
                        <a:rPr sz="1300" b="1" i="0">
                          <a:solidFill>
                            <a:srgbClr val="FFFFFF"/>
                          </a:solidFill>
                        </a:rPr>
                        <a:t>Responsibility</a:t>
                      </a:r>
                    </a:p>
                  </a:txBody>
                  <a:tcPr anchor="ctr" marL="109728" marR="109728" marT="36576" marB="36576">
                    <a:lnL w="0">
                      <a:noFill/>
                    </a:lnL>
                    <a:lnR w="0">
                      <a:noFill/>
                    </a:lnR>
                    <a:lnT w="0">
                      <a:noFill/>
                    </a:lnT>
                    <a:lnB w="9525">
                      <a:solidFill>
                        <a:srgbClr val="DFDFCC"/>
                      </a:solidFill>
                    </a:lnB>
                    <a:solidFill>
                      <a:srgbClr val="14150F"/>
                    </a:solidFill>
                  </a:tcPr>
                </a:tc>
                <a:tc>
                  <a:txBody>
                    <a:bodyPr wrap="square" lIns="0" rIns="0" tIns="0" bIns="0" anchor="ctr"/>
                    <a:lstStyle/>
                    <a:p>
                      <a:pPr>
                        <a:spcAft>
                          <a:spcPts val="0"/>
                        </a:spcAft>
                      </a:pPr>
                      <a:r>
                        <a:rPr sz="1300" b="1" i="0">
                          <a:solidFill>
                            <a:srgbClr val="FFFFFF"/>
                          </a:solidFill>
                        </a:rPr>
                        <a:t>University complaint</a:t>
                      </a:r>
                    </a:p>
                  </a:txBody>
                  <a:tcPr anchor="ctr" marL="109728" marR="109728" marT="36576" marB="36576">
                    <a:lnL w="0">
                      <a:noFill/>
                    </a:lnL>
                    <a:lnR w="0">
                      <a:noFill/>
                    </a:lnR>
                    <a:lnT w="0">
                      <a:noFill/>
                    </a:lnT>
                    <a:lnB w="9525">
                      <a:solidFill>
                        <a:srgbClr val="DFDFCC"/>
                      </a:solidFill>
                    </a:lnB>
                    <a:solidFill>
                      <a:srgbClr val="14150F"/>
                    </a:solidFill>
                  </a:tcPr>
                </a:tc>
                <a:tc>
                  <a:txBody>
                    <a:bodyPr wrap="square" lIns="0" rIns="0" tIns="0" bIns="0" anchor="ctr"/>
                    <a:lstStyle/>
                    <a:p>
                      <a:pPr>
                        <a:spcAft>
                          <a:spcPts val="0"/>
                        </a:spcAft>
                      </a:pPr>
                      <a:r>
                        <a:rPr sz="1300" b="1" i="0">
                          <a:solidFill>
                            <a:srgbClr val="FFFFFF"/>
                          </a:solidFill>
                        </a:rPr>
                        <a:t>Hospital admission</a:t>
                      </a:r>
                    </a:p>
                  </a:txBody>
                  <a:tcPr anchor="ctr" marL="109728" marR="109728" marT="36576" marB="36576">
                    <a:lnL w="0">
                      <a:noFill/>
                    </a:lnL>
                    <a:lnR w="0">
                      <a:noFill/>
                    </a:lnR>
                    <a:lnT w="0">
                      <a:noFill/>
                    </a:lnT>
                    <a:lnB w="9525">
                      <a:solidFill>
                        <a:srgbClr val="DFDFCC"/>
                      </a:solidFill>
                    </a:lnB>
                    <a:solidFill>
                      <a:srgbClr val="14150F"/>
                    </a:solidFill>
                  </a:tcPr>
                </a:tc>
                <a:tc>
                  <a:txBody>
                    <a:bodyPr wrap="square" lIns="0" rIns="0" tIns="0" bIns="0" anchor="ctr"/>
                    <a:lstStyle/>
                    <a:p>
                      <a:pPr>
                        <a:spcAft>
                          <a:spcPts val="0"/>
                        </a:spcAft>
                      </a:pPr>
                      <a:r>
                        <a:rPr sz="1300" b="1" i="0">
                          <a:solidFill>
                            <a:srgbClr val="FFFFFF"/>
                          </a:solidFill>
                        </a:rPr>
                        <a:t>Generic engine classes (unchanged)</a:t>
                      </a:r>
                    </a:p>
                  </a:txBody>
                  <a:tcPr anchor="ctr" marL="109728" marR="109728" marT="36576" marB="36576">
                    <a:lnL w="0">
                      <a:noFill/>
                    </a:lnL>
                    <a:lnR w="0">
                      <a:noFill/>
                    </a:lnR>
                    <a:lnT w="0">
                      <a:noFill/>
                    </a:lnT>
                    <a:lnB w="9525">
                      <a:solidFill>
                        <a:srgbClr val="DFDFCC"/>
                      </a:solidFill>
                    </a:lnB>
                    <a:solidFill>
                      <a:srgbClr val="14150F"/>
                    </a:solidFill>
                  </a:tcPr>
                </a:tc>
              </a:tr>
              <a:tr h="685800">
                <a:tc>
                  <a:txBody>
                    <a:bodyPr wrap="square" lIns="0" rIns="0" tIns="0" bIns="0" anchor="ctr"/>
                    <a:lstStyle/>
                    <a:p>
                      <a:pPr>
                        <a:spcAft>
                          <a:spcPts val="0"/>
                        </a:spcAft>
                      </a:pPr>
                      <a:r>
                        <a:rPr sz="1300" b="1" i="0">
                          <a:solidFill>
                            <a:srgbClr val="14150F"/>
                          </a:solidFill>
                        </a:rPr>
                        <a:t>Workflow definition</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Built for complaints</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Built for admissions</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WorkflowBuilder, WorkflowDirector, WorkflowDefinition</a:t>
                      </a:r>
                    </a:p>
                  </a:txBody>
                  <a:tcPr anchor="ctr" marL="109728" marR="109728" marT="36576" marB="36576">
                    <a:lnL w="0">
                      <a:noFill/>
                    </a:lnL>
                    <a:lnR w="0">
                      <a:noFill/>
                    </a:lnR>
                    <a:lnT w="0">
                      <a:noFill/>
                    </a:lnT>
                    <a:lnB w="9525">
                      <a:solidFill>
                        <a:srgbClr val="DFDFCC"/>
                      </a:solidFill>
                    </a:lnB>
                    <a:solidFill>
                      <a:srgbClr val="FFFFFF"/>
                    </a:solidFill>
                  </a:tcPr>
                </a:tc>
              </a:tr>
              <a:tr h="685800">
                <a:tc>
                  <a:txBody>
                    <a:bodyPr wrap="square" lIns="0" rIns="0" tIns="0" bIns="0" anchor="ctr"/>
                    <a:lstStyle/>
                    <a:p>
                      <a:pPr>
                        <a:spcAft>
                          <a:spcPts val="0"/>
                        </a:spcAft>
                      </a:pPr>
                      <a:r>
                        <a:rPr sz="1300" b="1" i="0">
                          <a:solidFill>
                            <a:srgbClr val="14150F"/>
                          </a:solidFill>
                        </a:rPr>
                        <a:t>Structure of work</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0">
                          <a:solidFill>
                            <a:srgbClr val="14150F"/>
                          </a:solidFill>
                        </a:rPr>
                        <a:t>Stages, work items, appeal sub-process</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0">
                          <a:solidFill>
                            <a:srgbClr val="14150F"/>
                          </a:solidFill>
                        </a:rPr>
                        <a:t>Stages, work items, treatment sub-process</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0">
                          <a:solidFill>
                            <a:srgbClr val="14150F"/>
                          </a:solidFill>
                        </a:rPr>
                        <a:t>WorkflowComponent, WorkItem, WorkflowStage, SubProcess</a:t>
                      </a:r>
                    </a:p>
                  </a:txBody>
                  <a:tcPr anchor="ctr" marL="109728" marR="109728" marT="36576" marB="36576">
                    <a:lnL w="0">
                      <a:noFill/>
                    </a:lnL>
                    <a:lnR w="0">
                      <a:noFill/>
                    </a:lnR>
                    <a:lnT w="0">
                      <a:noFill/>
                    </a:lnT>
                    <a:lnB w="9525">
                      <a:solidFill>
                        <a:srgbClr val="DFDFCC"/>
                      </a:solidFill>
                    </a:lnB>
                    <a:solidFill>
                      <a:srgbClr val="F1F1E7"/>
                    </a:solidFill>
                  </a:tcPr>
                </a:tc>
              </a:tr>
              <a:tr h="685800">
                <a:tc>
                  <a:txBody>
                    <a:bodyPr wrap="square" lIns="0" rIns="0" tIns="0" bIns="0" anchor="ctr"/>
                    <a:lstStyle/>
                    <a:p>
                      <a:pPr>
                        <a:spcAft>
                          <a:spcPts val="0"/>
                        </a:spcAft>
                      </a:pPr>
                      <a:r>
                        <a:rPr sz="1300" b="1" i="0">
                          <a:solidFill>
                            <a:srgbClr val="14150F"/>
                          </a:solidFill>
                        </a:rPr>
                        <a:t>Assignment</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Role-based by department</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Workload-based by availability</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AssignmentStrategy and its concrete strategies</a:t>
                      </a:r>
                    </a:p>
                  </a:txBody>
                  <a:tcPr anchor="ctr" marL="109728" marR="109728" marT="36576" marB="36576">
                    <a:lnL w="0">
                      <a:noFill/>
                    </a:lnL>
                    <a:lnR w="0">
                      <a:noFill/>
                    </a:lnR>
                    <a:lnT w="0">
                      <a:noFill/>
                    </a:lnT>
                    <a:lnB w="9525">
                      <a:solidFill>
                        <a:srgbClr val="DFDFCC"/>
                      </a:solidFill>
                    </a:lnB>
                    <a:solidFill>
                      <a:srgbClr val="FFFFFF"/>
                    </a:solidFill>
                  </a:tcPr>
                </a:tc>
              </a:tr>
              <a:tr h="685800">
                <a:tc>
                  <a:txBody>
                    <a:bodyPr wrap="square" lIns="0" rIns="0" tIns="0" bIns="0" anchor="ctr"/>
                    <a:lstStyle/>
                    <a:p>
                      <a:pPr>
                        <a:spcAft>
                          <a:spcPts val="0"/>
                        </a:spcAft>
                      </a:pPr>
                      <a:r>
                        <a:rPr sz="1300" b="1" i="0">
                          <a:solidFill>
                            <a:srgbClr val="14150F"/>
                          </a:solidFill>
                        </a:rPr>
                        <a:t>Escalation chain</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0">
                          <a:solidFill>
                            <a:srgbClr val="14150F"/>
                          </a:solidFill>
                        </a:rPr>
                        <a:t>Staff, department head, faculty rep</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0">
                          <a:solidFill>
                            <a:srgbClr val="14150F"/>
                          </a:solidFill>
                        </a:rPr>
                        <a:t>Nurse, doctor, specialist</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0">
                          <a:solidFill>
                            <a:srgbClr val="14150F"/>
                          </a:solidFill>
                        </a:rPr>
                        <a:t>Handler, EscalationHandler, ApprovalHandler, FinalDecisionHandler</a:t>
                      </a:r>
                    </a:p>
                  </a:txBody>
                  <a:tcPr anchor="ctr" marL="109728" marR="109728" marT="36576" marB="36576">
                    <a:lnL w="0">
                      <a:noFill/>
                    </a:lnL>
                    <a:lnR w="0">
                      <a:noFill/>
                    </a:lnR>
                    <a:lnT w="0">
                      <a:noFill/>
                    </a:lnT>
                    <a:lnB w="9525">
                      <a:solidFill>
                        <a:srgbClr val="DFDFCC"/>
                      </a:solidFill>
                    </a:lnB>
                    <a:solidFill>
                      <a:srgbClr val="F1F1E7"/>
                    </a:solidFill>
                  </a:tcPr>
                </a:tc>
              </a:tr>
              <a:tr h="685800">
                <a:tc>
                  <a:txBody>
                    <a:bodyPr wrap="square" lIns="0" rIns="0" tIns="0" bIns="0" anchor="ctr"/>
                    <a:lstStyle/>
                    <a:p>
                      <a:pPr>
                        <a:spcAft>
                          <a:spcPts val="0"/>
                        </a:spcAft>
                      </a:pPr>
                      <a:r>
                        <a:rPr sz="1300" b="1" i="0">
                          <a:solidFill>
                            <a:srgbClr val="14150F"/>
                          </a:solidFill>
                        </a:rPr>
                        <a:t>Notifications</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Email to student and staff</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Alerts to ward and patient</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NotificationService, EmailAdapter</a:t>
                      </a:r>
                    </a:p>
                  </a:txBody>
                  <a:tcPr anchor="ctr" marL="109728" marR="109728" marT="36576" marB="36576">
                    <a:lnL w="0">
                      <a:noFill/>
                    </a:lnL>
                    <a:lnR w="0">
                      <a:noFill/>
                    </a:lnR>
                    <a:lnT w="0">
                      <a:noFill/>
                    </a:lnT>
                    <a:lnB w="9525">
                      <a:solidFill>
                        <a:srgbClr val="DFDFCC"/>
                      </a:solidFill>
                    </a:lnB>
                    <a:solidFill>
                      <a:srgbClr val="FFFFFF"/>
                    </a:solidFill>
                  </a:tcPr>
                </a:tc>
              </a:tr>
              <a:tr h="685800">
                <a:tc>
                  <a:txBody>
                    <a:bodyPr wrap="square" lIns="0" rIns="0" tIns="0" bIns="0" anchor="ctr"/>
                    <a:lstStyle/>
                    <a:p>
                      <a:pPr>
                        <a:spcAft>
                          <a:spcPts val="0"/>
                        </a:spcAft>
                      </a:pPr>
                      <a:r>
                        <a:rPr sz="1300" b="1" i="0">
                          <a:solidFill>
                            <a:srgbClr val="14150F"/>
                          </a:solidFill>
                        </a:rPr>
                        <a:t>Lifecycle &amp; history</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0">
                          <a:solidFill>
                            <a:srgbClr val="14150F"/>
                          </a:solidFill>
                        </a:rPr>
                        <a:t>Submitted to Resolved or Closed</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0">
                          <a:solidFill>
                            <a:srgbClr val="14150F"/>
                          </a:solidFill>
                        </a:rPr>
                        <a:t>Submitted to Resolved or Closed</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0">
                          <a:solidFill>
                            <a:srgbClr val="14150F"/>
                          </a:solidFill>
                        </a:rPr>
                        <a:t>WorkflowInstance, WorkflowState, observers, WorkflowHistory</a:t>
                      </a:r>
                    </a:p>
                  </a:txBody>
                  <a:tcPr anchor="ctr" marL="109728" marR="109728" marT="36576" marB="36576">
                    <a:lnL w="0">
                      <a:noFill/>
                    </a:lnL>
                    <a:lnR w="0">
                      <a:noFill/>
                    </a:lnR>
                    <a:lnT w="0">
                      <a:noFill/>
                    </a:lnT>
                    <a:lnB w="9525">
                      <a:solidFill>
                        <a:srgbClr val="DFDFCC"/>
                      </a:solidFill>
                    </a:lnB>
                    <a:solidFill>
                      <a:srgbClr val="F1F1E7"/>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Freeform 2"/>
          <p:cNvSpPr/>
          <p:nvPr/>
        </p:nvSpPr>
        <p:spPr>
          <a:xfrm flipV="1">
            <a:off x="0" y="-1"/>
            <a:ext cx="12192000" cy="6858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a:duotone>
                <a:prstClr val="black"/>
                <a:srgbClr val="FFFF00">
                  <a:tint val="45000"/>
                  <a:satMod val="400000"/>
                </a:srgbClr>
              </a:duotone>
            </a:blip>
            <a:stretch>
              <a:fillRect t="-1777" b="-1777"/>
            </a:stretch>
          </a:blipFill>
        </p:spPr>
        <p:txBody>
          <a:bodyPr/>
          <a:lstStyle/>
          <a:p>
            <a:endParaRPr lang="en-US" dirty="0"/>
          </a:p>
        </p:txBody>
      </p:sp>
      <p:sp>
        <p:nvSpPr>
          <p:cNvPr id="7" name="Freeform 7"/>
          <p:cNvSpPr/>
          <p:nvPr/>
        </p:nvSpPr>
        <p:spPr>
          <a:xfrm>
            <a:off x="893991" y="578875"/>
            <a:ext cx="705412" cy="961380"/>
          </a:xfrm>
          <a:custGeom>
            <a:avLst/>
            <a:gdLst/>
            <a:ahLst/>
            <a:cxnLst/>
            <a:rect l="l" t="t" r="r" b="b"/>
            <a:pathLst>
              <a:path w="1058118" h="1442069">
                <a:moveTo>
                  <a:pt x="0" y="0"/>
                </a:moveTo>
                <a:lnTo>
                  <a:pt x="1058118" y="0"/>
                </a:lnTo>
                <a:lnTo>
                  <a:pt x="1058118" y="1442070"/>
                </a:lnTo>
                <a:lnTo>
                  <a:pt x="0" y="1442070"/>
                </a:lnTo>
                <a:lnTo>
                  <a:pt x="0" y="0"/>
                </a:lnTo>
                <a:close/>
              </a:path>
            </a:pathLst>
          </a:custGeom>
          <a:blipFill>
            <a:blip r:embed="rId3"/>
            <a:stretch>
              <a:fillRect/>
            </a:stretch>
          </a:blipFill>
        </p:spPr>
        <p:txBody>
          <a:bodyPr/>
          <a:lstStyle/>
          <a:p>
            <a:endParaRPr lang="en-US"/>
          </a:p>
        </p:txBody>
      </p:sp>
      <p:sp>
        <p:nvSpPr>
          <p:cNvPr id="9" name="Freeform 8"/>
          <p:cNvSpPr/>
          <p:nvPr/>
        </p:nvSpPr>
        <p:spPr>
          <a:xfrm>
            <a:off x="10724588" y="578875"/>
            <a:ext cx="705412" cy="961380"/>
          </a:xfrm>
          <a:custGeom>
            <a:avLst/>
            <a:gdLst/>
            <a:ahLst/>
            <a:cxnLst/>
            <a:rect l="l" t="t" r="r" b="b"/>
            <a:pathLst>
              <a:path w="1058118" h="1442069">
                <a:moveTo>
                  <a:pt x="0" y="0"/>
                </a:moveTo>
                <a:lnTo>
                  <a:pt x="1058118" y="0"/>
                </a:lnTo>
                <a:lnTo>
                  <a:pt x="1058118" y="1442070"/>
                </a:lnTo>
                <a:lnTo>
                  <a:pt x="0" y="1442070"/>
                </a:lnTo>
                <a:lnTo>
                  <a:pt x="0" y="0"/>
                </a:lnTo>
                <a:close/>
              </a:path>
            </a:pathLst>
          </a:custGeom>
          <a:blipFill>
            <a:blip r:embed="rId3"/>
            <a:stretch>
              <a:fillRect/>
            </a:stretch>
          </a:blipFill>
        </p:spPr>
        <p:txBody>
          <a:bodyPr/>
          <a:lstStyle/>
          <a:p>
            <a:endParaRPr lang="en-US"/>
          </a:p>
        </p:txBody>
      </p:sp>
      <p:sp>
        <p:nvSpPr>
          <p:cNvPr id="2" name="Title 1"/>
          <p:cNvSpPr>
            <a:spLocks noGrp="1"/>
          </p:cNvSpPr>
          <p:nvPr>
            <p:ph type="ctrTitle"/>
          </p:nvPr>
        </p:nvSpPr>
        <p:spPr>
          <a:xfrm>
            <a:off x="1280160" y="2651760"/>
            <a:ext cx="9628632" cy="1417320"/>
          </a:xfrm>
        </p:spPr>
        <p:txBody>
          <a:bodyPr anchor="t"/>
          <a:lstStyle/>
          <a:p>
            <a:r>
              <a:rPr sz="5400" b="1">
                <a:solidFill>
                  <a:schemeClr val="bg1"/>
                </a:solidFill>
              </a:rPr>
              <a:t>Live Demonstration</a:t>
            </a:r>
          </a:p>
        </p:txBody>
      </p:sp>
      <p:sp>
        <p:nvSpPr>
          <p:cNvPr id="3" name="Subtitle 2"/>
          <p:cNvSpPr>
            <a:spLocks noGrp="1"/>
          </p:cNvSpPr>
          <p:nvPr>
            <p:ph type="subTitle" idx="1"/>
          </p:nvPr>
        </p:nvSpPr>
        <p:spPr>
          <a:xfrm>
            <a:off x="1280160" y="4251960"/>
            <a:ext cx="9628632" cy="822960"/>
          </a:xfrm>
        </p:spPr>
        <p:txBody>
          <a:bodyPr/>
          <a:lstStyle/>
          <a:p>
            <a:r>
              <a:rPr sz="2000">
                <a:solidFill>
                  <a:srgbClr val="DDDDCB"/>
                </a:solidFill>
              </a:rPr>
              <a:t>Interactive C++11 text interface running both industries</a:t>
            </a:r>
          </a:p>
        </p:txBody>
      </p:sp>
      <p:sp>
        <p:nvSpPr>
          <p:cNvPr id="10" name="Section number"/>
          <p:cNvSpPr txBox="1"/>
          <p:nvPr/>
        </p:nvSpPr>
        <p:spPr>
          <a:xfrm>
            <a:off x="1280160" y="2148840"/>
            <a:ext cx="9628632" cy="457200"/>
          </a:xfrm>
          <a:prstGeom prst="rect">
            <a:avLst/>
          </a:prstGeom>
          <a:noFill/>
        </p:spPr>
        <p:txBody>
          <a:bodyPr wrap="square" lIns="0" rIns="0" tIns="0" bIns="0" anchor="t">
            <a:spAutoFit/>
          </a:bodyPr>
          <a:lstStyle/>
          <a:p>
            <a:pPr algn="ctr">
              <a:spcAft>
                <a:spcPts val="400"/>
              </a:spcAft>
            </a:pPr>
            <a:r>
              <a:rPr sz="2000" b="1" i="0" spc="400">
                <a:solidFill>
                  <a:srgbClr val="CACA98"/>
                </a:solidFill>
              </a:rPr>
              <a:t>03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run-through</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03 · LIVE DEMONSTRATION</a:t>
            </a:r>
          </a:p>
        </p:txBody>
      </p:sp>
      <p:sp>
        <p:nvSpPr>
          <p:cNvPr id="4" name="Tag"/>
          <p:cNvSpPr/>
          <p:nvPr/>
        </p:nvSpPr>
        <p:spPr>
          <a:xfrm>
            <a:off x="548640" y="1572768"/>
            <a:ext cx="3657600" cy="329184"/>
          </a:xfrm>
          <a:prstGeom prst="roundRect">
            <a:avLst>
              <a:gd name="adj" fmla="val 50000"/>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200" b="1" i="0">
                <a:solidFill>
                  <a:srgbClr val="FFFFFF"/>
                </a:solidFill>
              </a:rPr>
              <a:t>INDUSTRY 1: UNIVERSITY COMPLAINT</a:t>
            </a:r>
          </a:p>
        </p:txBody>
      </p:sp>
      <p:sp>
        <p:nvSpPr>
          <p:cNvPr id="5" name="Demo step"/>
          <p:cNvSpPr/>
          <p:nvPr/>
        </p:nvSpPr>
        <p:spPr>
          <a:xfrm>
            <a:off x="548640" y="2057400"/>
            <a:ext cx="5454396" cy="512064"/>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ep number"/>
          <p:cNvSpPr/>
          <p:nvPr/>
        </p:nvSpPr>
        <p:spPr>
          <a:xfrm>
            <a:off x="658368" y="2139696"/>
            <a:ext cx="347472" cy="347472"/>
          </a:xfrm>
          <a:prstGeom prst="ellipse">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50F"/>
                </a:solidFill>
              </a:rPr>
              <a:t>1</a:t>
            </a:r>
          </a:p>
        </p:txBody>
      </p:sp>
      <p:sp>
        <p:nvSpPr>
          <p:cNvPr id="7" name="Demo text"/>
          <p:cNvSpPr txBox="1"/>
          <p:nvPr/>
        </p:nvSpPr>
        <p:spPr>
          <a:xfrm>
            <a:off x="1143000" y="2093976"/>
            <a:ext cx="4754880" cy="438912"/>
          </a:xfrm>
          <a:prstGeom prst="rect">
            <a:avLst/>
          </a:prstGeom>
          <a:noFill/>
        </p:spPr>
        <p:txBody>
          <a:bodyPr wrap="square" lIns="0" rIns="0" tIns="0" bIns="0" anchor="ctr">
            <a:spAutoFit/>
          </a:bodyPr>
          <a:lstStyle/>
          <a:p>
            <a:pPr>
              <a:spcAft>
                <a:spcPts val="0"/>
              </a:spcAft>
            </a:pPr>
            <a:r>
              <a:rPr sz="1400" b="0" i="0">
                <a:solidFill>
                  <a:srgbClr val="14150F"/>
                </a:solidFill>
              </a:rPr>
              <a:t>Start an independent complaint instance</a:t>
            </a:r>
          </a:p>
        </p:txBody>
      </p:sp>
      <p:sp>
        <p:nvSpPr>
          <p:cNvPr id="8" name="Demo step"/>
          <p:cNvSpPr/>
          <p:nvPr/>
        </p:nvSpPr>
        <p:spPr>
          <a:xfrm>
            <a:off x="548640" y="2642616"/>
            <a:ext cx="5454396" cy="512064"/>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ep number"/>
          <p:cNvSpPr/>
          <p:nvPr/>
        </p:nvSpPr>
        <p:spPr>
          <a:xfrm>
            <a:off x="658368" y="2724912"/>
            <a:ext cx="347472" cy="347472"/>
          </a:xfrm>
          <a:prstGeom prst="ellipse">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50F"/>
                </a:solidFill>
              </a:rPr>
              <a:t>2</a:t>
            </a:r>
          </a:p>
        </p:txBody>
      </p:sp>
      <p:sp>
        <p:nvSpPr>
          <p:cNvPr id="10" name="Demo text"/>
          <p:cNvSpPr txBox="1"/>
          <p:nvPr/>
        </p:nvSpPr>
        <p:spPr>
          <a:xfrm>
            <a:off x="1143000" y="2679192"/>
            <a:ext cx="4754880" cy="438912"/>
          </a:xfrm>
          <a:prstGeom prst="rect">
            <a:avLst/>
          </a:prstGeom>
          <a:noFill/>
        </p:spPr>
        <p:txBody>
          <a:bodyPr wrap="square" lIns="0" rIns="0" tIns="0" bIns="0" anchor="ctr">
            <a:spAutoFit/>
          </a:bodyPr>
          <a:lstStyle/>
          <a:p>
            <a:pPr>
              <a:spcAft>
                <a:spcPts val="0"/>
              </a:spcAft>
            </a:pPr>
            <a:r>
              <a:rPr sz="1400" b="0" i="0">
                <a:solidFill>
                  <a:srgbClr val="14150F"/>
                </a:solidFill>
              </a:rPr>
              <a:t>Inspect available work and assignments</a:t>
            </a:r>
          </a:p>
        </p:txBody>
      </p:sp>
      <p:sp>
        <p:nvSpPr>
          <p:cNvPr id="11" name="Demo step"/>
          <p:cNvSpPr/>
          <p:nvPr/>
        </p:nvSpPr>
        <p:spPr>
          <a:xfrm>
            <a:off x="548640" y="3227832"/>
            <a:ext cx="5454396" cy="512064"/>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ep number"/>
          <p:cNvSpPr/>
          <p:nvPr/>
        </p:nvSpPr>
        <p:spPr>
          <a:xfrm>
            <a:off x="658368" y="3310128"/>
            <a:ext cx="347472" cy="347472"/>
          </a:xfrm>
          <a:prstGeom prst="ellipse">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50F"/>
                </a:solidFill>
              </a:rPr>
              <a:t>3</a:t>
            </a:r>
          </a:p>
        </p:txBody>
      </p:sp>
      <p:sp>
        <p:nvSpPr>
          <p:cNvPr id="13" name="Demo text"/>
          <p:cNvSpPr txBox="1"/>
          <p:nvPr/>
        </p:nvSpPr>
        <p:spPr>
          <a:xfrm>
            <a:off x="1143000" y="3264408"/>
            <a:ext cx="4754880" cy="438912"/>
          </a:xfrm>
          <a:prstGeom prst="rect">
            <a:avLst/>
          </a:prstGeom>
          <a:noFill/>
        </p:spPr>
        <p:txBody>
          <a:bodyPr wrap="square" lIns="0" rIns="0" tIns="0" bIns="0" anchor="ctr">
            <a:spAutoFit/>
          </a:bodyPr>
          <a:lstStyle/>
          <a:p>
            <a:pPr>
              <a:spcAft>
                <a:spcPts val="0"/>
              </a:spcAft>
            </a:pPr>
            <a:r>
              <a:rPr sz="1400" b="0" i="0">
                <a:solidFill>
                  <a:srgbClr val="14150F"/>
                </a:solidFill>
              </a:rPr>
              <a:t>Administrator reviews, classifies and routes</a:t>
            </a:r>
          </a:p>
        </p:txBody>
      </p:sp>
      <p:sp>
        <p:nvSpPr>
          <p:cNvPr id="14" name="Demo step"/>
          <p:cNvSpPr/>
          <p:nvPr/>
        </p:nvSpPr>
        <p:spPr>
          <a:xfrm>
            <a:off x="548640" y="3813048"/>
            <a:ext cx="5454396" cy="512064"/>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number"/>
          <p:cNvSpPr/>
          <p:nvPr/>
        </p:nvSpPr>
        <p:spPr>
          <a:xfrm>
            <a:off x="658368" y="3895344"/>
            <a:ext cx="347472" cy="347472"/>
          </a:xfrm>
          <a:prstGeom prst="ellipse">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50F"/>
                </a:solidFill>
              </a:rPr>
              <a:t>4</a:t>
            </a:r>
          </a:p>
        </p:txBody>
      </p:sp>
      <p:sp>
        <p:nvSpPr>
          <p:cNvPr id="16" name="Demo text"/>
          <p:cNvSpPr txBox="1"/>
          <p:nvPr/>
        </p:nvSpPr>
        <p:spPr>
          <a:xfrm>
            <a:off x="1143000" y="3849624"/>
            <a:ext cx="4754880" cy="438912"/>
          </a:xfrm>
          <a:prstGeom prst="rect">
            <a:avLst/>
          </a:prstGeom>
          <a:noFill/>
        </p:spPr>
        <p:txBody>
          <a:bodyPr wrap="square" lIns="0" rIns="0" tIns="0" bIns="0" anchor="ctr">
            <a:spAutoFit/>
          </a:bodyPr>
          <a:lstStyle/>
          <a:p>
            <a:pPr>
              <a:spcAft>
                <a:spcPts val="0"/>
              </a:spcAft>
            </a:pPr>
            <a:r>
              <a:rPr sz="1400" b="0" i="0">
                <a:solidFill>
                  <a:srgbClr val="14150F"/>
                </a:solidFill>
              </a:rPr>
              <a:t>Staff cannot resolve: escalate up the chain</a:t>
            </a:r>
          </a:p>
        </p:txBody>
      </p:sp>
      <p:sp>
        <p:nvSpPr>
          <p:cNvPr id="17" name="Demo step"/>
          <p:cNvSpPr/>
          <p:nvPr/>
        </p:nvSpPr>
        <p:spPr>
          <a:xfrm>
            <a:off x="548640" y="4398264"/>
            <a:ext cx="5454396" cy="512064"/>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ep number"/>
          <p:cNvSpPr/>
          <p:nvPr/>
        </p:nvSpPr>
        <p:spPr>
          <a:xfrm>
            <a:off x="658368" y="4480560"/>
            <a:ext cx="347472" cy="347472"/>
          </a:xfrm>
          <a:prstGeom prst="ellipse">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50F"/>
                </a:solidFill>
              </a:rPr>
              <a:t>5</a:t>
            </a:r>
          </a:p>
        </p:txBody>
      </p:sp>
      <p:sp>
        <p:nvSpPr>
          <p:cNvPr id="19" name="Demo text"/>
          <p:cNvSpPr txBox="1"/>
          <p:nvPr/>
        </p:nvSpPr>
        <p:spPr>
          <a:xfrm>
            <a:off x="1143000" y="4434840"/>
            <a:ext cx="4754880" cy="438912"/>
          </a:xfrm>
          <a:prstGeom prst="rect">
            <a:avLst/>
          </a:prstGeom>
          <a:noFill/>
        </p:spPr>
        <p:txBody>
          <a:bodyPr wrap="square" lIns="0" rIns="0" tIns="0" bIns="0" anchor="ctr">
            <a:spAutoFit/>
          </a:bodyPr>
          <a:lstStyle/>
          <a:p>
            <a:pPr>
              <a:spcAft>
                <a:spcPts val="0"/>
              </a:spcAft>
            </a:pPr>
            <a:r>
              <a:rPr sz="1400" b="0" i="0">
                <a:solidFill>
                  <a:srgbClr val="14150F"/>
                </a:solidFill>
              </a:rPr>
              <a:t>Student accepts (Resolved) or appeals</a:t>
            </a:r>
          </a:p>
        </p:txBody>
      </p:sp>
      <p:sp>
        <p:nvSpPr>
          <p:cNvPr id="20" name="Demo step"/>
          <p:cNvSpPr/>
          <p:nvPr/>
        </p:nvSpPr>
        <p:spPr>
          <a:xfrm>
            <a:off x="548640" y="4983480"/>
            <a:ext cx="5454396" cy="512064"/>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tep number"/>
          <p:cNvSpPr/>
          <p:nvPr/>
        </p:nvSpPr>
        <p:spPr>
          <a:xfrm>
            <a:off x="658368" y="5065776"/>
            <a:ext cx="347472" cy="347472"/>
          </a:xfrm>
          <a:prstGeom prst="ellipse">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50F"/>
                </a:solidFill>
              </a:rPr>
              <a:t>6</a:t>
            </a:r>
          </a:p>
        </p:txBody>
      </p:sp>
      <p:sp>
        <p:nvSpPr>
          <p:cNvPr id="22" name="Demo text"/>
          <p:cNvSpPr txBox="1"/>
          <p:nvPr/>
        </p:nvSpPr>
        <p:spPr>
          <a:xfrm>
            <a:off x="1143000" y="5020056"/>
            <a:ext cx="4754880" cy="438912"/>
          </a:xfrm>
          <a:prstGeom prst="rect">
            <a:avLst/>
          </a:prstGeom>
          <a:noFill/>
        </p:spPr>
        <p:txBody>
          <a:bodyPr wrap="square" lIns="0" rIns="0" tIns="0" bIns="0" anchor="ctr">
            <a:spAutoFit/>
          </a:bodyPr>
          <a:lstStyle/>
          <a:p>
            <a:pPr>
              <a:spcAft>
                <a:spcPts val="0"/>
              </a:spcAft>
            </a:pPr>
            <a:r>
              <a:rPr sz="1400" b="0" i="0">
                <a:solidFill>
                  <a:srgbClr val="14150F"/>
                </a:solidFill>
              </a:rPr>
              <a:t>View state changes and history</a:t>
            </a:r>
          </a:p>
        </p:txBody>
      </p:sp>
      <p:sp>
        <p:nvSpPr>
          <p:cNvPr id="23" name="Tag"/>
          <p:cNvSpPr/>
          <p:nvPr/>
        </p:nvSpPr>
        <p:spPr>
          <a:xfrm>
            <a:off x="6185916" y="1572768"/>
            <a:ext cx="3657600" cy="329184"/>
          </a:xfrm>
          <a:prstGeom prst="roundRect">
            <a:avLst>
              <a:gd name="adj" fmla="val 50000"/>
            </a:avLst>
          </a:prstGeom>
          <a:solidFill>
            <a:srgbClr val="5E5E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200" b="1" i="0">
                <a:solidFill>
                  <a:srgbClr val="FFFFFF"/>
                </a:solidFill>
              </a:rPr>
              <a:t>INDUSTRY 2: HOSPITAL ADMISSION</a:t>
            </a:r>
          </a:p>
        </p:txBody>
      </p:sp>
      <p:sp>
        <p:nvSpPr>
          <p:cNvPr id="24" name="Demo step"/>
          <p:cNvSpPr/>
          <p:nvPr/>
        </p:nvSpPr>
        <p:spPr>
          <a:xfrm>
            <a:off x="6185916" y="2057400"/>
            <a:ext cx="5454396" cy="512064"/>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tep number"/>
          <p:cNvSpPr/>
          <p:nvPr/>
        </p:nvSpPr>
        <p:spPr>
          <a:xfrm>
            <a:off x="6295644" y="2139696"/>
            <a:ext cx="347472" cy="347472"/>
          </a:xfrm>
          <a:prstGeom prst="ellipse">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50F"/>
                </a:solidFill>
              </a:rPr>
              <a:t>1</a:t>
            </a:r>
          </a:p>
        </p:txBody>
      </p:sp>
      <p:sp>
        <p:nvSpPr>
          <p:cNvPr id="26" name="Demo text"/>
          <p:cNvSpPr txBox="1"/>
          <p:nvPr/>
        </p:nvSpPr>
        <p:spPr>
          <a:xfrm>
            <a:off x="6780276" y="2093976"/>
            <a:ext cx="4754880" cy="438912"/>
          </a:xfrm>
          <a:prstGeom prst="rect">
            <a:avLst/>
          </a:prstGeom>
          <a:noFill/>
        </p:spPr>
        <p:txBody>
          <a:bodyPr wrap="square" lIns="0" rIns="0" tIns="0" bIns="0" anchor="ctr">
            <a:spAutoFit/>
          </a:bodyPr>
          <a:lstStyle/>
          <a:p>
            <a:pPr>
              <a:spcAft>
                <a:spcPts val="0"/>
              </a:spcAft>
            </a:pPr>
            <a:r>
              <a:rPr sz="1400" b="0" i="0">
                <a:solidFill>
                  <a:srgbClr val="14150F"/>
                </a:solidFill>
              </a:rPr>
              <a:t>Register a patient and start an instance</a:t>
            </a:r>
          </a:p>
        </p:txBody>
      </p:sp>
      <p:sp>
        <p:nvSpPr>
          <p:cNvPr id="27" name="Demo step"/>
          <p:cNvSpPr/>
          <p:nvPr/>
        </p:nvSpPr>
        <p:spPr>
          <a:xfrm>
            <a:off x="6185916" y="2642616"/>
            <a:ext cx="5454396" cy="512064"/>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tep number"/>
          <p:cNvSpPr/>
          <p:nvPr/>
        </p:nvSpPr>
        <p:spPr>
          <a:xfrm>
            <a:off x="6295644" y="2724912"/>
            <a:ext cx="347472" cy="347472"/>
          </a:xfrm>
          <a:prstGeom prst="ellipse">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50F"/>
                </a:solidFill>
              </a:rPr>
              <a:t>2</a:t>
            </a:r>
          </a:p>
        </p:txBody>
      </p:sp>
      <p:sp>
        <p:nvSpPr>
          <p:cNvPr id="29" name="Demo text"/>
          <p:cNvSpPr txBox="1"/>
          <p:nvPr/>
        </p:nvSpPr>
        <p:spPr>
          <a:xfrm>
            <a:off x="6780276" y="2679192"/>
            <a:ext cx="4754880" cy="438912"/>
          </a:xfrm>
          <a:prstGeom prst="rect">
            <a:avLst/>
          </a:prstGeom>
          <a:noFill/>
        </p:spPr>
        <p:txBody>
          <a:bodyPr wrap="square" lIns="0" rIns="0" tIns="0" bIns="0" anchor="ctr">
            <a:spAutoFit/>
          </a:bodyPr>
          <a:lstStyle/>
          <a:p>
            <a:pPr>
              <a:spcAft>
                <a:spcPts val="0"/>
              </a:spcAft>
            </a:pPr>
            <a:r>
              <a:rPr sz="1400" b="0" i="0">
                <a:solidFill>
                  <a:srgbClr val="14150F"/>
                </a:solidFill>
              </a:rPr>
              <a:t>Triage and mark urgent cases as priority</a:t>
            </a:r>
          </a:p>
        </p:txBody>
      </p:sp>
      <p:sp>
        <p:nvSpPr>
          <p:cNvPr id="30" name="Demo step"/>
          <p:cNvSpPr/>
          <p:nvPr/>
        </p:nvSpPr>
        <p:spPr>
          <a:xfrm>
            <a:off x="6185916" y="3227832"/>
            <a:ext cx="5454396" cy="512064"/>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tep number"/>
          <p:cNvSpPr/>
          <p:nvPr/>
        </p:nvSpPr>
        <p:spPr>
          <a:xfrm>
            <a:off x="6295644" y="3310128"/>
            <a:ext cx="347472" cy="347472"/>
          </a:xfrm>
          <a:prstGeom prst="ellipse">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50F"/>
                </a:solidFill>
              </a:rPr>
              <a:t>3</a:t>
            </a:r>
          </a:p>
        </p:txBody>
      </p:sp>
      <p:sp>
        <p:nvSpPr>
          <p:cNvPr id="32" name="Demo text"/>
          <p:cNvSpPr txBox="1"/>
          <p:nvPr/>
        </p:nvSpPr>
        <p:spPr>
          <a:xfrm>
            <a:off x="6780276" y="3264408"/>
            <a:ext cx="4754880" cy="438912"/>
          </a:xfrm>
          <a:prstGeom prst="rect">
            <a:avLst/>
          </a:prstGeom>
          <a:noFill/>
        </p:spPr>
        <p:txBody>
          <a:bodyPr wrap="square" lIns="0" rIns="0" tIns="0" bIns="0" anchor="ctr">
            <a:spAutoFit/>
          </a:bodyPr>
          <a:lstStyle/>
          <a:p>
            <a:pPr>
              <a:spcAft>
                <a:spcPts val="0"/>
              </a:spcAft>
            </a:pPr>
            <a:r>
              <a:rPr sz="1400" b="0" i="0">
                <a:solidFill>
                  <a:srgbClr val="14150F"/>
                </a:solidFill>
              </a:rPr>
              <a:t>Admit and assign a doctor and bed</a:t>
            </a:r>
          </a:p>
        </p:txBody>
      </p:sp>
      <p:sp>
        <p:nvSpPr>
          <p:cNvPr id="33" name="Demo step"/>
          <p:cNvSpPr/>
          <p:nvPr/>
        </p:nvSpPr>
        <p:spPr>
          <a:xfrm>
            <a:off x="6185916" y="3813048"/>
            <a:ext cx="5454396" cy="512064"/>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ep number"/>
          <p:cNvSpPr/>
          <p:nvPr/>
        </p:nvSpPr>
        <p:spPr>
          <a:xfrm>
            <a:off x="6295644" y="3895344"/>
            <a:ext cx="347472" cy="347472"/>
          </a:xfrm>
          <a:prstGeom prst="ellipse">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50F"/>
                </a:solidFill>
              </a:rPr>
              <a:t>4</a:t>
            </a:r>
          </a:p>
        </p:txBody>
      </p:sp>
      <p:sp>
        <p:nvSpPr>
          <p:cNvPr id="35" name="Demo text"/>
          <p:cNvSpPr txBox="1"/>
          <p:nvPr/>
        </p:nvSpPr>
        <p:spPr>
          <a:xfrm>
            <a:off x="6780276" y="3849624"/>
            <a:ext cx="4754880" cy="438912"/>
          </a:xfrm>
          <a:prstGeom prst="rect">
            <a:avLst/>
          </a:prstGeom>
          <a:noFill/>
        </p:spPr>
        <p:txBody>
          <a:bodyPr wrap="square" lIns="0" rIns="0" tIns="0" bIns="0" anchor="ctr">
            <a:spAutoFit/>
          </a:bodyPr>
          <a:lstStyle/>
          <a:p>
            <a:pPr>
              <a:spcAft>
                <a:spcPts val="0"/>
              </a:spcAft>
            </a:pPr>
            <a:r>
              <a:rPr sz="1400" b="0" i="0">
                <a:solidFill>
                  <a:srgbClr val="14150F"/>
                </a:solidFill>
              </a:rPr>
              <a:t>Complication: escalate to the specialist</a:t>
            </a:r>
          </a:p>
        </p:txBody>
      </p:sp>
      <p:sp>
        <p:nvSpPr>
          <p:cNvPr id="36" name="Demo step"/>
          <p:cNvSpPr/>
          <p:nvPr/>
        </p:nvSpPr>
        <p:spPr>
          <a:xfrm>
            <a:off x="6185916" y="4398264"/>
            <a:ext cx="5454396" cy="512064"/>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ep number"/>
          <p:cNvSpPr/>
          <p:nvPr/>
        </p:nvSpPr>
        <p:spPr>
          <a:xfrm>
            <a:off x="6295644" y="4480560"/>
            <a:ext cx="347472" cy="347472"/>
          </a:xfrm>
          <a:prstGeom prst="ellipse">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50F"/>
                </a:solidFill>
              </a:rPr>
              <a:t>5</a:t>
            </a:r>
          </a:p>
        </p:txBody>
      </p:sp>
      <p:sp>
        <p:nvSpPr>
          <p:cNvPr id="38" name="Demo text"/>
          <p:cNvSpPr txBox="1"/>
          <p:nvPr/>
        </p:nvSpPr>
        <p:spPr>
          <a:xfrm>
            <a:off x="6780276" y="4434840"/>
            <a:ext cx="4754880" cy="438912"/>
          </a:xfrm>
          <a:prstGeom prst="rect">
            <a:avLst/>
          </a:prstGeom>
          <a:noFill/>
        </p:spPr>
        <p:txBody>
          <a:bodyPr wrap="square" lIns="0" rIns="0" tIns="0" bIns="0" anchor="ctr">
            <a:spAutoFit/>
          </a:bodyPr>
          <a:lstStyle/>
          <a:p>
            <a:pPr>
              <a:spcAft>
                <a:spcPts val="0"/>
              </a:spcAft>
            </a:pPr>
            <a:r>
              <a:rPr sz="1400" b="0" i="0">
                <a:solidFill>
                  <a:srgbClr val="14150F"/>
                </a:solidFill>
              </a:rPr>
              <a:t>Discharge (Resolved) or close the case</a:t>
            </a:r>
          </a:p>
        </p:txBody>
      </p:sp>
      <p:sp>
        <p:nvSpPr>
          <p:cNvPr id="39" name="Demo step"/>
          <p:cNvSpPr/>
          <p:nvPr/>
        </p:nvSpPr>
        <p:spPr>
          <a:xfrm>
            <a:off x="6185916" y="4983480"/>
            <a:ext cx="5454396" cy="512064"/>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tep number"/>
          <p:cNvSpPr/>
          <p:nvPr/>
        </p:nvSpPr>
        <p:spPr>
          <a:xfrm>
            <a:off x="6295644" y="5065776"/>
            <a:ext cx="347472" cy="347472"/>
          </a:xfrm>
          <a:prstGeom prst="ellipse">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50F"/>
                </a:solidFill>
              </a:rPr>
              <a:t>6</a:t>
            </a:r>
          </a:p>
        </p:txBody>
      </p:sp>
      <p:sp>
        <p:nvSpPr>
          <p:cNvPr id="41" name="Demo text"/>
          <p:cNvSpPr txBox="1"/>
          <p:nvPr/>
        </p:nvSpPr>
        <p:spPr>
          <a:xfrm>
            <a:off x="6780276" y="5020056"/>
            <a:ext cx="4754880" cy="438912"/>
          </a:xfrm>
          <a:prstGeom prst="rect">
            <a:avLst/>
          </a:prstGeom>
          <a:noFill/>
        </p:spPr>
        <p:txBody>
          <a:bodyPr wrap="square" lIns="0" rIns="0" tIns="0" bIns="0" anchor="ctr">
            <a:spAutoFit/>
          </a:bodyPr>
          <a:lstStyle/>
          <a:p>
            <a:pPr>
              <a:spcAft>
                <a:spcPts val="0"/>
              </a:spcAft>
            </a:pPr>
            <a:r>
              <a:rPr sz="1400" b="0" i="0">
                <a:solidFill>
                  <a:srgbClr val="14150F"/>
                </a:solidFill>
              </a:rPr>
              <a:t>View state changes and history</a:t>
            </a:r>
          </a:p>
        </p:txBody>
      </p:sp>
      <p:sp>
        <p:nvSpPr>
          <p:cNvPr id="42" name="Demo reminder"/>
          <p:cNvSpPr/>
          <p:nvPr/>
        </p:nvSpPr>
        <p:spPr>
          <a:xfrm>
            <a:off x="548640" y="5669280"/>
            <a:ext cx="11091672" cy="502920"/>
          </a:xfrm>
          <a:prstGeom prst="roundRect">
            <a:avLst>
              <a:gd name="adj" fmla="val 5000"/>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0"/>
              </a:spcAft>
            </a:pPr>
            <a:r>
              <a:rPr sz="1400" b="1" i="0">
                <a:solidFill>
                  <a:srgbClr val="CACA98"/>
                </a:solidFill>
              </a:rPr>
              <a:t>In both runs: </a:t>
            </a:r>
            <a:r>
              <a:rPr sz="1400" b="0" i="0">
                <a:solidFill>
                  <a:srgbClr val="FFFFFF"/>
                </a:solidFill>
              </a:rPr>
              <a:t>include one invalid action (rejected by the current state) and be ready for unscripted interactions.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interactive TUI</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03 · LIVE DEMONSTRATION</a:t>
            </a:r>
          </a:p>
        </p:txBody>
      </p:sp>
      <p:sp>
        <p:nvSpPr>
          <p:cNvPr id="4" name="Image placeholder"/>
          <p:cNvSpPr/>
          <p:nvPr/>
        </p:nvSpPr>
        <p:spPr>
          <a:xfrm>
            <a:off x="548640" y="1572768"/>
            <a:ext cx="5454396" cy="3840480"/>
          </a:xfrm>
          <a:prstGeom prst="roundRect">
            <a:avLst>
              <a:gd name="adj" fmla="val 2000"/>
            </a:avLst>
          </a:prstGeom>
          <a:solidFill>
            <a:srgbClr val="F7F7F2"/>
          </a:solidFill>
          <a:ln w="19050">
            <a:solidFill>
              <a:srgbClr val="5E5E3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ctr">
              <a:spcAft>
                <a:spcPts val="600"/>
              </a:spcAft>
            </a:pPr>
            <a:r>
              <a:rPr sz="2200" b="1" i="0">
                <a:solidFill>
                  <a:srgbClr val="5E5E38"/>
                </a:solidFill>
              </a:rPr>
              <a:t>Insert image here</a:t>
            </a:r>
          </a:p>
          <a:p>
            <a:pPr algn="ctr">
              <a:spcAft>
                <a:spcPts val="0"/>
              </a:spcAft>
            </a:pPr>
            <a:r>
              <a:rPr sz="1400" b="0" i="0">
                <a:solidFill>
                  <a:srgbClr val="66665A"/>
                </a:solidFill>
              </a:rPr>
              <a:t>TUI screenshot: University complaint run</a:t>
            </a:r>
          </a:p>
        </p:txBody>
      </p:sp>
      <p:sp>
        <p:nvSpPr>
          <p:cNvPr id="5" name="Caption"/>
          <p:cNvSpPr txBox="1"/>
          <p:nvPr/>
        </p:nvSpPr>
        <p:spPr>
          <a:xfrm>
            <a:off x="548640" y="5532120"/>
            <a:ext cx="5454396" cy="548640"/>
          </a:xfrm>
          <a:prstGeom prst="rect">
            <a:avLst/>
          </a:prstGeom>
          <a:noFill/>
        </p:spPr>
        <p:txBody>
          <a:bodyPr wrap="square" lIns="0" rIns="0" tIns="0" bIns="0" anchor="t">
            <a:spAutoFit/>
          </a:bodyPr>
          <a:lstStyle/>
          <a:p>
            <a:pPr>
              <a:spcAft>
                <a:spcPts val="0"/>
              </a:spcAft>
            </a:pPr>
            <a:r>
              <a:rPr sz="1400" b="0" i="0">
                <a:solidFill>
                  <a:srgbClr val="66665A"/>
                </a:solidFill>
              </a:rPr>
              <a:t>Available work, state change and history</a:t>
            </a:r>
          </a:p>
        </p:txBody>
      </p:sp>
      <p:sp>
        <p:nvSpPr>
          <p:cNvPr id="6" name="Image placeholder"/>
          <p:cNvSpPr/>
          <p:nvPr/>
        </p:nvSpPr>
        <p:spPr>
          <a:xfrm>
            <a:off x="6185916" y="1572768"/>
            <a:ext cx="5454396" cy="3840480"/>
          </a:xfrm>
          <a:prstGeom prst="roundRect">
            <a:avLst>
              <a:gd name="adj" fmla="val 2000"/>
            </a:avLst>
          </a:prstGeom>
          <a:solidFill>
            <a:srgbClr val="F7F7F2"/>
          </a:solidFill>
          <a:ln w="19050">
            <a:solidFill>
              <a:srgbClr val="5E5E3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ctr">
              <a:spcAft>
                <a:spcPts val="600"/>
              </a:spcAft>
            </a:pPr>
            <a:r>
              <a:rPr sz="2200" b="1" i="0">
                <a:solidFill>
                  <a:srgbClr val="5E5E38"/>
                </a:solidFill>
              </a:rPr>
              <a:t>Insert image here</a:t>
            </a:r>
          </a:p>
          <a:p>
            <a:pPr algn="ctr">
              <a:spcAft>
                <a:spcPts val="0"/>
              </a:spcAft>
            </a:pPr>
            <a:r>
              <a:rPr sz="1400" b="0" i="0">
                <a:solidFill>
                  <a:srgbClr val="66665A"/>
                </a:solidFill>
              </a:rPr>
              <a:t>TUI screenshot: Hospital admission run</a:t>
            </a:r>
          </a:p>
        </p:txBody>
      </p:sp>
      <p:sp>
        <p:nvSpPr>
          <p:cNvPr id="7" name="Caption"/>
          <p:cNvSpPr txBox="1"/>
          <p:nvPr/>
        </p:nvSpPr>
        <p:spPr>
          <a:xfrm>
            <a:off x="6185916" y="5532120"/>
            <a:ext cx="5454396" cy="548640"/>
          </a:xfrm>
          <a:prstGeom prst="rect">
            <a:avLst/>
          </a:prstGeom>
          <a:noFill/>
        </p:spPr>
        <p:txBody>
          <a:bodyPr wrap="square" lIns="0" rIns="0" tIns="0" bIns="0" anchor="t">
            <a:spAutoFit/>
          </a:bodyPr>
          <a:lstStyle/>
          <a:p>
            <a:pPr>
              <a:spcAft>
                <a:spcPts val="0"/>
              </a:spcAft>
            </a:pPr>
            <a:r>
              <a:rPr sz="1400" b="0" i="0">
                <a:solidFill>
                  <a:srgbClr val="66665A"/>
                </a:solidFill>
              </a:rPr>
              <a:t>Same engine, different definition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Freeform 2"/>
          <p:cNvSpPr/>
          <p:nvPr/>
        </p:nvSpPr>
        <p:spPr>
          <a:xfrm flipV="1">
            <a:off x="0" y="-1"/>
            <a:ext cx="12192000" cy="6858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a:duotone>
                <a:prstClr val="black"/>
                <a:srgbClr val="FFFF00">
                  <a:tint val="45000"/>
                  <a:satMod val="400000"/>
                </a:srgbClr>
              </a:duotone>
            </a:blip>
            <a:stretch>
              <a:fillRect t="-1777" b="-1777"/>
            </a:stretch>
          </a:blipFill>
        </p:spPr>
        <p:txBody>
          <a:bodyPr/>
          <a:lstStyle/>
          <a:p>
            <a:endParaRPr lang="en-US" dirty="0"/>
          </a:p>
        </p:txBody>
      </p:sp>
      <p:sp>
        <p:nvSpPr>
          <p:cNvPr id="7" name="Freeform 7"/>
          <p:cNvSpPr/>
          <p:nvPr/>
        </p:nvSpPr>
        <p:spPr>
          <a:xfrm>
            <a:off x="893991" y="578875"/>
            <a:ext cx="705412" cy="961380"/>
          </a:xfrm>
          <a:custGeom>
            <a:avLst/>
            <a:gdLst/>
            <a:ahLst/>
            <a:cxnLst/>
            <a:rect l="l" t="t" r="r" b="b"/>
            <a:pathLst>
              <a:path w="1058118" h="1442069">
                <a:moveTo>
                  <a:pt x="0" y="0"/>
                </a:moveTo>
                <a:lnTo>
                  <a:pt x="1058118" y="0"/>
                </a:lnTo>
                <a:lnTo>
                  <a:pt x="1058118" y="1442070"/>
                </a:lnTo>
                <a:lnTo>
                  <a:pt x="0" y="1442070"/>
                </a:lnTo>
                <a:lnTo>
                  <a:pt x="0" y="0"/>
                </a:lnTo>
                <a:close/>
              </a:path>
            </a:pathLst>
          </a:custGeom>
          <a:blipFill>
            <a:blip r:embed="rId3"/>
            <a:stretch>
              <a:fillRect/>
            </a:stretch>
          </a:blipFill>
        </p:spPr>
        <p:txBody>
          <a:bodyPr/>
          <a:lstStyle/>
          <a:p>
            <a:endParaRPr lang="en-US"/>
          </a:p>
        </p:txBody>
      </p:sp>
      <p:sp>
        <p:nvSpPr>
          <p:cNvPr id="9" name="Freeform 8"/>
          <p:cNvSpPr/>
          <p:nvPr/>
        </p:nvSpPr>
        <p:spPr>
          <a:xfrm>
            <a:off x="10724588" y="578875"/>
            <a:ext cx="705412" cy="961380"/>
          </a:xfrm>
          <a:custGeom>
            <a:avLst/>
            <a:gdLst/>
            <a:ahLst/>
            <a:cxnLst/>
            <a:rect l="l" t="t" r="r" b="b"/>
            <a:pathLst>
              <a:path w="1058118" h="1442069">
                <a:moveTo>
                  <a:pt x="0" y="0"/>
                </a:moveTo>
                <a:lnTo>
                  <a:pt x="1058118" y="0"/>
                </a:lnTo>
                <a:lnTo>
                  <a:pt x="1058118" y="1442070"/>
                </a:lnTo>
                <a:lnTo>
                  <a:pt x="0" y="1442070"/>
                </a:lnTo>
                <a:lnTo>
                  <a:pt x="0" y="0"/>
                </a:lnTo>
                <a:close/>
              </a:path>
            </a:pathLst>
          </a:custGeom>
          <a:blipFill>
            <a:blip r:embed="rId3"/>
            <a:stretch>
              <a:fillRect/>
            </a:stretch>
          </a:blipFill>
        </p:spPr>
        <p:txBody>
          <a:bodyPr/>
          <a:lstStyle/>
          <a:p>
            <a:endParaRPr lang="en-US"/>
          </a:p>
        </p:txBody>
      </p:sp>
      <p:sp>
        <p:nvSpPr>
          <p:cNvPr id="2" name="Title 1"/>
          <p:cNvSpPr>
            <a:spLocks noGrp="1"/>
          </p:cNvSpPr>
          <p:nvPr>
            <p:ph type="ctrTitle"/>
          </p:nvPr>
        </p:nvSpPr>
        <p:spPr>
          <a:xfrm>
            <a:off x="1280160" y="2651760"/>
            <a:ext cx="9628632" cy="1417320"/>
          </a:xfrm>
        </p:spPr>
        <p:txBody>
          <a:bodyPr anchor="t"/>
          <a:lstStyle/>
          <a:p>
            <a:r>
              <a:rPr sz="5400" b="1">
                <a:solidFill>
                  <a:schemeClr val="bg1"/>
                </a:solidFill>
              </a:rPr>
              <a:t>Design &amp; GoF Patterns</a:t>
            </a:r>
          </a:p>
        </p:txBody>
      </p:sp>
      <p:sp>
        <p:nvSpPr>
          <p:cNvPr id="3" name="Subtitle 2"/>
          <p:cNvSpPr>
            <a:spLocks noGrp="1"/>
          </p:cNvSpPr>
          <p:nvPr>
            <p:ph type="subTitle" idx="1"/>
          </p:nvPr>
        </p:nvSpPr>
        <p:spPr>
          <a:xfrm>
            <a:off x="1280160" y="4251960"/>
            <a:ext cx="9628632" cy="822960"/>
          </a:xfrm>
        </p:spPr>
        <p:txBody>
          <a:bodyPr/>
          <a:lstStyle/>
          <a:p>
            <a:r>
              <a:rPr sz="2000">
                <a:solidFill>
                  <a:srgbClr val="DDDDCB"/>
                </a:solidFill>
              </a:rPr>
              <a:t>Collaborations, UML models and design decisions</a:t>
            </a:r>
          </a:p>
        </p:txBody>
      </p:sp>
      <p:sp>
        <p:nvSpPr>
          <p:cNvPr id="10" name="Section number"/>
          <p:cNvSpPr txBox="1"/>
          <p:nvPr/>
        </p:nvSpPr>
        <p:spPr>
          <a:xfrm>
            <a:off x="1280160" y="2148840"/>
            <a:ext cx="9628632" cy="457200"/>
          </a:xfrm>
          <a:prstGeom prst="rect">
            <a:avLst/>
          </a:prstGeom>
          <a:noFill/>
        </p:spPr>
        <p:txBody>
          <a:bodyPr wrap="square" lIns="0" rIns="0" tIns="0" bIns="0" anchor="t">
            <a:spAutoFit/>
          </a:bodyPr>
          <a:lstStyle/>
          <a:p>
            <a:pPr algn="ctr">
              <a:spcAft>
                <a:spcPts val="400"/>
              </a:spcAft>
            </a:pPr>
            <a:r>
              <a:rPr sz="2000" b="1" i="0" spc="400">
                <a:solidFill>
                  <a:srgbClr val="CACA98"/>
                </a:solidFill>
              </a:rPr>
              <a:t>04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GoF patterns in TIVIDY</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04 · DESIGN</a:t>
            </a:r>
          </a:p>
        </p:txBody>
      </p:sp>
      <p:sp>
        <p:nvSpPr>
          <p:cNvPr id="4" name="Pattern card"/>
          <p:cNvSpPr/>
          <p:nvPr/>
        </p:nvSpPr>
        <p:spPr>
          <a:xfrm>
            <a:off x="548640" y="1572768"/>
            <a:ext cx="2635758" cy="141732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ag"/>
          <p:cNvSpPr/>
          <p:nvPr/>
        </p:nvSpPr>
        <p:spPr>
          <a:xfrm>
            <a:off x="685800" y="1709928"/>
            <a:ext cx="1097280" cy="237744"/>
          </a:xfrm>
          <a:prstGeom prst="roundRect">
            <a:avLst>
              <a:gd name="adj" fmla="val 50000"/>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000" b="1" i="0">
                <a:solidFill>
                  <a:srgbClr val="FFFFFF"/>
                </a:solidFill>
              </a:rPr>
              <a:t>CREATIONAL</a:t>
            </a:r>
          </a:p>
        </p:txBody>
      </p:sp>
      <p:sp>
        <p:nvSpPr>
          <p:cNvPr id="6" name="Pattern text"/>
          <p:cNvSpPr txBox="1"/>
          <p:nvPr/>
        </p:nvSpPr>
        <p:spPr>
          <a:xfrm>
            <a:off x="685800" y="2029967"/>
            <a:ext cx="2361438" cy="914400"/>
          </a:xfrm>
          <a:prstGeom prst="rect">
            <a:avLst/>
          </a:prstGeom>
          <a:noFill/>
        </p:spPr>
        <p:txBody>
          <a:bodyPr wrap="square" lIns="0" rIns="0" tIns="0" bIns="0" anchor="t">
            <a:spAutoFit/>
          </a:bodyPr>
          <a:lstStyle/>
          <a:p>
            <a:pPr>
              <a:spcAft>
                <a:spcPts val="200"/>
              </a:spcAft>
            </a:pPr>
            <a:r>
              <a:rPr sz="1500" b="1" i="0">
                <a:solidFill>
                  <a:srgbClr val="14150F"/>
                </a:solidFill>
              </a:rPr>
              <a:t>Builder</a:t>
            </a:r>
          </a:p>
          <a:p>
            <a:pPr>
              <a:spcAft>
                <a:spcPts val="0"/>
              </a:spcAft>
            </a:pPr>
            <a:r>
              <a:rPr sz="1200" b="0" i="0">
                <a:solidFill>
                  <a:srgbClr val="66665A"/>
                </a:solidFill>
              </a:rPr>
              <a:t>Assembles each industry’s WorkflowDefinition step by step</a:t>
            </a:r>
          </a:p>
        </p:txBody>
      </p:sp>
      <p:sp>
        <p:nvSpPr>
          <p:cNvPr id="7" name="Pattern placeholder"/>
          <p:cNvSpPr/>
          <p:nvPr/>
        </p:nvSpPr>
        <p:spPr>
          <a:xfrm>
            <a:off x="3367278" y="1572768"/>
            <a:ext cx="2635758" cy="1417320"/>
          </a:xfrm>
          <a:prstGeom prst="roundRect">
            <a:avLst>
              <a:gd name="adj" fmla="val 5000"/>
            </a:avLst>
          </a:prstGeom>
          <a:solidFill>
            <a:srgbClr val="F7F7F2"/>
          </a:solidFill>
          <a:ln w="19050">
            <a:solidFill>
              <a:srgbClr val="5E5E3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ag"/>
          <p:cNvSpPr/>
          <p:nvPr/>
        </p:nvSpPr>
        <p:spPr>
          <a:xfrm>
            <a:off x="3504438" y="1709928"/>
            <a:ext cx="1097280" cy="237744"/>
          </a:xfrm>
          <a:prstGeom prst="roundRect">
            <a:avLst>
              <a:gd name="adj" fmla="val 50000"/>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000" b="1" i="0">
                <a:solidFill>
                  <a:srgbClr val="FFFFFF"/>
                </a:solidFill>
              </a:rPr>
              <a:t>CREATIONAL</a:t>
            </a:r>
          </a:p>
        </p:txBody>
      </p:sp>
      <p:sp>
        <p:nvSpPr>
          <p:cNvPr id="9" name="Pattern placeholder text"/>
          <p:cNvSpPr txBox="1"/>
          <p:nvPr/>
        </p:nvSpPr>
        <p:spPr>
          <a:xfrm>
            <a:off x="3504438" y="2029967"/>
            <a:ext cx="2361438" cy="914400"/>
          </a:xfrm>
          <a:prstGeom prst="rect">
            <a:avLst/>
          </a:prstGeom>
          <a:noFill/>
        </p:spPr>
        <p:txBody>
          <a:bodyPr wrap="square" lIns="0" rIns="0" tIns="0" bIns="0" anchor="t">
            <a:spAutoFit/>
          </a:bodyPr>
          <a:lstStyle/>
          <a:p>
            <a:pPr>
              <a:spcAft>
                <a:spcPts val="200"/>
              </a:spcAft>
            </a:pPr>
            <a:r>
              <a:rPr sz="1400" b="1" i="0">
                <a:solidFill>
                  <a:srgbClr val="5E5E38"/>
                </a:solidFill>
              </a:rPr>
              <a:t>Insert second creational pattern</a:t>
            </a:r>
          </a:p>
          <a:p>
            <a:pPr>
              <a:spcAft>
                <a:spcPts val="0"/>
              </a:spcAft>
            </a:pPr>
            <a:r>
              <a:rPr sz="1200" b="0" i="0">
                <a:solidFill>
                  <a:srgbClr val="66665A"/>
                </a:solidFill>
              </a:rPr>
              <a:t>e.g. Prototype, Singleton, Abstract Factory</a:t>
            </a:r>
          </a:p>
        </p:txBody>
      </p:sp>
      <p:sp>
        <p:nvSpPr>
          <p:cNvPr id="10" name="Pattern card"/>
          <p:cNvSpPr/>
          <p:nvPr/>
        </p:nvSpPr>
        <p:spPr>
          <a:xfrm>
            <a:off x="6185916" y="1572768"/>
            <a:ext cx="2635758" cy="141732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g"/>
          <p:cNvSpPr/>
          <p:nvPr/>
        </p:nvSpPr>
        <p:spPr>
          <a:xfrm>
            <a:off x="6323076" y="1709928"/>
            <a:ext cx="1097280" cy="237744"/>
          </a:xfrm>
          <a:prstGeom prst="roundRect">
            <a:avLst>
              <a:gd name="adj" fmla="val 50000"/>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000" b="1" i="0">
                <a:solidFill>
                  <a:srgbClr val="14150F"/>
                </a:solidFill>
              </a:rPr>
              <a:t>STRUCTURAL</a:t>
            </a:r>
          </a:p>
        </p:txBody>
      </p:sp>
      <p:sp>
        <p:nvSpPr>
          <p:cNvPr id="12" name="Pattern text"/>
          <p:cNvSpPr txBox="1"/>
          <p:nvPr/>
        </p:nvSpPr>
        <p:spPr>
          <a:xfrm>
            <a:off x="6323076" y="2029967"/>
            <a:ext cx="2361438" cy="914400"/>
          </a:xfrm>
          <a:prstGeom prst="rect">
            <a:avLst/>
          </a:prstGeom>
          <a:noFill/>
        </p:spPr>
        <p:txBody>
          <a:bodyPr wrap="square" lIns="0" rIns="0" tIns="0" bIns="0" anchor="t">
            <a:spAutoFit/>
          </a:bodyPr>
          <a:lstStyle/>
          <a:p>
            <a:pPr>
              <a:spcAft>
                <a:spcPts val="200"/>
              </a:spcAft>
            </a:pPr>
            <a:r>
              <a:rPr sz="1500" b="1" i="0">
                <a:solidFill>
                  <a:srgbClr val="14150F"/>
                </a:solidFill>
              </a:rPr>
              <a:t>Composite</a:t>
            </a:r>
          </a:p>
          <a:p>
            <a:pPr>
              <a:spcAft>
                <a:spcPts val="0"/>
              </a:spcAft>
            </a:pPr>
            <a:r>
              <a:rPr sz="1200" b="0" i="0">
                <a:solidFill>
                  <a:srgbClr val="66665A"/>
                </a:solidFill>
              </a:rPr>
              <a:t>Treats work items, stages and sub-processes uniformly</a:t>
            </a:r>
          </a:p>
        </p:txBody>
      </p:sp>
      <p:sp>
        <p:nvSpPr>
          <p:cNvPr id="13" name="Pattern card"/>
          <p:cNvSpPr/>
          <p:nvPr/>
        </p:nvSpPr>
        <p:spPr>
          <a:xfrm>
            <a:off x="9004554" y="1572768"/>
            <a:ext cx="2635758" cy="141732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g"/>
          <p:cNvSpPr/>
          <p:nvPr/>
        </p:nvSpPr>
        <p:spPr>
          <a:xfrm>
            <a:off x="9141714" y="1709928"/>
            <a:ext cx="1097280" cy="237744"/>
          </a:xfrm>
          <a:prstGeom prst="roundRect">
            <a:avLst>
              <a:gd name="adj" fmla="val 50000"/>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000" b="1" i="0">
                <a:solidFill>
                  <a:srgbClr val="14150F"/>
                </a:solidFill>
              </a:rPr>
              <a:t>STRUCTURAL</a:t>
            </a:r>
          </a:p>
        </p:txBody>
      </p:sp>
      <p:sp>
        <p:nvSpPr>
          <p:cNvPr id="15" name="Pattern text"/>
          <p:cNvSpPr txBox="1"/>
          <p:nvPr/>
        </p:nvSpPr>
        <p:spPr>
          <a:xfrm>
            <a:off x="9141714" y="2029967"/>
            <a:ext cx="2361438" cy="914400"/>
          </a:xfrm>
          <a:prstGeom prst="rect">
            <a:avLst/>
          </a:prstGeom>
          <a:noFill/>
        </p:spPr>
        <p:txBody>
          <a:bodyPr wrap="square" lIns="0" rIns="0" tIns="0" bIns="0" anchor="t">
            <a:spAutoFit/>
          </a:bodyPr>
          <a:lstStyle/>
          <a:p>
            <a:pPr>
              <a:spcAft>
                <a:spcPts val="200"/>
              </a:spcAft>
            </a:pPr>
            <a:r>
              <a:rPr sz="1500" b="1" i="0">
                <a:solidFill>
                  <a:srgbClr val="14150F"/>
                </a:solidFill>
              </a:rPr>
              <a:t>Decorator</a:t>
            </a:r>
          </a:p>
          <a:p>
            <a:pPr>
              <a:spcAft>
                <a:spcPts val="0"/>
              </a:spcAft>
            </a:pPr>
            <a:r>
              <a:rPr sz="1200" b="0" i="0">
                <a:solidFill>
                  <a:srgbClr val="66665A"/>
                </a:solidFill>
              </a:rPr>
              <a:t>PriorityDecorator adds urgency handling to a work item</a:t>
            </a:r>
          </a:p>
        </p:txBody>
      </p:sp>
      <p:sp>
        <p:nvSpPr>
          <p:cNvPr id="16" name="Pattern card"/>
          <p:cNvSpPr/>
          <p:nvPr/>
        </p:nvSpPr>
        <p:spPr>
          <a:xfrm>
            <a:off x="548640" y="3127248"/>
            <a:ext cx="2635758" cy="141732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g"/>
          <p:cNvSpPr/>
          <p:nvPr/>
        </p:nvSpPr>
        <p:spPr>
          <a:xfrm>
            <a:off x="685800" y="3264408"/>
            <a:ext cx="1097280" cy="237744"/>
          </a:xfrm>
          <a:prstGeom prst="roundRect">
            <a:avLst>
              <a:gd name="adj" fmla="val 50000"/>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000" b="1" i="0">
                <a:solidFill>
                  <a:srgbClr val="14150F"/>
                </a:solidFill>
              </a:rPr>
              <a:t>STRUCTURAL</a:t>
            </a:r>
          </a:p>
        </p:txBody>
      </p:sp>
      <p:sp>
        <p:nvSpPr>
          <p:cNvPr id="18" name="Pattern text"/>
          <p:cNvSpPr txBox="1"/>
          <p:nvPr/>
        </p:nvSpPr>
        <p:spPr>
          <a:xfrm>
            <a:off x="685800" y="3584448"/>
            <a:ext cx="2361438" cy="914400"/>
          </a:xfrm>
          <a:prstGeom prst="rect">
            <a:avLst/>
          </a:prstGeom>
          <a:noFill/>
        </p:spPr>
        <p:txBody>
          <a:bodyPr wrap="square" lIns="0" rIns="0" tIns="0" bIns="0" anchor="t">
            <a:spAutoFit/>
          </a:bodyPr>
          <a:lstStyle/>
          <a:p>
            <a:pPr>
              <a:spcAft>
                <a:spcPts val="200"/>
              </a:spcAft>
            </a:pPr>
            <a:r>
              <a:rPr sz="1500" b="1" i="0">
                <a:solidFill>
                  <a:srgbClr val="14150F"/>
                </a:solidFill>
              </a:rPr>
              <a:t>Adapter</a:t>
            </a:r>
          </a:p>
          <a:p>
            <a:pPr>
              <a:spcAft>
                <a:spcPts val="0"/>
              </a:spcAft>
            </a:pPr>
            <a:r>
              <a:rPr sz="1200" b="0" i="0">
                <a:solidFill>
                  <a:srgbClr val="66665A"/>
                </a:solidFill>
              </a:rPr>
              <a:t>EmailAdapter hides the external email service interface</a:t>
            </a:r>
          </a:p>
        </p:txBody>
      </p:sp>
      <p:sp>
        <p:nvSpPr>
          <p:cNvPr id="19" name="Pattern card"/>
          <p:cNvSpPr/>
          <p:nvPr/>
        </p:nvSpPr>
        <p:spPr>
          <a:xfrm>
            <a:off x="3367278" y="3127248"/>
            <a:ext cx="2635758" cy="141732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g"/>
          <p:cNvSpPr/>
          <p:nvPr/>
        </p:nvSpPr>
        <p:spPr>
          <a:xfrm>
            <a:off x="3504438" y="3264408"/>
            <a:ext cx="1097280" cy="237744"/>
          </a:xfrm>
          <a:prstGeom prst="roundRect">
            <a:avLst>
              <a:gd name="adj" fmla="val 50000"/>
            </a:avLst>
          </a:prstGeom>
          <a:solidFill>
            <a:srgbClr val="CACA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000" b="1" i="0">
                <a:solidFill>
                  <a:srgbClr val="14150F"/>
                </a:solidFill>
              </a:rPr>
              <a:t>STRUCTURAL</a:t>
            </a:r>
          </a:p>
        </p:txBody>
      </p:sp>
      <p:sp>
        <p:nvSpPr>
          <p:cNvPr id="21" name="Pattern text"/>
          <p:cNvSpPr txBox="1"/>
          <p:nvPr/>
        </p:nvSpPr>
        <p:spPr>
          <a:xfrm>
            <a:off x="3504438" y="3584448"/>
            <a:ext cx="2361438" cy="914400"/>
          </a:xfrm>
          <a:prstGeom prst="rect">
            <a:avLst/>
          </a:prstGeom>
          <a:noFill/>
        </p:spPr>
        <p:txBody>
          <a:bodyPr wrap="square" lIns="0" rIns="0" tIns="0" bIns="0" anchor="t">
            <a:spAutoFit/>
          </a:bodyPr>
          <a:lstStyle/>
          <a:p>
            <a:pPr>
              <a:spcAft>
                <a:spcPts val="200"/>
              </a:spcAft>
            </a:pPr>
            <a:r>
              <a:rPr sz="1500" b="1" i="0">
                <a:solidFill>
                  <a:srgbClr val="14150F"/>
                </a:solidFill>
              </a:rPr>
              <a:t>Facade</a:t>
            </a:r>
          </a:p>
          <a:p>
            <a:pPr>
              <a:spcAft>
                <a:spcPts val="0"/>
              </a:spcAft>
            </a:pPr>
            <a:r>
              <a:rPr sz="1200" b="0" i="0">
                <a:solidFill>
                  <a:srgbClr val="66665A"/>
                </a:solidFill>
              </a:rPr>
              <a:t>TIVIDYFacade is the single entry point for the TUI</a:t>
            </a:r>
          </a:p>
        </p:txBody>
      </p:sp>
      <p:sp>
        <p:nvSpPr>
          <p:cNvPr id="22" name="Pattern card"/>
          <p:cNvSpPr/>
          <p:nvPr/>
        </p:nvSpPr>
        <p:spPr>
          <a:xfrm>
            <a:off x="6185916" y="3127248"/>
            <a:ext cx="2635758" cy="141732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g"/>
          <p:cNvSpPr/>
          <p:nvPr/>
        </p:nvSpPr>
        <p:spPr>
          <a:xfrm>
            <a:off x="6323076" y="3264408"/>
            <a:ext cx="1188720" cy="237744"/>
          </a:xfrm>
          <a:prstGeom prst="roundRect">
            <a:avLst>
              <a:gd name="adj" fmla="val 50000"/>
            </a:avLst>
          </a:prstGeom>
          <a:solidFill>
            <a:srgbClr val="5E5E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000" b="1" i="0">
                <a:solidFill>
                  <a:srgbClr val="FFFFFF"/>
                </a:solidFill>
              </a:rPr>
              <a:t>BEHAVIOURAL</a:t>
            </a:r>
          </a:p>
        </p:txBody>
      </p:sp>
      <p:sp>
        <p:nvSpPr>
          <p:cNvPr id="24" name="Pattern text"/>
          <p:cNvSpPr txBox="1"/>
          <p:nvPr/>
        </p:nvSpPr>
        <p:spPr>
          <a:xfrm>
            <a:off x="6323076" y="3584448"/>
            <a:ext cx="2361438" cy="914400"/>
          </a:xfrm>
          <a:prstGeom prst="rect">
            <a:avLst/>
          </a:prstGeom>
          <a:noFill/>
        </p:spPr>
        <p:txBody>
          <a:bodyPr wrap="square" lIns="0" rIns="0" tIns="0" bIns="0" anchor="t">
            <a:spAutoFit/>
          </a:bodyPr>
          <a:lstStyle/>
          <a:p>
            <a:pPr>
              <a:spcAft>
                <a:spcPts val="200"/>
              </a:spcAft>
            </a:pPr>
            <a:r>
              <a:rPr sz="1500" b="1" i="0">
                <a:solidFill>
                  <a:srgbClr val="14150F"/>
                </a:solidFill>
              </a:rPr>
              <a:t>State</a:t>
            </a:r>
          </a:p>
          <a:p>
            <a:pPr>
              <a:spcAft>
                <a:spcPts val="0"/>
              </a:spcAft>
            </a:pPr>
            <a:r>
              <a:rPr sz="1200" b="0" i="0">
                <a:solidFill>
                  <a:srgbClr val="66665A"/>
                </a:solidFill>
              </a:rPr>
              <a:t>Instance behaviour changes with its lifecycle state</a:t>
            </a:r>
          </a:p>
        </p:txBody>
      </p:sp>
      <p:sp>
        <p:nvSpPr>
          <p:cNvPr id="25" name="Pattern card"/>
          <p:cNvSpPr/>
          <p:nvPr/>
        </p:nvSpPr>
        <p:spPr>
          <a:xfrm>
            <a:off x="9004554" y="3127248"/>
            <a:ext cx="2635758" cy="141732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ag"/>
          <p:cNvSpPr/>
          <p:nvPr/>
        </p:nvSpPr>
        <p:spPr>
          <a:xfrm>
            <a:off x="9141714" y="3264408"/>
            <a:ext cx="1188720" cy="237744"/>
          </a:xfrm>
          <a:prstGeom prst="roundRect">
            <a:avLst>
              <a:gd name="adj" fmla="val 50000"/>
            </a:avLst>
          </a:prstGeom>
          <a:solidFill>
            <a:srgbClr val="5E5E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000" b="1" i="0">
                <a:solidFill>
                  <a:srgbClr val="FFFFFF"/>
                </a:solidFill>
              </a:rPr>
              <a:t>BEHAVIOURAL</a:t>
            </a:r>
          </a:p>
        </p:txBody>
      </p:sp>
      <p:sp>
        <p:nvSpPr>
          <p:cNvPr id="27" name="Pattern text"/>
          <p:cNvSpPr txBox="1"/>
          <p:nvPr/>
        </p:nvSpPr>
        <p:spPr>
          <a:xfrm>
            <a:off x="9141714" y="3584448"/>
            <a:ext cx="2361438" cy="914400"/>
          </a:xfrm>
          <a:prstGeom prst="rect">
            <a:avLst/>
          </a:prstGeom>
          <a:noFill/>
        </p:spPr>
        <p:txBody>
          <a:bodyPr wrap="square" lIns="0" rIns="0" tIns="0" bIns="0" anchor="t">
            <a:spAutoFit/>
          </a:bodyPr>
          <a:lstStyle/>
          <a:p>
            <a:pPr>
              <a:spcAft>
                <a:spcPts val="200"/>
              </a:spcAft>
            </a:pPr>
            <a:r>
              <a:rPr sz="1500" b="1" i="0">
                <a:solidFill>
                  <a:srgbClr val="14150F"/>
                </a:solidFill>
              </a:rPr>
              <a:t>Strategy</a:t>
            </a:r>
          </a:p>
          <a:p>
            <a:pPr>
              <a:spcAft>
                <a:spcPts val="0"/>
              </a:spcAft>
            </a:pPr>
            <a:r>
              <a:rPr sz="1200" b="0" i="0">
                <a:solidFill>
                  <a:srgbClr val="66665A"/>
                </a:solidFill>
              </a:rPr>
              <a:t>Role- or workload-based assignment per definition</a:t>
            </a:r>
          </a:p>
        </p:txBody>
      </p:sp>
      <p:sp>
        <p:nvSpPr>
          <p:cNvPr id="28" name="Pattern card"/>
          <p:cNvSpPr/>
          <p:nvPr/>
        </p:nvSpPr>
        <p:spPr>
          <a:xfrm>
            <a:off x="548640" y="4681728"/>
            <a:ext cx="2635758" cy="141732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ag"/>
          <p:cNvSpPr/>
          <p:nvPr/>
        </p:nvSpPr>
        <p:spPr>
          <a:xfrm>
            <a:off x="685800" y="4818888"/>
            <a:ext cx="1188720" cy="237744"/>
          </a:xfrm>
          <a:prstGeom prst="roundRect">
            <a:avLst>
              <a:gd name="adj" fmla="val 50000"/>
            </a:avLst>
          </a:prstGeom>
          <a:solidFill>
            <a:srgbClr val="5E5E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000" b="1" i="0">
                <a:solidFill>
                  <a:srgbClr val="FFFFFF"/>
                </a:solidFill>
              </a:rPr>
              <a:t>BEHAVIOURAL</a:t>
            </a:r>
          </a:p>
        </p:txBody>
      </p:sp>
      <p:sp>
        <p:nvSpPr>
          <p:cNvPr id="30" name="Pattern text"/>
          <p:cNvSpPr txBox="1"/>
          <p:nvPr/>
        </p:nvSpPr>
        <p:spPr>
          <a:xfrm>
            <a:off x="685800" y="5138928"/>
            <a:ext cx="2361438" cy="914400"/>
          </a:xfrm>
          <a:prstGeom prst="rect">
            <a:avLst/>
          </a:prstGeom>
          <a:noFill/>
        </p:spPr>
        <p:txBody>
          <a:bodyPr wrap="square" lIns="0" rIns="0" tIns="0" bIns="0" anchor="t">
            <a:spAutoFit/>
          </a:bodyPr>
          <a:lstStyle/>
          <a:p>
            <a:pPr>
              <a:spcAft>
                <a:spcPts val="200"/>
              </a:spcAft>
            </a:pPr>
            <a:r>
              <a:rPr sz="1500" b="1" i="0">
                <a:solidFill>
                  <a:srgbClr val="14150F"/>
                </a:solidFill>
              </a:rPr>
              <a:t>Chain of Responsibility</a:t>
            </a:r>
          </a:p>
          <a:p>
            <a:pPr>
              <a:spcAft>
                <a:spcPts val="0"/>
              </a:spcAft>
            </a:pPr>
            <a:r>
              <a:rPr sz="1200" b="0" i="0">
                <a:solidFill>
                  <a:srgbClr val="66665A"/>
                </a:solidFill>
              </a:rPr>
              <a:t>Escalation passes up handlers until one can act</a:t>
            </a:r>
          </a:p>
        </p:txBody>
      </p:sp>
      <p:sp>
        <p:nvSpPr>
          <p:cNvPr id="31" name="Pattern card"/>
          <p:cNvSpPr/>
          <p:nvPr/>
        </p:nvSpPr>
        <p:spPr>
          <a:xfrm>
            <a:off x="3367278" y="4681728"/>
            <a:ext cx="2635758" cy="141732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ag"/>
          <p:cNvSpPr/>
          <p:nvPr/>
        </p:nvSpPr>
        <p:spPr>
          <a:xfrm>
            <a:off x="3504438" y="4818888"/>
            <a:ext cx="1188720" cy="237744"/>
          </a:xfrm>
          <a:prstGeom prst="roundRect">
            <a:avLst>
              <a:gd name="adj" fmla="val 50000"/>
            </a:avLst>
          </a:prstGeom>
          <a:solidFill>
            <a:srgbClr val="5E5E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000" b="1" i="0">
                <a:solidFill>
                  <a:srgbClr val="FFFFFF"/>
                </a:solidFill>
              </a:rPr>
              <a:t>BEHAVIOURAL</a:t>
            </a:r>
          </a:p>
        </p:txBody>
      </p:sp>
      <p:sp>
        <p:nvSpPr>
          <p:cNvPr id="33" name="Pattern text"/>
          <p:cNvSpPr txBox="1"/>
          <p:nvPr/>
        </p:nvSpPr>
        <p:spPr>
          <a:xfrm>
            <a:off x="3504438" y="5138928"/>
            <a:ext cx="2361438" cy="914400"/>
          </a:xfrm>
          <a:prstGeom prst="rect">
            <a:avLst/>
          </a:prstGeom>
          <a:noFill/>
        </p:spPr>
        <p:txBody>
          <a:bodyPr wrap="square" lIns="0" rIns="0" tIns="0" bIns="0" anchor="t">
            <a:spAutoFit/>
          </a:bodyPr>
          <a:lstStyle/>
          <a:p>
            <a:pPr>
              <a:spcAft>
                <a:spcPts val="200"/>
              </a:spcAft>
            </a:pPr>
            <a:r>
              <a:rPr sz="1500" b="1" i="0">
                <a:solidFill>
                  <a:srgbClr val="14150F"/>
                </a:solidFill>
              </a:rPr>
              <a:t>Command</a:t>
            </a:r>
          </a:p>
          <a:p>
            <a:pPr>
              <a:spcAft>
                <a:spcPts val="0"/>
              </a:spcAft>
            </a:pPr>
            <a:r>
              <a:rPr sz="1200" b="0" i="0">
                <a:solidFill>
                  <a:srgbClr val="66665A"/>
                </a:solidFill>
              </a:rPr>
              <a:t>Each action is an object that can be logged or undone</a:t>
            </a:r>
          </a:p>
        </p:txBody>
      </p:sp>
      <p:sp>
        <p:nvSpPr>
          <p:cNvPr id="34" name="Pattern card"/>
          <p:cNvSpPr/>
          <p:nvPr/>
        </p:nvSpPr>
        <p:spPr>
          <a:xfrm>
            <a:off x="6185916" y="4681728"/>
            <a:ext cx="2635758" cy="141732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ag"/>
          <p:cNvSpPr/>
          <p:nvPr/>
        </p:nvSpPr>
        <p:spPr>
          <a:xfrm>
            <a:off x="6323076" y="4818888"/>
            <a:ext cx="1188720" cy="237744"/>
          </a:xfrm>
          <a:prstGeom prst="roundRect">
            <a:avLst>
              <a:gd name="adj" fmla="val 50000"/>
            </a:avLst>
          </a:prstGeom>
          <a:solidFill>
            <a:srgbClr val="5E5E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000" b="1" i="0">
                <a:solidFill>
                  <a:srgbClr val="FFFFFF"/>
                </a:solidFill>
              </a:rPr>
              <a:t>BEHAVIOURAL</a:t>
            </a:r>
          </a:p>
        </p:txBody>
      </p:sp>
      <p:sp>
        <p:nvSpPr>
          <p:cNvPr id="36" name="Pattern text"/>
          <p:cNvSpPr txBox="1"/>
          <p:nvPr/>
        </p:nvSpPr>
        <p:spPr>
          <a:xfrm>
            <a:off x="6323076" y="5138928"/>
            <a:ext cx="2361438" cy="914400"/>
          </a:xfrm>
          <a:prstGeom prst="rect">
            <a:avLst/>
          </a:prstGeom>
          <a:noFill/>
        </p:spPr>
        <p:txBody>
          <a:bodyPr wrap="square" lIns="0" rIns="0" tIns="0" bIns="0" anchor="t">
            <a:spAutoFit/>
          </a:bodyPr>
          <a:lstStyle/>
          <a:p>
            <a:pPr>
              <a:spcAft>
                <a:spcPts val="200"/>
              </a:spcAft>
            </a:pPr>
            <a:r>
              <a:rPr sz="1500" b="1" i="0">
                <a:solidFill>
                  <a:srgbClr val="14150F"/>
                </a:solidFill>
              </a:rPr>
              <a:t>Memento</a:t>
            </a:r>
          </a:p>
          <a:p>
            <a:pPr>
              <a:spcAft>
                <a:spcPts val="0"/>
              </a:spcAft>
            </a:pPr>
            <a:r>
              <a:rPr sz="1200" b="0" i="0">
                <a:solidFill>
                  <a:srgbClr val="66665A"/>
                </a:solidFill>
              </a:rPr>
              <a:t>Snapshots allow rollback before reversible actions</a:t>
            </a:r>
          </a:p>
        </p:txBody>
      </p:sp>
      <p:sp>
        <p:nvSpPr>
          <p:cNvPr id="37" name="Pattern card"/>
          <p:cNvSpPr/>
          <p:nvPr/>
        </p:nvSpPr>
        <p:spPr>
          <a:xfrm>
            <a:off x="9004554" y="4681728"/>
            <a:ext cx="2635758" cy="141732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ag"/>
          <p:cNvSpPr/>
          <p:nvPr/>
        </p:nvSpPr>
        <p:spPr>
          <a:xfrm>
            <a:off x="9141714" y="4818888"/>
            <a:ext cx="1188720" cy="237744"/>
          </a:xfrm>
          <a:prstGeom prst="roundRect">
            <a:avLst>
              <a:gd name="adj" fmla="val 50000"/>
            </a:avLst>
          </a:prstGeom>
          <a:solidFill>
            <a:srgbClr val="5E5E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1945" bIns="21945"/>
          <a:lstStyle/>
          <a:p>
            <a:pPr algn="ctr">
              <a:spcAft>
                <a:spcPts val="0"/>
              </a:spcAft>
            </a:pPr>
            <a:r>
              <a:rPr sz="1000" b="1" i="0">
                <a:solidFill>
                  <a:srgbClr val="FFFFFF"/>
                </a:solidFill>
              </a:rPr>
              <a:t>BEHAVIOURAL</a:t>
            </a:r>
          </a:p>
        </p:txBody>
      </p:sp>
      <p:sp>
        <p:nvSpPr>
          <p:cNvPr id="39" name="Pattern text"/>
          <p:cNvSpPr txBox="1"/>
          <p:nvPr/>
        </p:nvSpPr>
        <p:spPr>
          <a:xfrm>
            <a:off x="9141714" y="5138928"/>
            <a:ext cx="2361438" cy="914400"/>
          </a:xfrm>
          <a:prstGeom prst="rect">
            <a:avLst/>
          </a:prstGeom>
          <a:noFill/>
        </p:spPr>
        <p:txBody>
          <a:bodyPr wrap="square" lIns="0" rIns="0" tIns="0" bIns="0" anchor="t">
            <a:spAutoFit/>
          </a:bodyPr>
          <a:lstStyle/>
          <a:p>
            <a:pPr>
              <a:spcAft>
                <a:spcPts val="200"/>
              </a:spcAft>
            </a:pPr>
            <a:r>
              <a:rPr sz="1500" b="1" i="0">
                <a:solidFill>
                  <a:srgbClr val="14150F"/>
                </a:solidFill>
              </a:rPr>
              <a:t>Observer</a:t>
            </a:r>
          </a:p>
          <a:p>
            <a:pPr>
              <a:spcAft>
                <a:spcPts val="0"/>
              </a:spcAft>
            </a:pPr>
            <a:r>
              <a:rPr sz="1200" b="0" i="0">
                <a:solidFill>
                  <a:srgbClr val="66665A"/>
                </a:solidFill>
              </a:rPr>
              <a:t>History, notifications and progress react to events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Pattern collaboration: escalating a case</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04 · DESIGN</a:t>
            </a:r>
          </a:p>
        </p:txBody>
      </p:sp>
      <p:sp>
        <p:nvSpPr>
          <p:cNvPr id="4" name="Flow row"/>
          <p:cNvSpPr/>
          <p:nvPr/>
        </p:nvSpPr>
        <p:spPr>
          <a:xfrm>
            <a:off x="548640" y="1572768"/>
            <a:ext cx="5852160" cy="56692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con circle"/>
          <p:cNvSpPr/>
          <p:nvPr/>
        </p:nvSpPr>
        <p:spPr>
          <a:xfrm>
            <a:off x="658368" y="1655064"/>
            <a:ext cx="402336" cy="402336"/>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Icon FaTerminal" descr="FaTerminal_w.png"/>
          <p:cNvPicPr>
            <a:picLocks noChangeAspect="1"/>
          </p:cNvPicPr>
          <p:nvPr/>
        </p:nvPicPr>
        <p:blipFill>
          <a:blip r:embed="rId3"/>
          <a:stretch>
            <a:fillRect/>
          </a:stretch>
        </p:blipFill>
        <p:spPr>
          <a:xfrm>
            <a:off x="754928" y="1751624"/>
            <a:ext cx="209214" cy="209214"/>
          </a:xfrm>
          <a:prstGeom prst="rect">
            <a:avLst/>
          </a:prstGeom>
        </p:spPr>
      </p:pic>
      <p:sp>
        <p:nvSpPr>
          <p:cNvPr id="7" name="Flow text"/>
          <p:cNvSpPr txBox="1"/>
          <p:nvPr/>
        </p:nvSpPr>
        <p:spPr>
          <a:xfrm>
            <a:off x="1234440" y="1591056"/>
            <a:ext cx="5074920" cy="530352"/>
          </a:xfrm>
          <a:prstGeom prst="rect">
            <a:avLst/>
          </a:prstGeom>
          <a:noFill/>
        </p:spPr>
        <p:txBody>
          <a:bodyPr wrap="square" lIns="0" rIns="0" tIns="0" bIns="0" anchor="ctr">
            <a:spAutoFit/>
          </a:bodyPr>
          <a:lstStyle/>
          <a:p>
            <a:pPr>
              <a:spcAft>
                <a:spcPts val="0"/>
              </a:spcAft>
            </a:pPr>
            <a:r>
              <a:rPr sz="1400" b="1" i="0">
                <a:solidFill>
                  <a:srgbClr val="14150F"/>
                </a:solidFill>
              </a:rPr>
              <a:t>Facade</a:t>
            </a:r>
            <a:r>
              <a:rPr sz="1200" b="0" i="0">
                <a:solidFill>
                  <a:srgbClr val="66665A"/>
                </a:solidFill>
              </a:rPr>
              <a:t>  escalateWork() is the single entry point</a:t>
            </a:r>
          </a:p>
        </p:txBody>
      </p:sp>
      <p:sp>
        <p:nvSpPr>
          <p:cNvPr id="8" name="Flow row"/>
          <p:cNvSpPr/>
          <p:nvPr/>
        </p:nvSpPr>
        <p:spPr>
          <a:xfrm>
            <a:off x="548640" y="2212848"/>
            <a:ext cx="5852160" cy="56692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con circle"/>
          <p:cNvSpPr/>
          <p:nvPr/>
        </p:nvSpPr>
        <p:spPr>
          <a:xfrm>
            <a:off x="658368" y="2295144"/>
            <a:ext cx="402336" cy="402336"/>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Icon FaTasks" descr="FaTasks_w.png"/>
          <p:cNvPicPr>
            <a:picLocks noChangeAspect="1"/>
          </p:cNvPicPr>
          <p:nvPr/>
        </p:nvPicPr>
        <p:blipFill>
          <a:blip r:embed="rId4"/>
          <a:stretch>
            <a:fillRect/>
          </a:stretch>
        </p:blipFill>
        <p:spPr>
          <a:xfrm>
            <a:off x="754928" y="2391704"/>
            <a:ext cx="209214" cy="209214"/>
          </a:xfrm>
          <a:prstGeom prst="rect">
            <a:avLst/>
          </a:prstGeom>
        </p:spPr>
      </p:pic>
      <p:sp>
        <p:nvSpPr>
          <p:cNvPr id="11" name="Flow text"/>
          <p:cNvSpPr txBox="1"/>
          <p:nvPr/>
        </p:nvSpPr>
        <p:spPr>
          <a:xfrm>
            <a:off x="1234440" y="2231136"/>
            <a:ext cx="5074920" cy="530352"/>
          </a:xfrm>
          <a:prstGeom prst="rect">
            <a:avLst/>
          </a:prstGeom>
          <a:noFill/>
        </p:spPr>
        <p:txBody>
          <a:bodyPr wrap="square" lIns="0" rIns="0" tIns="0" bIns="0" anchor="ctr">
            <a:spAutoFit/>
          </a:bodyPr>
          <a:lstStyle/>
          <a:p>
            <a:pPr>
              <a:spcAft>
                <a:spcPts val="0"/>
              </a:spcAft>
            </a:pPr>
            <a:r>
              <a:rPr sz="1400" b="1" i="0">
                <a:solidFill>
                  <a:srgbClr val="14150F"/>
                </a:solidFill>
              </a:rPr>
              <a:t>Command</a:t>
            </a:r>
            <a:r>
              <a:rPr sz="1200" b="0" i="0">
                <a:solidFill>
                  <a:srgbClr val="66665A"/>
                </a:solidFill>
              </a:rPr>
              <a:t>  EscalateWorkCommand wraps the action</a:t>
            </a:r>
          </a:p>
        </p:txBody>
      </p:sp>
      <p:sp>
        <p:nvSpPr>
          <p:cNvPr id="12" name="Flow row"/>
          <p:cNvSpPr/>
          <p:nvPr/>
        </p:nvSpPr>
        <p:spPr>
          <a:xfrm>
            <a:off x="548640" y="2852928"/>
            <a:ext cx="5852160" cy="56692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con circle"/>
          <p:cNvSpPr/>
          <p:nvPr/>
        </p:nvSpPr>
        <p:spPr>
          <a:xfrm>
            <a:off x="658368" y="2935224"/>
            <a:ext cx="402336" cy="402336"/>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Icon FaHistory" descr="FaHistory_w.png"/>
          <p:cNvPicPr>
            <a:picLocks noChangeAspect="1"/>
          </p:cNvPicPr>
          <p:nvPr/>
        </p:nvPicPr>
        <p:blipFill>
          <a:blip r:embed="rId5"/>
          <a:stretch>
            <a:fillRect/>
          </a:stretch>
        </p:blipFill>
        <p:spPr>
          <a:xfrm>
            <a:off x="754928" y="3031784"/>
            <a:ext cx="209214" cy="209214"/>
          </a:xfrm>
          <a:prstGeom prst="rect">
            <a:avLst/>
          </a:prstGeom>
        </p:spPr>
      </p:pic>
      <p:sp>
        <p:nvSpPr>
          <p:cNvPr id="15" name="Flow text"/>
          <p:cNvSpPr txBox="1"/>
          <p:nvPr/>
        </p:nvSpPr>
        <p:spPr>
          <a:xfrm>
            <a:off x="1234440" y="2871216"/>
            <a:ext cx="5074920" cy="530352"/>
          </a:xfrm>
          <a:prstGeom prst="rect">
            <a:avLst/>
          </a:prstGeom>
          <a:noFill/>
        </p:spPr>
        <p:txBody>
          <a:bodyPr wrap="square" lIns="0" rIns="0" tIns="0" bIns="0" anchor="ctr">
            <a:spAutoFit/>
          </a:bodyPr>
          <a:lstStyle/>
          <a:p>
            <a:pPr>
              <a:spcAft>
                <a:spcPts val="0"/>
              </a:spcAft>
            </a:pPr>
            <a:r>
              <a:rPr sz="1400" b="1" i="0">
                <a:solidFill>
                  <a:srgbClr val="14150F"/>
                </a:solidFill>
              </a:rPr>
              <a:t>Memento</a:t>
            </a:r>
            <a:r>
              <a:rPr sz="1200" b="0" i="0">
                <a:solidFill>
                  <a:srgbClr val="66665A"/>
                </a:solidFill>
              </a:rPr>
              <a:t>  Snapshot saved to history for undo</a:t>
            </a:r>
          </a:p>
        </p:txBody>
      </p:sp>
      <p:sp>
        <p:nvSpPr>
          <p:cNvPr id="16" name="Flow row"/>
          <p:cNvSpPr/>
          <p:nvPr/>
        </p:nvSpPr>
        <p:spPr>
          <a:xfrm>
            <a:off x="548640" y="3493007"/>
            <a:ext cx="5852160" cy="56692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con circle"/>
          <p:cNvSpPr/>
          <p:nvPr/>
        </p:nvSpPr>
        <p:spPr>
          <a:xfrm>
            <a:off x="658368" y="3575303"/>
            <a:ext cx="402336" cy="402336"/>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Icon FaLayerGroup" descr="FaLayerGroup_w.png"/>
          <p:cNvPicPr>
            <a:picLocks noChangeAspect="1"/>
          </p:cNvPicPr>
          <p:nvPr/>
        </p:nvPicPr>
        <p:blipFill>
          <a:blip r:embed="rId6"/>
          <a:stretch>
            <a:fillRect/>
          </a:stretch>
        </p:blipFill>
        <p:spPr>
          <a:xfrm>
            <a:off x="754928" y="3671864"/>
            <a:ext cx="209214" cy="209214"/>
          </a:xfrm>
          <a:prstGeom prst="rect">
            <a:avLst/>
          </a:prstGeom>
        </p:spPr>
      </p:pic>
      <p:sp>
        <p:nvSpPr>
          <p:cNvPr id="19" name="Flow text"/>
          <p:cNvSpPr txBox="1"/>
          <p:nvPr/>
        </p:nvSpPr>
        <p:spPr>
          <a:xfrm>
            <a:off x="1234440" y="3511295"/>
            <a:ext cx="5074920" cy="530352"/>
          </a:xfrm>
          <a:prstGeom prst="rect">
            <a:avLst/>
          </a:prstGeom>
          <a:noFill/>
        </p:spPr>
        <p:txBody>
          <a:bodyPr wrap="square" lIns="0" rIns="0" tIns="0" bIns="0" anchor="ctr">
            <a:spAutoFit/>
          </a:bodyPr>
          <a:lstStyle/>
          <a:p>
            <a:pPr>
              <a:spcAft>
                <a:spcPts val="0"/>
              </a:spcAft>
            </a:pPr>
            <a:r>
              <a:rPr sz="1400" b="1" i="0">
                <a:solidFill>
                  <a:srgbClr val="14150F"/>
                </a:solidFill>
              </a:rPr>
              <a:t>State</a:t>
            </a:r>
            <a:r>
              <a:rPr sz="1200" b="0" i="0">
                <a:solidFill>
                  <a:srgbClr val="66665A"/>
                </a:solidFill>
              </a:rPr>
              <a:t>  The case stays In Progress while escalate() runs</a:t>
            </a:r>
          </a:p>
        </p:txBody>
      </p:sp>
      <p:sp>
        <p:nvSpPr>
          <p:cNvPr id="20" name="Flow row"/>
          <p:cNvSpPr/>
          <p:nvPr/>
        </p:nvSpPr>
        <p:spPr>
          <a:xfrm>
            <a:off x="548640" y="4133087"/>
            <a:ext cx="5852160" cy="56692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con circle"/>
          <p:cNvSpPr/>
          <p:nvPr/>
        </p:nvSpPr>
        <p:spPr>
          <a:xfrm>
            <a:off x="658368" y="4215383"/>
            <a:ext cx="402336" cy="402336"/>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Icon FaCodeBranch" descr="FaCodeBranch_w.png"/>
          <p:cNvPicPr>
            <a:picLocks noChangeAspect="1"/>
          </p:cNvPicPr>
          <p:nvPr/>
        </p:nvPicPr>
        <p:blipFill>
          <a:blip r:embed="rId7"/>
          <a:stretch>
            <a:fillRect/>
          </a:stretch>
        </p:blipFill>
        <p:spPr>
          <a:xfrm>
            <a:off x="754928" y="4311944"/>
            <a:ext cx="209214" cy="209214"/>
          </a:xfrm>
          <a:prstGeom prst="rect">
            <a:avLst/>
          </a:prstGeom>
        </p:spPr>
      </p:pic>
      <p:sp>
        <p:nvSpPr>
          <p:cNvPr id="23" name="Flow text"/>
          <p:cNvSpPr txBox="1"/>
          <p:nvPr/>
        </p:nvSpPr>
        <p:spPr>
          <a:xfrm>
            <a:off x="1234440" y="4151375"/>
            <a:ext cx="5074920" cy="530352"/>
          </a:xfrm>
          <a:prstGeom prst="rect">
            <a:avLst/>
          </a:prstGeom>
          <a:noFill/>
        </p:spPr>
        <p:txBody>
          <a:bodyPr wrap="square" lIns="0" rIns="0" tIns="0" bIns="0" anchor="ctr">
            <a:spAutoFit/>
          </a:bodyPr>
          <a:lstStyle/>
          <a:p>
            <a:pPr>
              <a:spcAft>
                <a:spcPts val="0"/>
              </a:spcAft>
            </a:pPr>
            <a:r>
              <a:rPr sz="1400" b="1" i="0">
                <a:solidFill>
                  <a:srgbClr val="14150F"/>
                </a:solidFill>
              </a:rPr>
              <a:t>Chain of Responsibility</a:t>
            </a:r>
            <a:r>
              <a:rPr sz="1200" b="0" i="0">
                <a:solidFill>
                  <a:srgbClr val="66665A"/>
                </a:solidFill>
              </a:rPr>
              <a:t>  Passes up until a handler can act</a:t>
            </a:r>
          </a:p>
        </p:txBody>
      </p:sp>
      <p:sp>
        <p:nvSpPr>
          <p:cNvPr id="24" name="Flow row"/>
          <p:cNvSpPr/>
          <p:nvPr/>
        </p:nvSpPr>
        <p:spPr>
          <a:xfrm>
            <a:off x="548640" y="4773168"/>
            <a:ext cx="5852160" cy="56692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con circle"/>
          <p:cNvSpPr/>
          <p:nvPr/>
        </p:nvSpPr>
        <p:spPr>
          <a:xfrm>
            <a:off x="658368" y="4855464"/>
            <a:ext cx="402336" cy="402336"/>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Icon FaBell" descr="FaBell_w.png"/>
          <p:cNvPicPr>
            <a:picLocks noChangeAspect="1"/>
          </p:cNvPicPr>
          <p:nvPr/>
        </p:nvPicPr>
        <p:blipFill>
          <a:blip r:embed="rId8"/>
          <a:stretch>
            <a:fillRect/>
          </a:stretch>
        </p:blipFill>
        <p:spPr>
          <a:xfrm>
            <a:off x="754928" y="4952024"/>
            <a:ext cx="209214" cy="209214"/>
          </a:xfrm>
          <a:prstGeom prst="rect">
            <a:avLst/>
          </a:prstGeom>
        </p:spPr>
      </p:pic>
      <p:sp>
        <p:nvSpPr>
          <p:cNvPr id="27" name="Flow text"/>
          <p:cNvSpPr txBox="1"/>
          <p:nvPr/>
        </p:nvSpPr>
        <p:spPr>
          <a:xfrm>
            <a:off x="1234440" y="4791455"/>
            <a:ext cx="5074920" cy="530352"/>
          </a:xfrm>
          <a:prstGeom prst="rect">
            <a:avLst/>
          </a:prstGeom>
          <a:noFill/>
        </p:spPr>
        <p:txBody>
          <a:bodyPr wrap="square" lIns="0" rIns="0" tIns="0" bIns="0" anchor="ctr">
            <a:spAutoFit/>
          </a:bodyPr>
          <a:lstStyle/>
          <a:p>
            <a:pPr>
              <a:spcAft>
                <a:spcPts val="0"/>
              </a:spcAft>
            </a:pPr>
            <a:r>
              <a:rPr sz="1400" b="1" i="0">
                <a:solidFill>
                  <a:srgbClr val="14150F"/>
                </a:solidFill>
              </a:rPr>
              <a:t>Observer</a:t>
            </a:r>
            <a:r>
              <a:rPr sz="1200" b="0" i="0">
                <a:solidFill>
                  <a:srgbClr val="66665A"/>
                </a:solidFill>
              </a:rPr>
              <a:t>  History and notification observers update</a:t>
            </a:r>
          </a:p>
        </p:txBody>
      </p:sp>
      <p:sp>
        <p:nvSpPr>
          <p:cNvPr id="28" name="Flow row"/>
          <p:cNvSpPr/>
          <p:nvPr/>
        </p:nvSpPr>
        <p:spPr>
          <a:xfrm>
            <a:off x="548640" y="5413247"/>
            <a:ext cx="5852160" cy="566928"/>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con circle"/>
          <p:cNvSpPr/>
          <p:nvPr/>
        </p:nvSpPr>
        <p:spPr>
          <a:xfrm>
            <a:off x="658368" y="5495543"/>
            <a:ext cx="402336" cy="402336"/>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Icon FaEnvelope" descr="FaEnvelope_w.png"/>
          <p:cNvPicPr>
            <a:picLocks noChangeAspect="1"/>
          </p:cNvPicPr>
          <p:nvPr/>
        </p:nvPicPr>
        <p:blipFill>
          <a:blip r:embed="rId9"/>
          <a:stretch>
            <a:fillRect/>
          </a:stretch>
        </p:blipFill>
        <p:spPr>
          <a:xfrm>
            <a:off x="754928" y="5592104"/>
            <a:ext cx="209214" cy="209214"/>
          </a:xfrm>
          <a:prstGeom prst="rect">
            <a:avLst/>
          </a:prstGeom>
        </p:spPr>
      </p:pic>
      <p:sp>
        <p:nvSpPr>
          <p:cNvPr id="31" name="Flow text"/>
          <p:cNvSpPr txBox="1"/>
          <p:nvPr/>
        </p:nvSpPr>
        <p:spPr>
          <a:xfrm>
            <a:off x="1234440" y="5431535"/>
            <a:ext cx="5074920" cy="530352"/>
          </a:xfrm>
          <a:prstGeom prst="rect">
            <a:avLst/>
          </a:prstGeom>
          <a:noFill/>
        </p:spPr>
        <p:txBody>
          <a:bodyPr wrap="square" lIns="0" rIns="0" tIns="0" bIns="0" anchor="ctr">
            <a:spAutoFit/>
          </a:bodyPr>
          <a:lstStyle/>
          <a:p>
            <a:pPr>
              <a:spcAft>
                <a:spcPts val="0"/>
              </a:spcAft>
            </a:pPr>
            <a:r>
              <a:rPr sz="1400" b="1" i="0">
                <a:solidFill>
                  <a:srgbClr val="14150F"/>
                </a:solidFill>
              </a:rPr>
              <a:t>Adapter</a:t>
            </a:r>
            <a:r>
              <a:rPr sz="1200" b="0" i="0">
                <a:solidFill>
                  <a:srgbClr val="66665A"/>
                </a:solidFill>
              </a:rPr>
              <a:t>  EmailAdapter calls the external email service</a:t>
            </a:r>
          </a:p>
        </p:txBody>
      </p:sp>
      <p:sp>
        <p:nvSpPr>
          <p:cNvPr id="32" name="Image placeholder"/>
          <p:cNvSpPr/>
          <p:nvPr/>
        </p:nvSpPr>
        <p:spPr>
          <a:xfrm>
            <a:off x="6629400" y="1572768"/>
            <a:ext cx="5010912" cy="4407408"/>
          </a:xfrm>
          <a:prstGeom prst="roundRect">
            <a:avLst>
              <a:gd name="adj" fmla="val 2000"/>
            </a:avLst>
          </a:prstGeom>
          <a:solidFill>
            <a:srgbClr val="F7F7F2"/>
          </a:solidFill>
          <a:ln w="19050">
            <a:solidFill>
              <a:srgbClr val="5E5E3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ctr">
              <a:spcAft>
                <a:spcPts val="600"/>
              </a:spcAft>
            </a:pPr>
            <a:r>
              <a:rPr sz="2200" b="1" i="0">
                <a:solidFill>
                  <a:srgbClr val="5E5E38"/>
                </a:solidFill>
              </a:rPr>
              <a:t>Insert image here</a:t>
            </a:r>
          </a:p>
          <a:p>
            <a:pPr algn="ctr">
              <a:spcAft>
                <a:spcPts val="0"/>
              </a:spcAft>
            </a:pPr>
            <a:r>
              <a:rPr sz="1400" b="0" i="0">
                <a:solidFill>
                  <a:srgbClr val="66665A"/>
                </a:solidFill>
              </a:rPr>
              <a:t>UML sequence diagram: escalating a complaint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UML class diagram</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04 · DESIGN</a:t>
            </a:r>
          </a:p>
        </p:txBody>
      </p:sp>
      <p:sp>
        <p:nvSpPr>
          <p:cNvPr id="4" name="Image placeholder"/>
          <p:cNvSpPr/>
          <p:nvPr/>
        </p:nvSpPr>
        <p:spPr>
          <a:xfrm>
            <a:off x="548640" y="1572768"/>
            <a:ext cx="11091672" cy="4160520"/>
          </a:xfrm>
          <a:prstGeom prst="roundRect">
            <a:avLst>
              <a:gd name="adj" fmla="val 2000"/>
            </a:avLst>
          </a:prstGeom>
          <a:solidFill>
            <a:srgbClr val="F7F7F2"/>
          </a:solidFill>
          <a:ln w="19050">
            <a:solidFill>
              <a:srgbClr val="5E5E3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ctr">
              <a:spcAft>
                <a:spcPts val="600"/>
              </a:spcAft>
            </a:pPr>
            <a:r>
              <a:rPr sz="2200" b="1" i="0">
                <a:solidFill>
                  <a:srgbClr val="5E5E38"/>
                </a:solidFill>
              </a:rPr>
              <a:t>Insert image here</a:t>
            </a:r>
          </a:p>
          <a:p>
            <a:pPr algn="ctr">
              <a:spcAft>
                <a:spcPts val="400"/>
              </a:spcAft>
            </a:pPr>
            <a:r>
              <a:rPr sz="1400" b="0" i="0">
                <a:solidFill>
                  <a:srgbClr val="66665A"/>
                </a:solidFill>
              </a:rPr>
              <a:t>Complete UML class diagram with colour legend</a:t>
            </a:r>
          </a:p>
          <a:p>
            <a:pPr algn="ctr">
              <a:spcAft>
                <a:spcPts val="0"/>
              </a:spcAft>
            </a:pPr>
            <a:r>
              <a:rPr sz="1200" b="0" i="1">
                <a:solidFill>
                  <a:srgbClr val="66665A"/>
                </a:solidFill>
              </a:rPr>
              <a:t>Export from the Visual Paradigm project</a:t>
            </a:r>
          </a:p>
        </p:txBody>
      </p:sp>
      <p:sp>
        <p:nvSpPr>
          <p:cNvPr id="5" name="Caption"/>
          <p:cNvSpPr txBox="1"/>
          <p:nvPr/>
        </p:nvSpPr>
        <p:spPr>
          <a:xfrm>
            <a:off x="548640" y="5852160"/>
            <a:ext cx="11091672" cy="457200"/>
          </a:xfrm>
          <a:prstGeom prst="rect">
            <a:avLst/>
          </a:prstGeom>
          <a:noFill/>
        </p:spPr>
        <p:txBody>
          <a:bodyPr wrap="square" lIns="0" rIns="0" tIns="0" bIns="0" anchor="t">
            <a:spAutoFit/>
          </a:bodyPr>
          <a:lstStyle/>
          <a:p>
            <a:pPr>
              <a:spcAft>
                <a:spcPts val="0"/>
              </a:spcAft>
            </a:pPr>
            <a:r>
              <a:rPr sz="1300" b="0" i="0">
                <a:solidFill>
                  <a:srgbClr val="66665A"/>
                </a:solidFill>
              </a:rPr>
              <a:t>Colours mark pattern collaborations and subsystems; a class can take part in more than one.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Runtime behaviour</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04 · DESIGN</a:t>
            </a:r>
          </a:p>
        </p:txBody>
      </p:sp>
      <p:sp>
        <p:nvSpPr>
          <p:cNvPr id="4" name="Image placeholder"/>
          <p:cNvSpPr/>
          <p:nvPr/>
        </p:nvSpPr>
        <p:spPr>
          <a:xfrm>
            <a:off x="548640" y="1572768"/>
            <a:ext cx="5029200" cy="4206240"/>
          </a:xfrm>
          <a:prstGeom prst="roundRect">
            <a:avLst>
              <a:gd name="adj" fmla="val 2000"/>
            </a:avLst>
          </a:prstGeom>
          <a:solidFill>
            <a:srgbClr val="F7F7F2"/>
          </a:solidFill>
          <a:ln w="19050">
            <a:solidFill>
              <a:srgbClr val="5E5E3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ctr">
              <a:spcAft>
                <a:spcPts val="600"/>
              </a:spcAft>
            </a:pPr>
            <a:r>
              <a:rPr sz="2200" b="1" i="0">
                <a:solidFill>
                  <a:srgbClr val="5E5E38"/>
                </a:solidFill>
              </a:rPr>
              <a:t>Insert image here</a:t>
            </a:r>
          </a:p>
          <a:p>
            <a:pPr algn="ctr">
              <a:spcAft>
                <a:spcPts val="400"/>
              </a:spcAft>
            </a:pPr>
            <a:r>
              <a:rPr sz="1400" b="0" i="0">
                <a:solidFill>
                  <a:srgbClr val="66665A"/>
                </a:solidFill>
              </a:rPr>
              <a:t>UML state diagram</a:t>
            </a:r>
          </a:p>
          <a:p>
            <a:pPr algn="ctr">
              <a:spcAft>
                <a:spcPts val="0"/>
              </a:spcAft>
            </a:pPr>
            <a:r>
              <a:rPr sz="1200" b="0" i="1">
                <a:solidFill>
                  <a:srgbClr val="66665A"/>
                </a:solidFill>
              </a:rPr>
              <a:t>WorkflowInstance lifecycle</a:t>
            </a:r>
          </a:p>
        </p:txBody>
      </p:sp>
      <p:sp>
        <p:nvSpPr>
          <p:cNvPr id="5" name="Image placeholder"/>
          <p:cNvSpPr/>
          <p:nvPr/>
        </p:nvSpPr>
        <p:spPr>
          <a:xfrm>
            <a:off x="5806440" y="1572768"/>
            <a:ext cx="5833872" cy="2011680"/>
          </a:xfrm>
          <a:prstGeom prst="roundRect">
            <a:avLst>
              <a:gd name="adj" fmla="val 2000"/>
            </a:avLst>
          </a:prstGeom>
          <a:solidFill>
            <a:srgbClr val="F7F7F2"/>
          </a:solidFill>
          <a:ln w="19050">
            <a:solidFill>
              <a:srgbClr val="5E5E3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ctr">
              <a:spcAft>
                <a:spcPts val="600"/>
              </a:spcAft>
            </a:pPr>
            <a:r>
              <a:rPr sz="2200" b="1" i="0">
                <a:solidFill>
                  <a:srgbClr val="5E5E38"/>
                </a:solidFill>
              </a:rPr>
              <a:t>Insert image here</a:t>
            </a:r>
          </a:p>
          <a:p>
            <a:pPr algn="ctr">
              <a:spcAft>
                <a:spcPts val="400"/>
              </a:spcAft>
            </a:pPr>
            <a:r>
              <a:rPr sz="1400" b="0" i="0">
                <a:solidFill>
                  <a:srgbClr val="66665A"/>
                </a:solidFill>
              </a:rPr>
              <a:t>UML sequence diagram</a:t>
            </a:r>
          </a:p>
          <a:p>
            <a:pPr algn="ctr">
              <a:spcAft>
                <a:spcPts val="0"/>
              </a:spcAft>
            </a:pPr>
            <a:r>
              <a:rPr sz="1200" b="0" i="1">
                <a:solidFill>
                  <a:srgbClr val="66665A"/>
                </a:solidFill>
              </a:rPr>
              <a:t>Completing a work item</a:t>
            </a:r>
          </a:p>
        </p:txBody>
      </p:sp>
      <p:sp>
        <p:nvSpPr>
          <p:cNvPr id="6" name="Image placeholder"/>
          <p:cNvSpPr/>
          <p:nvPr/>
        </p:nvSpPr>
        <p:spPr>
          <a:xfrm>
            <a:off x="5806440" y="3767328"/>
            <a:ext cx="5833872" cy="2011680"/>
          </a:xfrm>
          <a:prstGeom prst="roundRect">
            <a:avLst>
              <a:gd name="adj" fmla="val 2000"/>
            </a:avLst>
          </a:prstGeom>
          <a:solidFill>
            <a:srgbClr val="F7F7F2"/>
          </a:solidFill>
          <a:ln w="19050">
            <a:solidFill>
              <a:srgbClr val="5E5E3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ctr">
              <a:spcAft>
                <a:spcPts val="600"/>
              </a:spcAft>
            </a:pPr>
            <a:r>
              <a:rPr sz="2200" b="1" i="0">
                <a:solidFill>
                  <a:srgbClr val="5E5E38"/>
                </a:solidFill>
              </a:rPr>
              <a:t>Insert image here</a:t>
            </a:r>
          </a:p>
          <a:p>
            <a:pPr algn="ctr">
              <a:spcAft>
                <a:spcPts val="400"/>
              </a:spcAft>
            </a:pPr>
            <a:r>
              <a:rPr sz="1400" b="0" i="0">
                <a:solidFill>
                  <a:srgbClr val="66665A"/>
                </a:solidFill>
              </a:rPr>
              <a:t>UML sequence diagram</a:t>
            </a:r>
          </a:p>
          <a:p>
            <a:pPr algn="ctr">
              <a:spcAft>
                <a:spcPts val="0"/>
              </a:spcAft>
            </a:pPr>
            <a:r>
              <a:rPr sz="1200" b="0" i="1">
                <a:solidFill>
                  <a:srgbClr val="66665A"/>
                </a:solidFill>
              </a:rPr>
              <a:t>Escalating a case</a:t>
            </a:r>
          </a:p>
        </p:txBody>
      </p:sp>
      <p:sp>
        <p:nvSpPr>
          <p:cNvPr id="7" name="Caption"/>
          <p:cNvSpPr txBox="1"/>
          <p:nvPr/>
        </p:nvSpPr>
        <p:spPr>
          <a:xfrm>
            <a:off x="548640" y="5870448"/>
            <a:ext cx="11091672" cy="457200"/>
          </a:xfrm>
          <a:prstGeom prst="rect">
            <a:avLst/>
          </a:prstGeom>
          <a:noFill/>
        </p:spPr>
        <p:txBody>
          <a:bodyPr wrap="square" lIns="0" rIns="0" tIns="0" bIns="0" anchor="t">
            <a:spAutoFit/>
          </a:bodyPr>
          <a:lstStyle/>
          <a:p>
            <a:pPr>
              <a:spcAft>
                <a:spcPts val="0"/>
              </a:spcAft>
            </a:pPr>
            <a:r>
              <a:rPr sz="1300" b="0" i="0">
                <a:solidFill>
                  <a:srgbClr val="66665A"/>
                </a:solidFill>
              </a:rPr>
              <a:t>Lifecycle: Submitted → Active → In Progress → Resolved or Closed. Escalation happens inside In Progress.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Design decisions and revisions</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04 · DESIGN</a:t>
            </a:r>
          </a:p>
        </p:txBody>
      </p:sp>
      <p:sp>
        <p:nvSpPr>
          <p:cNvPr id="4" name="Decision card"/>
          <p:cNvSpPr/>
          <p:nvPr/>
        </p:nvSpPr>
        <p:spPr>
          <a:xfrm>
            <a:off x="548640" y="1572768"/>
            <a:ext cx="5454396"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ecision text"/>
          <p:cNvSpPr txBox="1"/>
          <p:nvPr/>
        </p:nvSpPr>
        <p:spPr>
          <a:xfrm>
            <a:off x="777240" y="1737360"/>
            <a:ext cx="4983480" cy="1920240"/>
          </a:xfrm>
          <a:prstGeom prst="rect">
            <a:avLst/>
          </a:prstGeom>
          <a:noFill/>
        </p:spPr>
        <p:txBody>
          <a:bodyPr wrap="square" lIns="0" rIns="0" tIns="0" bIns="0" anchor="t">
            <a:spAutoFit/>
          </a:bodyPr>
          <a:lstStyle/>
          <a:p>
            <a:pPr>
              <a:spcAft>
                <a:spcPts val="600"/>
              </a:spcAft>
            </a:pPr>
            <a:r>
              <a:rPr sz="1700" b="1" i="0">
                <a:solidFill>
                  <a:srgbClr val="14150F"/>
                </a:solidFill>
              </a:rPr>
              <a:t>State moved to WorkflowInstance</a:t>
            </a:r>
          </a:p>
          <a:p>
            <a:pPr>
              <a:spcAft>
                <a:spcPts val="300"/>
              </a:spcAft>
            </a:pPr>
            <a:r>
              <a:rPr sz="1400" b="1" i="0">
                <a:solidFill>
                  <a:srgbClr val="5E5E38"/>
                </a:solidFill>
              </a:rPr>
              <a:t>Before:</a:t>
            </a:r>
            <a:r>
              <a:rPr sz="1400" b="0" i="0">
                <a:solidFill>
                  <a:srgbClr val="14150F"/>
                </a:solidFill>
              </a:rPr>
              <a:t> State applied to each WorkItem.</a:t>
            </a:r>
          </a:p>
          <a:p>
            <a:pPr>
              <a:spcAft>
                <a:spcPts val="300"/>
              </a:spcAft>
            </a:pPr>
            <a:r>
              <a:rPr sz="1400" b="1" i="0">
                <a:solidFill>
                  <a:srgbClr val="5E5E38"/>
                </a:solidFill>
              </a:rPr>
              <a:t>After:</a:t>
            </a:r>
            <a:r>
              <a:rPr sz="1400" b="0" i="0">
                <a:solidFill>
                  <a:srgbClr val="14150F"/>
                </a:solidFill>
              </a:rPr>
              <a:t> Submitted, Active, In Progress, Resolved and Closed states on the instance.</a:t>
            </a:r>
          </a:p>
          <a:p>
            <a:pPr>
              <a:spcAft>
                <a:spcPts val="0"/>
              </a:spcAft>
            </a:pPr>
            <a:r>
              <a:rPr sz="1400" b="1" i="0">
                <a:solidFill>
                  <a:srgbClr val="5E5E38"/>
                </a:solidFill>
              </a:rPr>
              <a:t>Why:</a:t>
            </a:r>
            <a:r>
              <a:rPr sz="1400" b="0" i="0">
                <a:solidFill>
                  <a:srgbClr val="14150F"/>
                </a:solidFill>
              </a:rPr>
              <a:t> these describe the whole case, not one task.</a:t>
            </a:r>
          </a:p>
        </p:txBody>
      </p:sp>
      <p:sp>
        <p:nvSpPr>
          <p:cNvPr id="6" name="Decision card"/>
          <p:cNvSpPr/>
          <p:nvPr/>
        </p:nvSpPr>
        <p:spPr>
          <a:xfrm>
            <a:off x="6185916" y="1572768"/>
            <a:ext cx="5454396"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ecision text"/>
          <p:cNvSpPr txBox="1"/>
          <p:nvPr/>
        </p:nvSpPr>
        <p:spPr>
          <a:xfrm>
            <a:off x="6414516" y="1737360"/>
            <a:ext cx="4983480" cy="1920240"/>
          </a:xfrm>
          <a:prstGeom prst="rect">
            <a:avLst/>
          </a:prstGeom>
          <a:noFill/>
        </p:spPr>
        <p:txBody>
          <a:bodyPr wrap="square" lIns="0" rIns="0" tIns="0" bIns="0" anchor="t">
            <a:spAutoFit/>
          </a:bodyPr>
          <a:lstStyle/>
          <a:p>
            <a:pPr>
              <a:spcAft>
                <a:spcPts val="600"/>
              </a:spcAft>
            </a:pPr>
            <a:r>
              <a:rPr sz="1700" b="1" i="0">
                <a:solidFill>
                  <a:srgbClr val="14150F"/>
                </a:solidFill>
              </a:rPr>
              <a:t>EscalatedState removed</a:t>
            </a:r>
          </a:p>
          <a:p>
            <a:pPr>
              <a:spcAft>
                <a:spcPts val="300"/>
              </a:spcAft>
            </a:pPr>
            <a:r>
              <a:rPr sz="1400" b="1" i="0">
                <a:solidFill>
                  <a:srgbClr val="5E5E38"/>
                </a:solidFill>
              </a:rPr>
              <a:t>Before:</a:t>
            </a:r>
            <a:r>
              <a:rPr sz="1400" b="0" i="0">
                <a:solidFill>
                  <a:srgbClr val="14150F"/>
                </a:solidFill>
              </a:rPr>
              <a:t> In Progress → Escalated → In Progress.</a:t>
            </a:r>
          </a:p>
          <a:p>
            <a:pPr>
              <a:spcAft>
                <a:spcPts val="300"/>
              </a:spcAft>
            </a:pPr>
            <a:r>
              <a:rPr sz="1400" b="1" i="0">
                <a:solidFill>
                  <a:srgbClr val="5E5E38"/>
                </a:solidFill>
              </a:rPr>
              <a:t>After:</a:t>
            </a:r>
            <a:r>
              <a:rPr sz="1400" b="0" i="0">
                <a:solidFill>
                  <a:srgbClr val="14150F"/>
                </a:solidFill>
              </a:rPr>
              <a:t> escalate() runs the handler chain; the case stays In Progress.</a:t>
            </a:r>
          </a:p>
          <a:p>
            <a:pPr>
              <a:spcAft>
                <a:spcPts val="0"/>
              </a:spcAft>
            </a:pPr>
            <a:r>
              <a:rPr sz="1400" b="1" i="0">
                <a:solidFill>
                  <a:srgbClr val="5E5E38"/>
                </a:solidFill>
              </a:rPr>
              <a:t>Why:</a:t>
            </a:r>
            <a:r>
              <a:rPr sz="1400" b="0" i="0">
                <a:solidFill>
                  <a:srgbClr val="14150F"/>
                </a:solidFill>
              </a:rPr>
              <a:t> escalation changes who handles the case, not its lifecycle.</a:t>
            </a:r>
          </a:p>
        </p:txBody>
      </p:sp>
      <p:sp>
        <p:nvSpPr>
          <p:cNvPr id="8" name="Decision card"/>
          <p:cNvSpPr/>
          <p:nvPr/>
        </p:nvSpPr>
        <p:spPr>
          <a:xfrm>
            <a:off x="548640" y="3904487"/>
            <a:ext cx="5454396"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ecision text"/>
          <p:cNvSpPr txBox="1"/>
          <p:nvPr/>
        </p:nvSpPr>
        <p:spPr>
          <a:xfrm>
            <a:off x="777240" y="4069079"/>
            <a:ext cx="4983480" cy="1920240"/>
          </a:xfrm>
          <a:prstGeom prst="rect">
            <a:avLst/>
          </a:prstGeom>
          <a:noFill/>
        </p:spPr>
        <p:txBody>
          <a:bodyPr wrap="square" lIns="0" rIns="0" tIns="0" bIns="0" anchor="t">
            <a:spAutoFit/>
          </a:bodyPr>
          <a:lstStyle/>
          <a:p>
            <a:pPr>
              <a:spcAft>
                <a:spcPts val="600"/>
              </a:spcAft>
            </a:pPr>
            <a:r>
              <a:rPr sz="1700" b="1" i="0">
                <a:solidFill>
                  <a:srgbClr val="14150F"/>
                </a:solidFill>
              </a:rPr>
              <a:t>Role gained behaviour</a:t>
            </a:r>
          </a:p>
          <a:p>
            <a:pPr>
              <a:spcAft>
                <a:spcPts val="300"/>
              </a:spcAft>
            </a:pPr>
            <a:r>
              <a:rPr sz="1400" b="1" i="0">
                <a:solidFill>
                  <a:srgbClr val="5E5E38"/>
                </a:solidFill>
              </a:rPr>
              <a:t>Before:</a:t>
            </a:r>
            <a:r>
              <a:rPr sz="1400" b="0" i="0">
                <a:solidFill>
                  <a:srgbClr val="14150F"/>
                </a:solidFill>
              </a:rPr>
              <a:t> Role held only a name.</a:t>
            </a:r>
          </a:p>
          <a:p>
            <a:pPr>
              <a:spcAft>
                <a:spcPts val="300"/>
              </a:spcAft>
            </a:pPr>
            <a:r>
              <a:rPr sz="1400" b="1" i="0">
                <a:solidFill>
                  <a:srgbClr val="5E5E38"/>
                </a:solidFill>
              </a:rPr>
              <a:t>After:</a:t>
            </a:r>
            <a:r>
              <a:rPr sz="1400" b="0" i="0">
                <a:solidFill>
                  <a:srgbClr val="14150F"/>
                </a:solidFill>
              </a:rPr>
              <a:t> configureRole&lt;T&gt;() sets Junior, Intermediate or Senior authority.</a:t>
            </a:r>
          </a:p>
          <a:p>
            <a:pPr>
              <a:spcAft>
                <a:spcPts val="0"/>
              </a:spcAft>
            </a:pPr>
            <a:r>
              <a:rPr sz="1400" b="1" i="0">
                <a:solidFill>
                  <a:srgbClr val="5E5E38"/>
                </a:solidFill>
              </a:rPr>
              <a:t>Why:</a:t>
            </a:r>
            <a:r>
              <a:rPr sz="1400" b="0" i="0">
                <a:solidFill>
                  <a:srgbClr val="14150F"/>
                </a:solidFill>
              </a:rPr>
              <a:t> authority levels are reusable across organisations.</a:t>
            </a:r>
          </a:p>
        </p:txBody>
      </p:sp>
      <p:sp>
        <p:nvSpPr>
          <p:cNvPr id="10" name="Decision card"/>
          <p:cNvSpPr/>
          <p:nvPr/>
        </p:nvSpPr>
        <p:spPr>
          <a:xfrm>
            <a:off x="6185916" y="3904487"/>
            <a:ext cx="5454396"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cision text"/>
          <p:cNvSpPr txBox="1"/>
          <p:nvPr/>
        </p:nvSpPr>
        <p:spPr>
          <a:xfrm>
            <a:off x="6414516" y="4069079"/>
            <a:ext cx="4983480" cy="1920240"/>
          </a:xfrm>
          <a:prstGeom prst="rect">
            <a:avLst/>
          </a:prstGeom>
          <a:noFill/>
        </p:spPr>
        <p:txBody>
          <a:bodyPr wrap="square" lIns="0" rIns="0" tIns="0" bIns="0" anchor="t">
            <a:spAutoFit/>
          </a:bodyPr>
          <a:lstStyle/>
          <a:p>
            <a:pPr>
              <a:spcAft>
                <a:spcPts val="600"/>
              </a:spcAft>
            </a:pPr>
            <a:r>
              <a:rPr sz="1700" b="1" i="0">
                <a:solidFill>
                  <a:srgbClr val="14150F"/>
                </a:solidFill>
              </a:rPr>
              <a:t>Diagrams realigned</a:t>
            </a:r>
          </a:p>
          <a:p>
            <a:pPr>
              <a:spcAft>
                <a:spcPts val="300"/>
              </a:spcAft>
            </a:pPr>
            <a:r>
              <a:rPr sz="1400" b="1" i="0">
                <a:solidFill>
                  <a:srgbClr val="5E5E38"/>
                </a:solidFill>
              </a:rPr>
              <a:t>Before:</a:t>
            </a:r>
            <a:r>
              <a:rPr sz="1400" b="0" i="0">
                <a:solidFill>
                  <a:srgbClr val="14150F"/>
                </a:solidFill>
              </a:rPr>
              <a:t> diagrams assumed per-item states and an Escalated node.</a:t>
            </a:r>
          </a:p>
          <a:p>
            <a:pPr>
              <a:spcAft>
                <a:spcPts val="300"/>
              </a:spcAft>
            </a:pPr>
            <a:r>
              <a:rPr sz="1400" b="1" i="0">
                <a:solidFill>
                  <a:srgbClr val="5E5E38"/>
                </a:solidFill>
              </a:rPr>
              <a:t>After:</a:t>
            </a:r>
            <a:r>
              <a:rPr sz="1400" b="0" i="0">
                <a:solidFill>
                  <a:srgbClr val="14150F"/>
                </a:solidFill>
              </a:rPr>
              <a:t> escalation is in-line; guards now come before calls.</a:t>
            </a:r>
          </a:p>
          <a:p>
            <a:pPr>
              <a:spcAft>
                <a:spcPts val="0"/>
              </a:spcAft>
            </a:pPr>
            <a:r>
              <a:rPr sz="1400" b="1" i="0">
                <a:solidFill>
                  <a:srgbClr val="5E5E38"/>
                </a:solidFill>
              </a:rPr>
              <a:t>Why:</a:t>
            </a:r>
            <a:r>
              <a:rPr sz="1400" b="0" i="0">
                <a:solidFill>
                  <a:srgbClr val="14150F"/>
                </a:solidFill>
              </a:rPr>
              <a:t> diagrams must agree with each other and the code.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Freeform 2"/>
          <p:cNvSpPr/>
          <p:nvPr/>
        </p:nvSpPr>
        <p:spPr>
          <a:xfrm flipV="1">
            <a:off x="0" y="-1"/>
            <a:ext cx="12192000" cy="6858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a:duotone>
                <a:prstClr val="black"/>
                <a:srgbClr val="FFFF00">
                  <a:tint val="45000"/>
                  <a:satMod val="400000"/>
                </a:srgbClr>
              </a:duotone>
            </a:blip>
            <a:stretch>
              <a:fillRect t="-1777" b="-1777"/>
            </a:stretch>
          </a:blipFill>
        </p:spPr>
        <p:txBody>
          <a:bodyPr/>
          <a:lstStyle/>
          <a:p>
            <a:endParaRPr lang="en-US" dirty="0"/>
          </a:p>
        </p:txBody>
      </p:sp>
      <p:sp>
        <p:nvSpPr>
          <p:cNvPr id="7" name="Freeform 7"/>
          <p:cNvSpPr/>
          <p:nvPr/>
        </p:nvSpPr>
        <p:spPr>
          <a:xfrm>
            <a:off x="893991" y="578875"/>
            <a:ext cx="705412" cy="961380"/>
          </a:xfrm>
          <a:custGeom>
            <a:avLst/>
            <a:gdLst/>
            <a:ahLst/>
            <a:cxnLst/>
            <a:rect l="l" t="t" r="r" b="b"/>
            <a:pathLst>
              <a:path w="1058118" h="1442069">
                <a:moveTo>
                  <a:pt x="0" y="0"/>
                </a:moveTo>
                <a:lnTo>
                  <a:pt x="1058118" y="0"/>
                </a:lnTo>
                <a:lnTo>
                  <a:pt x="1058118" y="1442070"/>
                </a:lnTo>
                <a:lnTo>
                  <a:pt x="0" y="1442070"/>
                </a:lnTo>
                <a:lnTo>
                  <a:pt x="0" y="0"/>
                </a:lnTo>
                <a:close/>
              </a:path>
            </a:pathLst>
          </a:custGeom>
          <a:blipFill>
            <a:blip r:embed="rId3"/>
            <a:stretch>
              <a:fillRect/>
            </a:stretch>
          </a:blipFill>
        </p:spPr>
        <p:txBody>
          <a:bodyPr/>
          <a:lstStyle/>
          <a:p>
            <a:endParaRPr lang="en-US"/>
          </a:p>
        </p:txBody>
      </p:sp>
      <p:sp>
        <p:nvSpPr>
          <p:cNvPr id="9" name="Freeform 8"/>
          <p:cNvSpPr/>
          <p:nvPr/>
        </p:nvSpPr>
        <p:spPr>
          <a:xfrm>
            <a:off x="10724588" y="578875"/>
            <a:ext cx="705412" cy="961380"/>
          </a:xfrm>
          <a:custGeom>
            <a:avLst/>
            <a:gdLst/>
            <a:ahLst/>
            <a:cxnLst/>
            <a:rect l="l" t="t" r="r" b="b"/>
            <a:pathLst>
              <a:path w="1058118" h="1442069">
                <a:moveTo>
                  <a:pt x="0" y="0"/>
                </a:moveTo>
                <a:lnTo>
                  <a:pt x="1058118" y="0"/>
                </a:lnTo>
                <a:lnTo>
                  <a:pt x="1058118" y="1442070"/>
                </a:lnTo>
                <a:lnTo>
                  <a:pt x="0" y="1442070"/>
                </a:lnTo>
                <a:lnTo>
                  <a:pt x="0" y="0"/>
                </a:lnTo>
                <a:close/>
              </a:path>
            </a:pathLst>
          </a:custGeom>
          <a:blipFill>
            <a:blip r:embed="rId3"/>
            <a:stretch>
              <a:fillRect/>
            </a:stretch>
          </a:blipFill>
        </p:spPr>
        <p:txBody>
          <a:bodyPr/>
          <a:lstStyle/>
          <a:p>
            <a:endParaRPr lang="en-US"/>
          </a:p>
        </p:txBody>
      </p:sp>
      <p:sp>
        <p:nvSpPr>
          <p:cNvPr id="2" name="Title 1"/>
          <p:cNvSpPr>
            <a:spLocks noGrp="1"/>
          </p:cNvSpPr>
          <p:nvPr>
            <p:ph type="ctrTitle"/>
          </p:nvPr>
        </p:nvSpPr>
        <p:spPr>
          <a:xfrm>
            <a:off x="1280160" y="2651760"/>
            <a:ext cx="9628632" cy="1417320"/>
          </a:xfrm>
        </p:spPr>
        <p:txBody>
          <a:bodyPr anchor="t"/>
          <a:lstStyle/>
          <a:p>
            <a:r>
              <a:rPr sz="5400" b="1">
                <a:solidFill>
                  <a:schemeClr val="bg1"/>
                </a:solidFill>
              </a:rPr>
              <a:t>Testing &amp; Engineering</a:t>
            </a:r>
          </a:p>
        </p:txBody>
      </p:sp>
      <p:sp>
        <p:nvSpPr>
          <p:cNvPr id="3" name="Subtitle 2"/>
          <p:cNvSpPr>
            <a:spLocks noGrp="1"/>
          </p:cNvSpPr>
          <p:nvPr>
            <p:ph type="subTitle" idx="1"/>
          </p:nvPr>
        </p:nvSpPr>
        <p:spPr>
          <a:xfrm>
            <a:off x="1280160" y="4251960"/>
            <a:ext cx="9628632" cy="822960"/>
          </a:xfrm>
        </p:spPr>
        <p:txBody>
          <a:bodyPr/>
          <a:lstStyle/>
          <a:p>
            <a:r>
              <a:rPr sz="2000">
                <a:solidFill>
                  <a:srgbClr val="DDDDCB"/>
                </a:solidFill>
              </a:rPr>
              <a:t>Framework-based tests, GitHub evidence and traceability</a:t>
            </a:r>
          </a:p>
        </p:txBody>
      </p:sp>
      <p:sp>
        <p:nvSpPr>
          <p:cNvPr id="10" name="Section number"/>
          <p:cNvSpPr txBox="1"/>
          <p:nvPr/>
        </p:nvSpPr>
        <p:spPr>
          <a:xfrm>
            <a:off x="1280160" y="2148840"/>
            <a:ext cx="9628632" cy="457200"/>
          </a:xfrm>
          <a:prstGeom prst="rect">
            <a:avLst/>
          </a:prstGeom>
          <a:noFill/>
        </p:spPr>
        <p:txBody>
          <a:bodyPr wrap="square" lIns="0" rIns="0" tIns="0" bIns="0" anchor="t">
            <a:spAutoFit/>
          </a:bodyPr>
          <a:lstStyle/>
          <a:p>
            <a:pPr algn="ctr">
              <a:spcAft>
                <a:spcPts val="400"/>
              </a:spcAft>
            </a:pPr>
            <a:r>
              <a:rPr sz="2000" b="1" i="0" spc="400">
                <a:solidFill>
                  <a:srgbClr val="CACA98"/>
                </a:solidFill>
              </a:rPr>
              <a:t>05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Automated testing</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05 · QUALITY</a:t>
            </a:r>
          </a:p>
        </p:txBody>
      </p:sp>
      <p:sp>
        <p:nvSpPr>
          <p:cNvPr id="4" name="Test summary"/>
          <p:cNvSpPr/>
          <p:nvPr/>
        </p:nvSpPr>
        <p:spPr>
          <a:xfrm>
            <a:off x="548640" y="1572768"/>
            <a:ext cx="3291840" cy="4526280"/>
          </a:xfrm>
          <a:prstGeom prst="roundRect">
            <a:avLst>
              <a:gd name="adj" fmla="val 5000"/>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st stats"/>
          <p:cNvSpPr txBox="1"/>
          <p:nvPr/>
        </p:nvSpPr>
        <p:spPr>
          <a:xfrm>
            <a:off x="777240" y="1783080"/>
            <a:ext cx="2834640" cy="4114800"/>
          </a:xfrm>
          <a:prstGeom prst="rect">
            <a:avLst/>
          </a:prstGeom>
          <a:noFill/>
        </p:spPr>
        <p:txBody>
          <a:bodyPr wrap="square" lIns="0" rIns="0" tIns="0" bIns="0" anchor="t">
            <a:spAutoFit/>
          </a:bodyPr>
          <a:lstStyle/>
          <a:p>
            <a:pPr>
              <a:spcAft>
                <a:spcPts val="1000"/>
              </a:spcAft>
            </a:pPr>
            <a:r>
              <a:rPr sz="1100" b="1" i="0" spc="150">
                <a:solidFill>
                  <a:srgbClr val="CACA98"/>
                </a:solidFill>
              </a:rPr>
              <a:t>TEST SUITE</a:t>
            </a:r>
          </a:p>
          <a:p>
            <a:pPr>
              <a:spcAft>
                <a:spcPts val="0"/>
              </a:spcAft>
            </a:pPr>
            <a:r>
              <a:rPr sz="4400" b="1" i="0">
                <a:solidFill>
                  <a:srgbClr val="FFFFFF"/>
                </a:solidFill>
              </a:rPr>
              <a:t>[N]</a:t>
            </a:r>
          </a:p>
          <a:p>
            <a:pPr>
              <a:spcAft>
                <a:spcPts val="1200"/>
              </a:spcAft>
            </a:pPr>
            <a:r>
              <a:rPr sz="1400" b="0" i="0">
                <a:solidFill>
                  <a:srgbClr val="DDDDCB"/>
                </a:solidFill>
              </a:rPr>
              <a:t>tests written</a:t>
            </a:r>
          </a:p>
          <a:p>
            <a:pPr>
              <a:spcAft>
                <a:spcPts val="0"/>
              </a:spcAft>
            </a:pPr>
            <a:r>
              <a:rPr sz="4400" b="1" i="0">
                <a:solidFill>
                  <a:srgbClr val="FFFFFF"/>
                </a:solidFill>
              </a:rPr>
              <a:t>[N]</a:t>
            </a:r>
          </a:p>
          <a:p>
            <a:pPr>
              <a:spcAft>
                <a:spcPts val="1200"/>
              </a:spcAft>
            </a:pPr>
            <a:r>
              <a:rPr sz="1400" b="0" i="0">
                <a:solidFill>
                  <a:srgbClr val="DDDDCB"/>
                </a:solidFill>
              </a:rPr>
              <a:t>passing</a:t>
            </a:r>
          </a:p>
          <a:p>
            <a:pPr>
              <a:spcAft>
                <a:spcPts val="0"/>
              </a:spcAft>
            </a:pPr>
            <a:r>
              <a:rPr sz="1300" b="0" i="0">
                <a:solidFill>
                  <a:srgbClr val="CACA98"/>
                </a:solidFill>
              </a:rPr>
              <a:t>Framework: [GoogleTest / Catch2 / doctest]</a:t>
            </a:r>
          </a:p>
        </p:txBody>
      </p:sp>
      <p:sp>
        <p:nvSpPr>
          <p:cNvPr id="6" name="Test area card"/>
          <p:cNvSpPr/>
          <p:nvPr/>
        </p:nvSpPr>
        <p:spPr>
          <a:xfrm>
            <a:off x="4069080" y="1572768"/>
            <a:ext cx="3730752"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con circle"/>
          <p:cNvSpPr/>
          <p:nvPr/>
        </p:nvSpPr>
        <p:spPr>
          <a:xfrm>
            <a:off x="4297680" y="1801368"/>
            <a:ext cx="512064" cy="512064"/>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Icon FaRoute" descr="FaRoute_w.png"/>
          <p:cNvPicPr>
            <a:picLocks noChangeAspect="1"/>
          </p:cNvPicPr>
          <p:nvPr/>
        </p:nvPicPr>
        <p:blipFill>
          <a:blip r:embed="rId3"/>
          <a:stretch>
            <a:fillRect/>
          </a:stretch>
        </p:blipFill>
        <p:spPr>
          <a:xfrm>
            <a:off x="4420575" y="1924263"/>
            <a:ext cx="266273" cy="266273"/>
          </a:xfrm>
          <a:prstGeom prst="rect">
            <a:avLst/>
          </a:prstGeom>
        </p:spPr>
      </p:pic>
      <p:sp>
        <p:nvSpPr>
          <p:cNvPr id="9" name="Test area text"/>
          <p:cNvSpPr txBox="1"/>
          <p:nvPr/>
        </p:nvSpPr>
        <p:spPr>
          <a:xfrm>
            <a:off x="4297680" y="2468880"/>
            <a:ext cx="3291840" cy="1234440"/>
          </a:xfrm>
          <a:prstGeom prst="rect">
            <a:avLst/>
          </a:prstGeom>
          <a:noFill/>
        </p:spPr>
        <p:txBody>
          <a:bodyPr wrap="square" lIns="0" rIns="0" tIns="0" bIns="0" anchor="t">
            <a:spAutoFit/>
          </a:bodyPr>
          <a:lstStyle/>
          <a:p>
            <a:pPr>
              <a:spcAft>
                <a:spcPts val="300"/>
              </a:spcAft>
            </a:pPr>
            <a:r>
              <a:rPr sz="1700" b="1" i="0">
                <a:solidFill>
                  <a:srgbClr val="14150F"/>
                </a:solidFill>
              </a:rPr>
              <a:t>State transitions</a:t>
            </a:r>
          </a:p>
          <a:p>
            <a:pPr>
              <a:spcAft>
                <a:spcPts val="0"/>
              </a:spcAft>
            </a:pPr>
            <a:r>
              <a:rPr sz="1300" b="0" i="0">
                <a:solidFill>
                  <a:srgbClr val="66665A"/>
                </a:solidFill>
              </a:rPr>
              <a:t>Valid transitions succeed; the lifecycle reaches Resolved or Closed.</a:t>
            </a:r>
          </a:p>
        </p:txBody>
      </p:sp>
      <p:sp>
        <p:nvSpPr>
          <p:cNvPr id="10" name="Test area card"/>
          <p:cNvSpPr/>
          <p:nvPr/>
        </p:nvSpPr>
        <p:spPr>
          <a:xfrm>
            <a:off x="7909560" y="1572768"/>
            <a:ext cx="3730752"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Icon circle"/>
          <p:cNvSpPr/>
          <p:nvPr/>
        </p:nvSpPr>
        <p:spPr>
          <a:xfrm>
            <a:off x="8138160" y="1801368"/>
            <a:ext cx="512064" cy="512064"/>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Icon FaUsers" descr="FaUsers_w.png"/>
          <p:cNvPicPr>
            <a:picLocks noChangeAspect="1"/>
          </p:cNvPicPr>
          <p:nvPr/>
        </p:nvPicPr>
        <p:blipFill>
          <a:blip r:embed="rId4"/>
          <a:stretch>
            <a:fillRect/>
          </a:stretch>
        </p:blipFill>
        <p:spPr>
          <a:xfrm>
            <a:off x="8261055" y="1924263"/>
            <a:ext cx="266273" cy="266273"/>
          </a:xfrm>
          <a:prstGeom prst="rect">
            <a:avLst/>
          </a:prstGeom>
        </p:spPr>
      </p:pic>
      <p:sp>
        <p:nvSpPr>
          <p:cNvPr id="13" name="Test area text"/>
          <p:cNvSpPr txBox="1"/>
          <p:nvPr/>
        </p:nvSpPr>
        <p:spPr>
          <a:xfrm>
            <a:off x="8138160" y="2468880"/>
            <a:ext cx="3291840" cy="1234440"/>
          </a:xfrm>
          <a:prstGeom prst="rect">
            <a:avLst/>
          </a:prstGeom>
          <a:noFill/>
        </p:spPr>
        <p:txBody>
          <a:bodyPr wrap="square" lIns="0" rIns="0" tIns="0" bIns="0" anchor="t">
            <a:spAutoFit/>
          </a:bodyPr>
          <a:lstStyle/>
          <a:p>
            <a:pPr>
              <a:spcAft>
                <a:spcPts val="300"/>
              </a:spcAft>
            </a:pPr>
            <a:r>
              <a:rPr sz="1700" b="1" i="0">
                <a:solidFill>
                  <a:srgbClr val="14150F"/>
                </a:solidFill>
              </a:rPr>
              <a:t>Routing &amp; assignment</a:t>
            </a:r>
          </a:p>
          <a:p>
            <a:pPr>
              <a:spcAft>
                <a:spcPts val="0"/>
              </a:spcAft>
            </a:pPr>
            <a:r>
              <a:rPr sz="1300" b="0" i="0">
                <a:solidFill>
                  <a:srgbClr val="66665A"/>
                </a:solidFill>
              </a:rPr>
              <a:t>Role-based and workload-based strategies pick the right participant.</a:t>
            </a:r>
          </a:p>
        </p:txBody>
      </p:sp>
      <p:sp>
        <p:nvSpPr>
          <p:cNvPr id="14" name="Test area card"/>
          <p:cNvSpPr/>
          <p:nvPr/>
        </p:nvSpPr>
        <p:spPr>
          <a:xfrm>
            <a:off x="4069080" y="3904487"/>
            <a:ext cx="3730752"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con circle"/>
          <p:cNvSpPr/>
          <p:nvPr/>
        </p:nvSpPr>
        <p:spPr>
          <a:xfrm>
            <a:off x="4297680" y="4133087"/>
            <a:ext cx="512064" cy="512064"/>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Icon FaLayerGroup" descr="FaLayerGroup_w.png"/>
          <p:cNvPicPr>
            <a:picLocks noChangeAspect="1"/>
          </p:cNvPicPr>
          <p:nvPr/>
        </p:nvPicPr>
        <p:blipFill>
          <a:blip r:embed="rId5"/>
          <a:stretch>
            <a:fillRect/>
          </a:stretch>
        </p:blipFill>
        <p:spPr>
          <a:xfrm>
            <a:off x="4420575" y="4255983"/>
            <a:ext cx="266273" cy="266273"/>
          </a:xfrm>
          <a:prstGeom prst="rect">
            <a:avLst/>
          </a:prstGeom>
        </p:spPr>
      </p:pic>
      <p:sp>
        <p:nvSpPr>
          <p:cNvPr id="17" name="Test area text"/>
          <p:cNvSpPr txBox="1"/>
          <p:nvPr/>
        </p:nvSpPr>
        <p:spPr>
          <a:xfrm>
            <a:off x="4297680" y="4800600"/>
            <a:ext cx="3291840" cy="1234440"/>
          </a:xfrm>
          <a:prstGeom prst="rect">
            <a:avLst/>
          </a:prstGeom>
          <a:noFill/>
        </p:spPr>
        <p:txBody>
          <a:bodyPr wrap="square" lIns="0" rIns="0" tIns="0" bIns="0" anchor="t">
            <a:spAutoFit/>
          </a:bodyPr>
          <a:lstStyle/>
          <a:p>
            <a:pPr>
              <a:spcAft>
                <a:spcPts val="300"/>
              </a:spcAft>
            </a:pPr>
            <a:r>
              <a:rPr sz="1700" b="1" i="0">
                <a:solidFill>
                  <a:srgbClr val="14150F"/>
                </a:solidFill>
              </a:rPr>
              <a:t>Instance isolation</a:t>
            </a:r>
          </a:p>
          <a:p>
            <a:pPr>
              <a:spcAft>
                <a:spcPts val="0"/>
              </a:spcAft>
            </a:pPr>
            <a:r>
              <a:rPr sz="1300" b="0" i="0">
                <a:solidFill>
                  <a:srgbClr val="66665A"/>
                </a:solidFill>
              </a:rPr>
              <a:t>Changing one instance never affects another from the same definition.</a:t>
            </a:r>
          </a:p>
        </p:txBody>
      </p:sp>
      <p:sp>
        <p:nvSpPr>
          <p:cNvPr id="18" name="Test area card"/>
          <p:cNvSpPr/>
          <p:nvPr/>
        </p:nvSpPr>
        <p:spPr>
          <a:xfrm>
            <a:off x="7909560" y="3904487"/>
            <a:ext cx="3730752"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con circle"/>
          <p:cNvSpPr/>
          <p:nvPr/>
        </p:nvSpPr>
        <p:spPr>
          <a:xfrm>
            <a:off x="8138160" y="4133087"/>
            <a:ext cx="512064" cy="512064"/>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Icon FaExclamationTriangle" descr="FaExclamationTriangle_w.png"/>
          <p:cNvPicPr>
            <a:picLocks noChangeAspect="1"/>
          </p:cNvPicPr>
          <p:nvPr/>
        </p:nvPicPr>
        <p:blipFill>
          <a:blip r:embed="rId6"/>
          <a:stretch>
            <a:fillRect/>
          </a:stretch>
        </p:blipFill>
        <p:spPr>
          <a:xfrm>
            <a:off x="8261055" y="4255983"/>
            <a:ext cx="266273" cy="266273"/>
          </a:xfrm>
          <a:prstGeom prst="rect">
            <a:avLst/>
          </a:prstGeom>
        </p:spPr>
      </p:pic>
      <p:sp>
        <p:nvSpPr>
          <p:cNvPr id="21" name="Test area text"/>
          <p:cNvSpPr txBox="1"/>
          <p:nvPr/>
        </p:nvSpPr>
        <p:spPr>
          <a:xfrm>
            <a:off x="8138160" y="4800600"/>
            <a:ext cx="3291840" cy="1234440"/>
          </a:xfrm>
          <a:prstGeom prst="rect">
            <a:avLst/>
          </a:prstGeom>
          <a:noFill/>
        </p:spPr>
        <p:txBody>
          <a:bodyPr wrap="square" lIns="0" rIns="0" tIns="0" bIns="0" anchor="t">
            <a:spAutoFit/>
          </a:bodyPr>
          <a:lstStyle/>
          <a:p>
            <a:pPr>
              <a:spcAft>
                <a:spcPts val="300"/>
              </a:spcAft>
            </a:pPr>
            <a:r>
              <a:rPr sz="1700" b="1" i="0">
                <a:solidFill>
                  <a:srgbClr val="14150F"/>
                </a:solidFill>
              </a:rPr>
              <a:t>Invalid operations</a:t>
            </a:r>
          </a:p>
          <a:p>
            <a:pPr>
              <a:spcAft>
                <a:spcPts val="0"/>
              </a:spcAft>
            </a:pPr>
            <a:r>
              <a:rPr sz="1300" b="0" i="0">
                <a:solidFill>
                  <a:srgbClr val="66665A"/>
                </a:solidFill>
              </a:rPr>
              <a:t>Actions not allowed in the current state are rejected cleanly.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Engineering practice and evidence</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05 · QUALITY</a:t>
            </a:r>
          </a:p>
        </p:txBody>
      </p:sp>
      <p:sp>
        <p:nvSpPr>
          <p:cNvPr id="4" name="Evidence card"/>
          <p:cNvSpPr/>
          <p:nvPr/>
        </p:nvSpPr>
        <p:spPr>
          <a:xfrm>
            <a:off x="548640" y="1572768"/>
            <a:ext cx="5454396"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con circle"/>
          <p:cNvSpPr/>
          <p:nvPr/>
        </p:nvSpPr>
        <p:spPr>
          <a:xfrm>
            <a:off x="777240" y="1801368"/>
            <a:ext cx="512064" cy="512064"/>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Icon FaGithub" descr="FaGithub_w.png"/>
          <p:cNvPicPr>
            <a:picLocks noChangeAspect="1"/>
          </p:cNvPicPr>
          <p:nvPr/>
        </p:nvPicPr>
        <p:blipFill>
          <a:blip r:embed="rId3"/>
          <a:stretch>
            <a:fillRect/>
          </a:stretch>
        </p:blipFill>
        <p:spPr>
          <a:xfrm>
            <a:off x="900135" y="1924263"/>
            <a:ext cx="266273" cy="266273"/>
          </a:xfrm>
          <a:prstGeom prst="rect">
            <a:avLst/>
          </a:prstGeom>
        </p:spPr>
      </p:pic>
      <p:sp>
        <p:nvSpPr>
          <p:cNvPr id="7" name="Evidence heading"/>
          <p:cNvSpPr txBox="1"/>
          <p:nvPr/>
        </p:nvSpPr>
        <p:spPr>
          <a:xfrm>
            <a:off x="1463040" y="1828800"/>
            <a:ext cx="4389120" cy="457200"/>
          </a:xfrm>
          <a:prstGeom prst="rect">
            <a:avLst/>
          </a:prstGeom>
          <a:noFill/>
        </p:spPr>
        <p:txBody>
          <a:bodyPr wrap="square" lIns="0" rIns="0" tIns="0" bIns="0" anchor="ctr">
            <a:spAutoFit/>
          </a:bodyPr>
          <a:lstStyle/>
          <a:p>
            <a:pPr>
              <a:spcAft>
                <a:spcPts val="0"/>
              </a:spcAft>
            </a:pPr>
            <a:r>
              <a:rPr sz="1800" b="1" i="0">
                <a:solidFill>
                  <a:srgbClr val="14150F"/>
                </a:solidFill>
              </a:rPr>
              <a:t>GitHub workflow</a:t>
            </a:r>
          </a:p>
        </p:txBody>
      </p:sp>
      <p:sp>
        <p:nvSpPr>
          <p:cNvPr id="8" name="Evidence list"/>
          <p:cNvSpPr txBox="1"/>
          <p:nvPr/>
        </p:nvSpPr>
        <p:spPr>
          <a:xfrm>
            <a:off x="777240" y="2487168"/>
            <a:ext cx="5029200" cy="1234440"/>
          </a:xfrm>
          <a:prstGeom prst="rect">
            <a:avLst/>
          </a:prstGeom>
          <a:noFill/>
        </p:spPr>
        <p:txBody>
          <a:bodyPr wrap="square" lIns="0" rIns="0" tIns="0" bIns="0" anchor="t">
            <a:spAutoFit/>
          </a:bodyPr>
          <a:lstStyle/>
          <a:p>
            <a:pPr marL="182880" indent="-182880">
              <a:spcAft>
                <a:spcPts val="700"/>
              </a:spcAft>
              <a:buClr>
                <a:srgbClr val="5E5E38"/>
              </a:buClr>
              <a:buFont typeface="Arial"/>
              <a:buChar char="•"/>
            </a:pPr>
            <a:r>
              <a:rPr sz="1500" b="0" i="0">
                <a:solidFill>
                  <a:srgbClr val="14150F"/>
                </a:solidFill>
              </a:rPr>
              <a:t>Repository: github.com/Kristy2005/TIVIDY-Prac6</a:t>
            </a:r>
          </a:p>
          <a:p>
            <a:pPr marL="182880" indent="-182880">
              <a:spcAft>
                <a:spcPts val="700"/>
              </a:spcAft>
              <a:buClr>
                <a:srgbClr val="5E5E38"/>
              </a:buClr>
              <a:buFont typeface="Arial"/>
              <a:buChar char="•"/>
            </a:pPr>
            <a:r>
              <a:rPr sz="1500" b="0" i="0">
                <a:solidFill>
                  <a:srgbClr val="14150F"/>
                </a:solidFill>
              </a:rPr>
              <a:t>Commits: [N] per member (minimum 10)</a:t>
            </a:r>
          </a:p>
          <a:p>
            <a:pPr marL="182880" indent="-182880">
              <a:spcAft>
                <a:spcPts val="700"/>
              </a:spcAft>
              <a:buClr>
                <a:srgbClr val="5E5E38"/>
              </a:buClr>
              <a:buFont typeface="Arial"/>
              <a:buChar char="•"/>
            </a:pPr>
            <a:r>
              <a:rPr sz="1500" b="0" i="0">
                <a:solidFill>
                  <a:srgbClr val="14150F"/>
                </a:solidFill>
              </a:rPr>
              <a:t>Closed pull requests: [N] (minimum 3)</a:t>
            </a:r>
          </a:p>
        </p:txBody>
      </p:sp>
      <p:sp>
        <p:nvSpPr>
          <p:cNvPr id="9" name="Evidence card"/>
          <p:cNvSpPr/>
          <p:nvPr/>
        </p:nvSpPr>
        <p:spPr>
          <a:xfrm>
            <a:off x="6185916" y="1572768"/>
            <a:ext cx="5454396"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con circle"/>
          <p:cNvSpPr/>
          <p:nvPr/>
        </p:nvSpPr>
        <p:spPr>
          <a:xfrm>
            <a:off x="6414516" y="1801368"/>
            <a:ext cx="512064" cy="512064"/>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Icon FaBook" descr="FaBook_w.png"/>
          <p:cNvPicPr>
            <a:picLocks noChangeAspect="1"/>
          </p:cNvPicPr>
          <p:nvPr/>
        </p:nvPicPr>
        <p:blipFill>
          <a:blip r:embed="rId4"/>
          <a:stretch>
            <a:fillRect/>
          </a:stretch>
        </p:blipFill>
        <p:spPr>
          <a:xfrm>
            <a:off x="6537411" y="1924263"/>
            <a:ext cx="266273" cy="266273"/>
          </a:xfrm>
          <a:prstGeom prst="rect">
            <a:avLst/>
          </a:prstGeom>
        </p:spPr>
      </p:pic>
      <p:sp>
        <p:nvSpPr>
          <p:cNvPr id="12" name="Evidence heading"/>
          <p:cNvSpPr txBox="1"/>
          <p:nvPr/>
        </p:nvSpPr>
        <p:spPr>
          <a:xfrm>
            <a:off x="7100316" y="1828800"/>
            <a:ext cx="4389120" cy="457200"/>
          </a:xfrm>
          <a:prstGeom prst="rect">
            <a:avLst/>
          </a:prstGeom>
          <a:noFill/>
        </p:spPr>
        <p:txBody>
          <a:bodyPr wrap="square" lIns="0" rIns="0" tIns="0" bIns="0" anchor="ctr">
            <a:spAutoFit/>
          </a:bodyPr>
          <a:lstStyle/>
          <a:p>
            <a:pPr>
              <a:spcAft>
                <a:spcPts val="0"/>
              </a:spcAft>
            </a:pPr>
            <a:r>
              <a:rPr sz="1800" b="1" i="0">
                <a:solidFill>
                  <a:srgbClr val="14150F"/>
                </a:solidFill>
              </a:rPr>
              <a:t>Documentation</a:t>
            </a:r>
          </a:p>
        </p:txBody>
      </p:sp>
      <p:sp>
        <p:nvSpPr>
          <p:cNvPr id="13" name="Evidence list"/>
          <p:cNvSpPr txBox="1"/>
          <p:nvPr/>
        </p:nvSpPr>
        <p:spPr>
          <a:xfrm>
            <a:off x="6414516" y="2487168"/>
            <a:ext cx="5029200" cy="1234440"/>
          </a:xfrm>
          <a:prstGeom prst="rect">
            <a:avLst/>
          </a:prstGeom>
          <a:noFill/>
        </p:spPr>
        <p:txBody>
          <a:bodyPr wrap="square" lIns="0" rIns="0" tIns="0" bIns="0" anchor="t">
            <a:spAutoFit/>
          </a:bodyPr>
          <a:lstStyle/>
          <a:p>
            <a:pPr marL="182880" indent="-182880">
              <a:spcAft>
                <a:spcPts val="700"/>
              </a:spcAft>
              <a:buClr>
                <a:srgbClr val="5E5E38"/>
              </a:buClr>
              <a:buFont typeface="Arial"/>
              <a:buChar char="•"/>
            </a:pPr>
            <a:r>
              <a:rPr sz="1500" b="0" i="0">
                <a:solidFill>
                  <a:srgbClr val="14150F"/>
                </a:solidFill>
              </a:rPr>
              <a:t>Doxygen comments on significant classes</a:t>
            </a:r>
          </a:p>
          <a:p>
            <a:pPr marL="182880" indent="-182880">
              <a:spcAft>
                <a:spcPts val="700"/>
              </a:spcAft>
              <a:buClr>
                <a:srgbClr val="5E5E38"/>
              </a:buClr>
              <a:buFont typeface="Arial"/>
              <a:buChar char="•"/>
            </a:pPr>
            <a:r>
              <a:rPr sz="1500" b="0" i="0">
                <a:solidFill>
                  <a:srgbClr val="14150F"/>
                </a:solidFill>
              </a:rPr>
              <a:t>README: dependencies, build, run, test</a:t>
            </a:r>
          </a:p>
          <a:p>
            <a:pPr marL="182880" indent="-182880">
              <a:spcAft>
                <a:spcPts val="700"/>
              </a:spcAft>
              <a:buClr>
                <a:srgbClr val="5E5E38"/>
              </a:buClr>
              <a:buFont typeface="Arial"/>
              <a:buChar char="•"/>
            </a:pPr>
            <a:r>
              <a:rPr sz="1500" b="0" i="0">
                <a:solidFill>
                  <a:srgbClr val="14150F"/>
                </a:solidFill>
              </a:rPr>
              <a:t>docs/ and UML exports in the repository</a:t>
            </a:r>
          </a:p>
        </p:txBody>
      </p:sp>
      <p:sp>
        <p:nvSpPr>
          <p:cNvPr id="14" name="Evidence card"/>
          <p:cNvSpPr/>
          <p:nvPr/>
        </p:nvSpPr>
        <p:spPr>
          <a:xfrm>
            <a:off x="548640" y="3904487"/>
            <a:ext cx="5454396"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con circle"/>
          <p:cNvSpPr/>
          <p:nvPr/>
        </p:nvSpPr>
        <p:spPr>
          <a:xfrm>
            <a:off x="777240" y="4133087"/>
            <a:ext cx="512064" cy="512064"/>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Icon FaTerminal" descr="FaTerminal_w.png"/>
          <p:cNvPicPr>
            <a:picLocks noChangeAspect="1"/>
          </p:cNvPicPr>
          <p:nvPr/>
        </p:nvPicPr>
        <p:blipFill>
          <a:blip r:embed="rId5"/>
          <a:stretch>
            <a:fillRect/>
          </a:stretch>
        </p:blipFill>
        <p:spPr>
          <a:xfrm>
            <a:off x="900135" y="4255983"/>
            <a:ext cx="266273" cy="266273"/>
          </a:xfrm>
          <a:prstGeom prst="rect">
            <a:avLst/>
          </a:prstGeom>
        </p:spPr>
      </p:pic>
      <p:sp>
        <p:nvSpPr>
          <p:cNvPr id="17" name="Evidence heading"/>
          <p:cNvSpPr txBox="1"/>
          <p:nvPr/>
        </p:nvSpPr>
        <p:spPr>
          <a:xfrm>
            <a:off x="1463040" y="4160520"/>
            <a:ext cx="4389120" cy="457200"/>
          </a:xfrm>
          <a:prstGeom prst="rect">
            <a:avLst/>
          </a:prstGeom>
          <a:noFill/>
        </p:spPr>
        <p:txBody>
          <a:bodyPr wrap="square" lIns="0" rIns="0" tIns="0" bIns="0" anchor="ctr">
            <a:spAutoFit/>
          </a:bodyPr>
          <a:lstStyle/>
          <a:p>
            <a:pPr>
              <a:spcAft>
                <a:spcPts val="0"/>
              </a:spcAft>
            </a:pPr>
            <a:r>
              <a:rPr sz="1800" b="1" i="0">
                <a:solidFill>
                  <a:srgbClr val="14150F"/>
                </a:solidFill>
              </a:rPr>
              <a:t>Build &amp; run</a:t>
            </a:r>
          </a:p>
        </p:txBody>
      </p:sp>
      <p:sp>
        <p:nvSpPr>
          <p:cNvPr id="18" name="Evidence list"/>
          <p:cNvSpPr txBox="1"/>
          <p:nvPr/>
        </p:nvSpPr>
        <p:spPr>
          <a:xfrm>
            <a:off x="777240" y="4818888"/>
            <a:ext cx="5029200" cy="1234440"/>
          </a:xfrm>
          <a:prstGeom prst="rect">
            <a:avLst/>
          </a:prstGeom>
          <a:noFill/>
        </p:spPr>
        <p:txBody>
          <a:bodyPr wrap="square" lIns="0" rIns="0" tIns="0" bIns="0" anchor="t">
            <a:spAutoFit/>
          </a:bodyPr>
          <a:lstStyle/>
          <a:p>
            <a:pPr marL="182880" indent="-182880">
              <a:spcAft>
                <a:spcPts val="700"/>
              </a:spcAft>
              <a:buClr>
                <a:srgbClr val="5E5E38"/>
              </a:buClr>
              <a:buFont typeface="Arial"/>
              <a:buChar char="•"/>
            </a:pPr>
            <a:r>
              <a:rPr sz="1500" b="0" i="0">
                <a:solidFill>
                  <a:srgbClr val="14150F"/>
                </a:solidFill>
              </a:rPr>
              <a:t>Build: [build command]</a:t>
            </a:r>
          </a:p>
          <a:p>
            <a:pPr marL="182880" indent="-182880">
              <a:spcAft>
                <a:spcPts val="700"/>
              </a:spcAft>
              <a:buClr>
                <a:srgbClr val="5E5E38"/>
              </a:buClr>
              <a:buFont typeface="Arial"/>
              <a:buChar char="•"/>
            </a:pPr>
            <a:r>
              <a:rPr sz="1500" b="0" i="0">
                <a:solidFill>
                  <a:srgbClr val="14150F"/>
                </a:solidFill>
              </a:rPr>
              <a:t>Run: [run command]</a:t>
            </a:r>
          </a:p>
          <a:p>
            <a:pPr marL="182880" indent="-182880">
              <a:spcAft>
                <a:spcPts val="700"/>
              </a:spcAft>
              <a:buClr>
                <a:srgbClr val="5E5E38"/>
              </a:buClr>
              <a:buFont typeface="Arial"/>
              <a:buChar char="•"/>
            </a:pPr>
            <a:r>
              <a:rPr sz="1500" b="0" i="0">
                <a:solidFill>
                  <a:srgbClr val="14150F"/>
                </a:solidFill>
              </a:rPr>
              <a:t>Test: [test command]</a:t>
            </a:r>
          </a:p>
        </p:txBody>
      </p:sp>
      <p:sp>
        <p:nvSpPr>
          <p:cNvPr id="19" name="Evidence card"/>
          <p:cNvSpPr/>
          <p:nvPr/>
        </p:nvSpPr>
        <p:spPr>
          <a:xfrm>
            <a:off x="6185916" y="3904487"/>
            <a:ext cx="5454396"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con circle"/>
          <p:cNvSpPr/>
          <p:nvPr/>
        </p:nvSpPr>
        <p:spPr>
          <a:xfrm>
            <a:off x="6414516" y="4133087"/>
            <a:ext cx="512064" cy="512064"/>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Icon FaCogs" descr="FaCogs_w.png"/>
          <p:cNvPicPr>
            <a:picLocks noChangeAspect="1"/>
          </p:cNvPicPr>
          <p:nvPr/>
        </p:nvPicPr>
        <p:blipFill>
          <a:blip r:embed="rId6"/>
          <a:stretch>
            <a:fillRect/>
          </a:stretch>
        </p:blipFill>
        <p:spPr>
          <a:xfrm>
            <a:off x="6537411" y="4255983"/>
            <a:ext cx="266273" cy="266273"/>
          </a:xfrm>
          <a:prstGeom prst="rect">
            <a:avLst/>
          </a:prstGeom>
        </p:spPr>
      </p:pic>
      <p:sp>
        <p:nvSpPr>
          <p:cNvPr id="22" name="Evidence heading"/>
          <p:cNvSpPr txBox="1"/>
          <p:nvPr/>
        </p:nvSpPr>
        <p:spPr>
          <a:xfrm>
            <a:off x="7100316" y="4160520"/>
            <a:ext cx="4389120" cy="457200"/>
          </a:xfrm>
          <a:prstGeom prst="rect">
            <a:avLst/>
          </a:prstGeom>
          <a:noFill/>
        </p:spPr>
        <p:txBody>
          <a:bodyPr wrap="square" lIns="0" rIns="0" tIns="0" bIns="0" anchor="ctr">
            <a:spAutoFit/>
          </a:bodyPr>
          <a:lstStyle/>
          <a:p>
            <a:pPr>
              <a:spcAft>
                <a:spcPts val="0"/>
              </a:spcAft>
            </a:pPr>
            <a:r>
              <a:rPr sz="1800" b="1" i="0">
                <a:solidFill>
                  <a:srgbClr val="14150F"/>
                </a:solidFill>
              </a:rPr>
              <a:t>Optional bonus</a:t>
            </a:r>
          </a:p>
        </p:txBody>
      </p:sp>
      <p:sp>
        <p:nvSpPr>
          <p:cNvPr id="23" name="Evidence list"/>
          <p:cNvSpPr txBox="1"/>
          <p:nvPr/>
        </p:nvSpPr>
        <p:spPr>
          <a:xfrm>
            <a:off x="6414516" y="4818888"/>
            <a:ext cx="5029200" cy="1234440"/>
          </a:xfrm>
          <a:prstGeom prst="rect">
            <a:avLst/>
          </a:prstGeom>
          <a:noFill/>
        </p:spPr>
        <p:txBody>
          <a:bodyPr wrap="square" lIns="0" rIns="0" tIns="0" bIns="0" anchor="t">
            <a:spAutoFit/>
          </a:bodyPr>
          <a:lstStyle/>
          <a:p>
            <a:pPr marL="182880" indent="-182880">
              <a:spcAft>
                <a:spcPts val="700"/>
              </a:spcAft>
              <a:buClr>
                <a:srgbClr val="5E5E38"/>
              </a:buClr>
              <a:buFont typeface="Arial"/>
              <a:buChar char="•"/>
            </a:pPr>
            <a:r>
              <a:rPr sz="1500" b="0" i="0">
                <a:solidFill>
                  <a:srgbClr val="5E5E38"/>
                </a:solidFill>
              </a:rPr>
              <a:t>[CI/CD pipeline running the test suite]</a:t>
            </a:r>
          </a:p>
          <a:p>
            <a:pPr marL="182880" indent="-182880">
              <a:spcAft>
                <a:spcPts val="700"/>
              </a:spcAft>
              <a:buClr>
                <a:srgbClr val="5E5E38"/>
              </a:buClr>
              <a:buFont typeface="Arial"/>
              <a:buChar char="•"/>
            </a:pPr>
            <a:r>
              <a:rPr sz="1500" b="0" i="0">
                <a:solidFill>
                  <a:srgbClr val="5E5E38"/>
                </a:solidFill>
              </a:rPr>
              <a:t>[Dockerised application]</a:t>
            </a:r>
          </a:p>
          <a:p>
            <a:pPr marL="182880" indent="-182880">
              <a:spcAft>
                <a:spcPts val="700"/>
              </a:spcAft>
              <a:buClr>
                <a:srgbClr val="5E5E38"/>
              </a:buClr>
              <a:buFont typeface="Arial"/>
              <a:buChar char="•"/>
            </a:pPr>
            <a:r>
              <a:rPr sz="1500" b="0" i="0">
                <a:solidFill>
                  <a:srgbClr val="5E5E38"/>
                </a:solidFill>
              </a:rPr>
              <a:t>Remove this card if not claiming bonus work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 contributions</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05 · QUALITY</a:t>
            </a:r>
          </a:p>
        </p:txBody>
      </p:sp>
      <p:graphicFrame>
        <p:nvGraphicFramePr>
          <p:cNvPr id="4" name="Table"/>
          <p:cNvGraphicFramePr>
            <a:graphicFrameLocks noGrp="1"/>
          </p:cNvGraphicFramePr>
          <p:nvPr/>
        </p:nvGraphicFramePr>
        <p:xfrm>
          <a:off x="548640" y="1572768"/>
          <a:ext cx="11091672" cy="4023360"/>
        </p:xfrm>
        <a:graphic>
          <a:graphicData uri="http://schemas.openxmlformats.org/drawingml/2006/table">
            <a:tbl>
              <a:tblPr firstRow="0" bandRow="0">
                <a:tableStyleId>{2D5ABB26-0587-4C30-8999-92F81FD0307C}</a:tableStyleId>
              </a:tblPr>
              <a:tblGrid>
                <a:gridCol w="2377440"/>
                <a:gridCol w="1463040"/>
                <a:gridCol w="3657600"/>
                <a:gridCol w="3593592"/>
              </a:tblGrid>
              <a:tr h="457200">
                <a:tc>
                  <a:txBody>
                    <a:bodyPr wrap="square" lIns="0" rIns="0" tIns="0" bIns="0" anchor="ctr"/>
                    <a:lstStyle/>
                    <a:p>
                      <a:pPr>
                        <a:spcAft>
                          <a:spcPts val="0"/>
                        </a:spcAft>
                      </a:pPr>
                      <a:r>
                        <a:rPr sz="1300" b="1" i="0">
                          <a:solidFill>
                            <a:srgbClr val="FFFFFF"/>
                          </a:solidFill>
                        </a:rPr>
                        <a:t>Member</a:t>
                      </a:r>
                    </a:p>
                  </a:txBody>
                  <a:tcPr anchor="ctr" marL="109728" marR="109728" marT="36576" marB="36576">
                    <a:lnL w="0">
                      <a:noFill/>
                    </a:lnL>
                    <a:lnR w="0">
                      <a:noFill/>
                    </a:lnR>
                    <a:lnT w="0">
                      <a:noFill/>
                    </a:lnT>
                    <a:lnB w="9525">
                      <a:solidFill>
                        <a:srgbClr val="DFDFCC"/>
                      </a:solidFill>
                    </a:lnB>
                    <a:solidFill>
                      <a:srgbClr val="14150F"/>
                    </a:solidFill>
                  </a:tcPr>
                </a:tc>
                <a:tc>
                  <a:txBody>
                    <a:bodyPr wrap="square" lIns="0" rIns="0" tIns="0" bIns="0" anchor="ctr"/>
                    <a:lstStyle/>
                    <a:p>
                      <a:pPr>
                        <a:spcAft>
                          <a:spcPts val="0"/>
                        </a:spcAft>
                      </a:pPr>
                      <a:r>
                        <a:rPr sz="1300" b="1" i="0">
                          <a:solidFill>
                            <a:srgbClr val="FFFFFF"/>
                          </a:solidFill>
                        </a:rPr>
                        <a:t>Student no.</a:t>
                      </a:r>
                    </a:p>
                  </a:txBody>
                  <a:tcPr anchor="ctr" marL="109728" marR="109728" marT="36576" marB="36576">
                    <a:lnL w="0">
                      <a:noFill/>
                    </a:lnL>
                    <a:lnR w="0">
                      <a:noFill/>
                    </a:lnR>
                    <a:lnT w="0">
                      <a:noFill/>
                    </a:lnT>
                    <a:lnB w="9525">
                      <a:solidFill>
                        <a:srgbClr val="DFDFCC"/>
                      </a:solidFill>
                    </a:lnB>
                    <a:solidFill>
                      <a:srgbClr val="14150F"/>
                    </a:solidFill>
                  </a:tcPr>
                </a:tc>
                <a:tc>
                  <a:txBody>
                    <a:bodyPr wrap="square" lIns="0" rIns="0" tIns="0" bIns="0" anchor="ctr"/>
                    <a:lstStyle/>
                    <a:p>
                      <a:pPr>
                        <a:spcAft>
                          <a:spcPts val="0"/>
                        </a:spcAft>
                      </a:pPr>
                      <a:r>
                        <a:rPr sz="1300" b="1" i="0">
                          <a:solidFill>
                            <a:srgbClr val="FFFFFF"/>
                          </a:solidFill>
                        </a:rPr>
                        <a:t>Practical 6 contribution</a:t>
                      </a:r>
                    </a:p>
                  </a:txBody>
                  <a:tcPr anchor="ctr" marL="109728" marR="109728" marT="36576" marB="36576">
                    <a:lnL w="0">
                      <a:noFill/>
                    </a:lnL>
                    <a:lnR w="0">
                      <a:noFill/>
                    </a:lnR>
                    <a:lnT w="0">
                      <a:noFill/>
                    </a:lnT>
                    <a:lnB w="9525">
                      <a:solidFill>
                        <a:srgbClr val="DFDFCC"/>
                      </a:solidFill>
                    </a:lnB>
                    <a:solidFill>
                      <a:srgbClr val="14150F"/>
                    </a:solidFill>
                  </a:tcPr>
                </a:tc>
                <a:tc>
                  <a:txBody>
                    <a:bodyPr wrap="square" lIns="0" rIns="0" tIns="0" bIns="0" anchor="ctr"/>
                    <a:lstStyle/>
                    <a:p>
                      <a:pPr>
                        <a:spcAft>
                          <a:spcPts val="0"/>
                        </a:spcAft>
                      </a:pPr>
                      <a:r>
                        <a:rPr sz="1300" b="1" i="0">
                          <a:solidFill>
                            <a:srgbClr val="FFFFFF"/>
                          </a:solidFill>
                        </a:rPr>
                        <a:t>Final project contribution</a:t>
                      </a:r>
                    </a:p>
                  </a:txBody>
                  <a:tcPr anchor="ctr" marL="109728" marR="109728" marT="36576" marB="36576">
                    <a:lnL w="0">
                      <a:noFill/>
                    </a:lnL>
                    <a:lnR w="0">
                      <a:noFill/>
                    </a:lnR>
                    <a:lnT w="0">
                      <a:noFill/>
                    </a:lnT>
                    <a:lnB w="9525">
                      <a:solidFill>
                        <a:srgbClr val="DFDFCC"/>
                      </a:solidFill>
                    </a:lnB>
                    <a:solidFill>
                      <a:srgbClr val="14150F"/>
                    </a:solidFill>
                  </a:tcPr>
                </a:tc>
              </a:tr>
              <a:tr h="713232">
                <a:tc>
                  <a:txBody>
                    <a:bodyPr wrap="square" lIns="0" rIns="0" tIns="0" bIns="0" anchor="ctr"/>
                    <a:lstStyle/>
                    <a:p>
                      <a:pPr>
                        <a:spcAft>
                          <a:spcPts val="0"/>
                        </a:spcAft>
                      </a:pPr>
                      <a:r>
                        <a:rPr sz="1300" b="1" i="0">
                          <a:solidFill>
                            <a:srgbClr val="14150F"/>
                          </a:solidFill>
                        </a:rPr>
                        <a:t>Lindokuhle Skosana</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u24891968</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Activity diagrams, design patterns</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1">
                          <a:solidFill>
                            <a:srgbClr val="5E5E38"/>
                          </a:solidFill>
                        </a:rPr>
                        <a:t>[add contribution]</a:t>
                      </a:r>
                    </a:p>
                  </a:txBody>
                  <a:tcPr anchor="ctr" marL="109728" marR="109728" marT="36576" marB="36576">
                    <a:lnL w="0">
                      <a:noFill/>
                    </a:lnL>
                    <a:lnR w="0">
                      <a:noFill/>
                    </a:lnR>
                    <a:lnT w="0">
                      <a:noFill/>
                    </a:lnT>
                    <a:lnB w="9525">
                      <a:solidFill>
                        <a:srgbClr val="DFDFCC"/>
                      </a:solidFill>
                    </a:lnB>
                    <a:solidFill>
                      <a:srgbClr val="FFFFFF"/>
                    </a:solidFill>
                  </a:tcPr>
                </a:tc>
              </a:tr>
              <a:tr h="713232">
                <a:tc>
                  <a:txBody>
                    <a:bodyPr wrap="square" lIns="0" rIns="0" tIns="0" bIns="0" anchor="ctr"/>
                    <a:lstStyle/>
                    <a:p>
                      <a:pPr>
                        <a:spcAft>
                          <a:spcPts val="0"/>
                        </a:spcAft>
                      </a:pPr>
                      <a:r>
                        <a:rPr sz="1300" b="1" i="0">
                          <a:solidFill>
                            <a:srgbClr val="14150F"/>
                          </a:solidFill>
                        </a:rPr>
                        <a:t>Kristy Heesen</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0">
                          <a:solidFill>
                            <a:srgbClr val="14150F"/>
                          </a:solidFill>
                        </a:rPr>
                        <a:t>u24702341</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0">
                          <a:solidFill>
                            <a:srgbClr val="14150F"/>
                          </a:solidFill>
                        </a:rPr>
                        <a:t>Scope and scenario, class diagram, design patterns</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1">
                          <a:solidFill>
                            <a:srgbClr val="5E5E38"/>
                          </a:solidFill>
                        </a:rPr>
                        <a:t>[add contribution]</a:t>
                      </a:r>
                    </a:p>
                  </a:txBody>
                  <a:tcPr anchor="ctr" marL="109728" marR="109728" marT="36576" marB="36576">
                    <a:lnL w="0">
                      <a:noFill/>
                    </a:lnL>
                    <a:lnR w="0">
                      <a:noFill/>
                    </a:lnR>
                    <a:lnT w="0">
                      <a:noFill/>
                    </a:lnT>
                    <a:lnB w="9525">
                      <a:solidFill>
                        <a:srgbClr val="DFDFCC"/>
                      </a:solidFill>
                    </a:lnB>
                    <a:solidFill>
                      <a:srgbClr val="F1F1E7"/>
                    </a:solidFill>
                  </a:tcPr>
                </a:tc>
              </a:tr>
              <a:tr h="713232">
                <a:tc>
                  <a:txBody>
                    <a:bodyPr wrap="square" lIns="0" rIns="0" tIns="0" bIns="0" anchor="ctr"/>
                    <a:lstStyle/>
                    <a:p>
                      <a:pPr>
                        <a:spcAft>
                          <a:spcPts val="0"/>
                        </a:spcAft>
                      </a:pPr>
                      <a:r>
                        <a:rPr sz="1300" b="1" i="0">
                          <a:solidFill>
                            <a:srgbClr val="14150F"/>
                          </a:solidFill>
                        </a:rPr>
                        <a:t>LM Kabongo</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25030338</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Research, sequence and state diagrams</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1">
                          <a:solidFill>
                            <a:srgbClr val="5E5E38"/>
                          </a:solidFill>
                        </a:rPr>
                        <a:t>[add contribution]</a:t>
                      </a:r>
                    </a:p>
                  </a:txBody>
                  <a:tcPr anchor="ctr" marL="109728" marR="109728" marT="36576" marB="36576">
                    <a:lnL w="0">
                      <a:noFill/>
                    </a:lnL>
                    <a:lnR w="0">
                      <a:noFill/>
                    </a:lnR>
                    <a:lnT w="0">
                      <a:noFill/>
                    </a:lnT>
                    <a:lnB w="9525">
                      <a:solidFill>
                        <a:srgbClr val="DFDFCC"/>
                      </a:solidFill>
                    </a:lnB>
                    <a:solidFill>
                      <a:srgbClr val="FFFFFF"/>
                    </a:solidFill>
                  </a:tcPr>
                </a:tc>
              </a:tr>
              <a:tr h="713232">
                <a:tc>
                  <a:txBody>
                    <a:bodyPr wrap="square" lIns="0" rIns="0" tIns="0" bIns="0" anchor="ctr"/>
                    <a:lstStyle/>
                    <a:p>
                      <a:pPr>
                        <a:spcAft>
                          <a:spcPts val="0"/>
                        </a:spcAft>
                      </a:pPr>
                      <a:r>
                        <a:rPr sz="1300" b="1" i="0">
                          <a:solidFill>
                            <a:srgbClr val="14150F"/>
                          </a:solidFill>
                        </a:rPr>
                        <a:t>Joshua Peter</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0">
                          <a:solidFill>
                            <a:srgbClr val="14150F"/>
                          </a:solidFill>
                        </a:rPr>
                        <a:t>23626527</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0">
                          <a:solidFill>
                            <a:srgbClr val="14150F"/>
                          </a:solidFill>
                        </a:rPr>
                        <a:t>Research, activity diagrams</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1">
                          <a:solidFill>
                            <a:srgbClr val="5E5E38"/>
                          </a:solidFill>
                        </a:rPr>
                        <a:t>[add contribution]</a:t>
                      </a:r>
                    </a:p>
                  </a:txBody>
                  <a:tcPr anchor="ctr" marL="109728" marR="109728" marT="36576" marB="36576">
                    <a:lnL w="0">
                      <a:noFill/>
                    </a:lnL>
                    <a:lnR w="0">
                      <a:noFill/>
                    </a:lnR>
                    <a:lnT w="0">
                      <a:noFill/>
                    </a:lnT>
                    <a:lnB w="9525">
                      <a:solidFill>
                        <a:srgbClr val="DFDFCC"/>
                      </a:solidFill>
                    </a:lnB>
                    <a:solidFill>
                      <a:srgbClr val="F1F1E7"/>
                    </a:solidFill>
                  </a:tcPr>
                </a:tc>
              </a:tr>
              <a:tr h="713232">
                <a:tc>
                  <a:txBody>
                    <a:bodyPr wrap="square" lIns="0" rIns="0" tIns="0" bIns="0" anchor="ctr"/>
                    <a:lstStyle/>
                    <a:p>
                      <a:pPr>
                        <a:spcAft>
                          <a:spcPts val="0"/>
                        </a:spcAft>
                      </a:pPr>
                      <a:r>
                        <a:rPr sz="1300" b="1" i="0">
                          <a:solidFill>
                            <a:srgbClr val="14150F"/>
                          </a:solidFill>
                        </a:rPr>
                        <a:t>Musa Msibi</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25098022</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Design patterns, escalation sequence diagram</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1">
                          <a:solidFill>
                            <a:srgbClr val="5E5E38"/>
                          </a:solidFill>
                        </a:rPr>
                        <a:t>[add contribution]</a:t>
                      </a:r>
                    </a:p>
                  </a:txBody>
                  <a:tcPr anchor="ctr" marL="109728" marR="109728" marT="36576" marB="36576">
                    <a:lnL w="0">
                      <a:noFill/>
                    </a:lnL>
                    <a:lnR w="0">
                      <a:noFill/>
                    </a:lnR>
                    <a:lnT w="0">
                      <a:noFill/>
                    </a:lnT>
                    <a:lnB w="9525">
                      <a:solidFill>
                        <a:srgbClr val="DFDFCC"/>
                      </a:solidFill>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Requirements traceability</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05 · QUALITY</a:t>
            </a:r>
          </a:p>
        </p:txBody>
      </p:sp>
      <p:graphicFrame>
        <p:nvGraphicFramePr>
          <p:cNvPr id="4" name="Table"/>
          <p:cNvGraphicFramePr>
            <a:graphicFrameLocks noGrp="1"/>
          </p:cNvGraphicFramePr>
          <p:nvPr/>
        </p:nvGraphicFramePr>
        <p:xfrm>
          <a:off x="548640" y="1572768"/>
          <a:ext cx="11091672" cy="4535424"/>
        </p:xfrm>
        <a:graphic>
          <a:graphicData uri="http://schemas.openxmlformats.org/drawingml/2006/table">
            <a:tbl>
              <a:tblPr firstRow="0" bandRow="0">
                <a:tableStyleId>{2D5ABB26-0587-4C30-8999-92F81FD0307C}</a:tableStyleId>
              </a:tblPr>
              <a:tblGrid>
                <a:gridCol w="3017520"/>
                <a:gridCol w="4754880"/>
                <a:gridCol w="3319272"/>
              </a:tblGrid>
              <a:tr h="438912">
                <a:tc>
                  <a:txBody>
                    <a:bodyPr wrap="square" lIns="0" rIns="0" tIns="0" bIns="0" anchor="ctr"/>
                    <a:lstStyle/>
                    <a:p>
                      <a:pPr>
                        <a:spcAft>
                          <a:spcPts val="0"/>
                        </a:spcAft>
                      </a:pPr>
                      <a:r>
                        <a:rPr sz="1300" b="1" i="0">
                          <a:solidFill>
                            <a:srgbClr val="FFFFFF"/>
                          </a:solidFill>
                        </a:rPr>
                        <a:t>Requirement</a:t>
                      </a:r>
                    </a:p>
                  </a:txBody>
                  <a:tcPr anchor="ctr" marL="109728" marR="109728" marT="36576" marB="36576">
                    <a:lnL w="0">
                      <a:noFill/>
                    </a:lnL>
                    <a:lnR w="0">
                      <a:noFill/>
                    </a:lnR>
                    <a:lnT w="0">
                      <a:noFill/>
                    </a:lnT>
                    <a:lnB w="9525">
                      <a:solidFill>
                        <a:srgbClr val="DFDFCC"/>
                      </a:solidFill>
                    </a:lnB>
                    <a:solidFill>
                      <a:srgbClr val="14150F"/>
                    </a:solidFill>
                  </a:tcPr>
                </a:tc>
                <a:tc>
                  <a:txBody>
                    <a:bodyPr wrap="square" lIns="0" rIns="0" tIns="0" bIns="0" anchor="ctr"/>
                    <a:lstStyle/>
                    <a:p>
                      <a:pPr>
                        <a:spcAft>
                          <a:spcPts val="0"/>
                        </a:spcAft>
                      </a:pPr>
                      <a:r>
                        <a:rPr sz="1300" b="1" i="0">
                          <a:solidFill>
                            <a:srgbClr val="FFFFFF"/>
                          </a:solidFill>
                        </a:rPr>
                        <a:t>Design (classes and patterns)</a:t>
                      </a:r>
                    </a:p>
                  </a:txBody>
                  <a:tcPr anchor="ctr" marL="109728" marR="109728" marT="36576" marB="36576">
                    <a:lnL w="0">
                      <a:noFill/>
                    </a:lnL>
                    <a:lnR w="0">
                      <a:noFill/>
                    </a:lnR>
                    <a:lnT w="0">
                      <a:noFill/>
                    </a:lnT>
                    <a:lnB w="9525">
                      <a:solidFill>
                        <a:srgbClr val="DFDFCC"/>
                      </a:solidFill>
                    </a:lnB>
                    <a:solidFill>
                      <a:srgbClr val="14150F"/>
                    </a:solidFill>
                  </a:tcPr>
                </a:tc>
                <a:tc>
                  <a:txBody>
                    <a:bodyPr wrap="square" lIns="0" rIns="0" tIns="0" bIns="0" anchor="ctr"/>
                    <a:lstStyle/>
                    <a:p>
                      <a:pPr>
                        <a:spcAft>
                          <a:spcPts val="0"/>
                        </a:spcAft>
                      </a:pPr>
                      <a:r>
                        <a:rPr sz="1300" b="1" i="0">
                          <a:solidFill>
                            <a:srgbClr val="FFFFFF"/>
                          </a:solidFill>
                        </a:rPr>
                        <a:t>Automated test</a:t>
                      </a:r>
                    </a:p>
                  </a:txBody>
                  <a:tcPr anchor="ctr" marL="109728" marR="109728" marT="36576" marB="36576">
                    <a:lnL w="0">
                      <a:noFill/>
                    </a:lnL>
                    <a:lnR w="0">
                      <a:noFill/>
                    </a:lnR>
                    <a:lnT w="0">
                      <a:noFill/>
                    </a:lnT>
                    <a:lnB w="9525">
                      <a:solidFill>
                        <a:srgbClr val="DFDFCC"/>
                      </a:solidFill>
                    </a:lnB>
                    <a:solidFill>
                      <a:srgbClr val="14150F"/>
                    </a:solidFill>
                  </a:tcPr>
                </a:tc>
              </a:tr>
              <a:tr h="585216">
                <a:tc>
                  <a:txBody>
                    <a:bodyPr wrap="square" lIns="0" rIns="0" tIns="0" bIns="0" anchor="ctr"/>
                    <a:lstStyle/>
                    <a:p>
                      <a:pPr>
                        <a:spcAft>
                          <a:spcPts val="0"/>
                        </a:spcAft>
                      </a:pPr>
                      <a:r>
                        <a:rPr sz="1300" b="1" i="0">
                          <a:solidFill>
                            <a:srgbClr val="14150F"/>
                          </a:solidFill>
                        </a:rPr>
                        <a:t>Independent workflow instances</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WorkflowDefinition.createInstance(), WorkflowInstance</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1">
                          <a:solidFill>
                            <a:srgbClr val="5E5E38"/>
                          </a:solidFill>
                        </a:rPr>
                        <a:t>[test name]</a:t>
                      </a:r>
                    </a:p>
                  </a:txBody>
                  <a:tcPr anchor="ctr" marL="109728" marR="109728" marT="36576" marB="36576">
                    <a:lnL w="0">
                      <a:noFill/>
                    </a:lnL>
                    <a:lnR w="0">
                      <a:noFill/>
                    </a:lnR>
                    <a:lnT w="0">
                      <a:noFill/>
                    </a:lnT>
                    <a:lnB w="9525">
                      <a:solidFill>
                        <a:srgbClr val="DFDFCC"/>
                      </a:solidFill>
                    </a:lnB>
                    <a:solidFill>
                      <a:srgbClr val="FFFFFF"/>
                    </a:solidFill>
                  </a:tcPr>
                </a:tc>
              </a:tr>
              <a:tr h="585216">
                <a:tc>
                  <a:txBody>
                    <a:bodyPr wrap="square" lIns="0" rIns="0" tIns="0" bIns="0" anchor="ctr"/>
                    <a:lstStyle/>
                    <a:p>
                      <a:pPr>
                        <a:spcAft>
                          <a:spcPts val="0"/>
                        </a:spcAft>
                      </a:pPr>
                      <a:r>
                        <a:rPr sz="1300" b="1" i="0">
                          <a:solidFill>
                            <a:srgbClr val="14150F"/>
                          </a:solidFill>
                        </a:rPr>
                        <a:t>Lifecycle and invalid transitions</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0">
                          <a:solidFill>
                            <a:srgbClr val="14150F"/>
                          </a:solidFill>
                        </a:rPr>
                        <a:t>WorkflowState hierarchy (State)</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1">
                          <a:solidFill>
                            <a:srgbClr val="5E5E38"/>
                          </a:solidFill>
                        </a:rPr>
                        <a:t>[test name]</a:t>
                      </a:r>
                    </a:p>
                  </a:txBody>
                  <a:tcPr anchor="ctr" marL="109728" marR="109728" marT="36576" marB="36576">
                    <a:lnL w="0">
                      <a:noFill/>
                    </a:lnL>
                    <a:lnR w="0">
                      <a:noFill/>
                    </a:lnR>
                    <a:lnT w="0">
                      <a:noFill/>
                    </a:lnT>
                    <a:lnB w="9525">
                      <a:solidFill>
                        <a:srgbClr val="DFDFCC"/>
                      </a:solidFill>
                    </a:lnB>
                    <a:solidFill>
                      <a:srgbClr val="F1F1E7"/>
                    </a:solidFill>
                  </a:tcPr>
                </a:tc>
              </a:tr>
              <a:tr h="585216">
                <a:tc>
                  <a:txBody>
                    <a:bodyPr wrap="square" lIns="0" rIns="0" tIns="0" bIns="0" anchor="ctr"/>
                    <a:lstStyle/>
                    <a:p>
                      <a:pPr>
                        <a:spcAft>
                          <a:spcPts val="0"/>
                        </a:spcAft>
                      </a:pPr>
                      <a:r>
                        <a:rPr sz="1300" b="1" i="0">
                          <a:solidFill>
                            <a:srgbClr val="14150F"/>
                          </a:solidFill>
                        </a:rPr>
                        <a:t>Routing and assignment</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AssignmentStrategy (Strategy)</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1">
                          <a:solidFill>
                            <a:srgbClr val="5E5E38"/>
                          </a:solidFill>
                        </a:rPr>
                        <a:t>[test name]</a:t>
                      </a:r>
                    </a:p>
                  </a:txBody>
                  <a:tcPr anchor="ctr" marL="109728" marR="109728" marT="36576" marB="36576">
                    <a:lnL w="0">
                      <a:noFill/>
                    </a:lnL>
                    <a:lnR w="0">
                      <a:noFill/>
                    </a:lnR>
                    <a:lnT w="0">
                      <a:noFill/>
                    </a:lnT>
                    <a:lnB w="9525">
                      <a:solidFill>
                        <a:srgbClr val="DFDFCC"/>
                      </a:solidFill>
                    </a:lnB>
                    <a:solidFill>
                      <a:srgbClr val="FFFFFF"/>
                    </a:solidFill>
                  </a:tcPr>
                </a:tc>
              </a:tr>
              <a:tr h="585216">
                <a:tc>
                  <a:txBody>
                    <a:bodyPr wrap="square" lIns="0" rIns="0" tIns="0" bIns="0" anchor="ctr"/>
                    <a:lstStyle/>
                    <a:p>
                      <a:pPr>
                        <a:spcAft>
                          <a:spcPts val="0"/>
                        </a:spcAft>
                      </a:pPr>
                      <a:r>
                        <a:rPr sz="1300" b="1" i="0">
                          <a:solidFill>
                            <a:srgbClr val="14150F"/>
                          </a:solidFill>
                        </a:rPr>
                        <a:t>Approval and escalation</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0">
                          <a:solidFill>
                            <a:srgbClr val="14150F"/>
                          </a:solidFill>
                        </a:rPr>
                        <a:t>Handler chain, EscalateWorkCommand</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1">
                          <a:solidFill>
                            <a:srgbClr val="5E5E38"/>
                          </a:solidFill>
                        </a:rPr>
                        <a:t>[test name]</a:t>
                      </a:r>
                    </a:p>
                  </a:txBody>
                  <a:tcPr anchor="ctr" marL="109728" marR="109728" marT="36576" marB="36576">
                    <a:lnL w="0">
                      <a:noFill/>
                    </a:lnL>
                    <a:lnR w="0">
                      <a:noFill/>
                    </a:lnR>
                    <a:lnT w="0">
                      <a:noFill/>
                    </a:lnT>
                    <a:lnB w="9525">
                      <a:solidFill>
                        <a:srgbClr val="DFDFCC"/>
                      </a:solidFill>
                    </a:lnB>
                    <a:solidFill>
                      <a:srgbClr val="F1F1E7"/>
                    </a:solidFill>
                  </a:tcPr>
                </a:tc>
              </a:tr>
              <a:tr h="585216">
                <a:tc>
                  <a:txBody>
                    <a:bodyPr wrap="square" lIns="0" rIns="0" tIns="0" bIns="0" anchor="ctr"/>
                    <a:lstStyle/>
                    <a:p>
                      <a:pPr>
                        <a:spcAft>
                          <a:spcPts val="0"/>
                        </a:spcAft>
                      </a:pPr>
                      <a:r>
                        <a:rPr sz="1300" b="1" i="0">
                          <a:solidFill>
                            <a:srgbClr val="14150F"/>
                          </a:solidFill>
                        </a:rPr>
                        <a:t>History and audit trail</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WorkflowObserver, WorkflowHistory (Observer, Memento)</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1">
                          <a:solidFill>
                            <a:srgbClr val="5E5E38"/>
                          </a:solidFill>
                        </a:rPr>
                        <a:t>[test name]</a:t>
                      </a:r>
                    </a:p>
                  </a:txBody>
                  <a:tcPr anchor="ctr" marL="109728" marR="109728" marT="36576" marB="36576">
                    <a:lnL w="0">
                      <a:noFill/>
                    </a:lnL>
                    <a:lnR w="0">
                      <a:noFill/>
                    </a:lnR>
                    <a:lnT w="0">
                      <a:noFill/>
                    </a:lnT>
                    <a:lnB w="9525">
                      <a:solidFill>
                        <a:srgbClr val="DFDFCC"/>
                      </a:solidFill>
                    </a:lnB>
                    <a:solidFill>
                      <a:srgbClr val="FFFFFF"/>
                    </a:solidFill>
                  </a:tcPr>
                </a:tc>
              </a:tr>
              <a:tr h="585216">
                <a:tc>
                  <a:txBody>
                    <a:bodyPr wrap="square" lIns="0" rIns="0" tIns="0" bIns="0" anchor="ctr"/>
                    <a:lstStyle/>
                    <a:p>
                      <a:pPr>
                        <a:spcAft>
                          <a:spcPts val="0"/>
                        </a:spcAft>
                      </a:pPr>
                      <a:r>
                        <a:rPr sz="1300" b="1" i="0">
                          <a:solidFill>
                            <a:srgbClr val="14150F"/>
                          </a:solidFill>
                        </a:rPr>
                        <a:t>External notification</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0">
                          <a:solidFill>
                            <a:srgbClr val="14150F"/>
                          </a:solidFill>
                        </a:rPr>
                        <a:t>NotificationService, EmailAdapter (Adapter)</a:t>
                      </a:r>
                    </a:p>
                  </a:txBody>
                  <a:tcPr anchor="ctr" marL="109728" marR="109728" marT="36576" marB="36576">
                    <a:lnL w="0">
                      <a:noFill/>
                    </a:lnL>
                    <a:lnR w="0">
                      <a:noFill/>
                    </a:lnR>
                    <a:lnT w="0">
                      <a:noFill/>
                    </a:lnT>
                    <a:lnB w="9525">
                      <a:solidFill>
                        <a:srgbClr val="DFDFCC"/>
                      </a:solidFill>
                    </a:lnB>
                    <a:solidFill>
                      <a:srgbClr val="F1F1E7"/>
                    </a:solidFill>
                  </a:tcPr>
                </a:tc>
                <a:tc>
                  <a:txBody>
                    <a:bodyPr wrap="square" lIns="0" rIns="0" tIns="0" bIns="0" anchor="ctr"/>
                    <a:lstStyle/>
                    <a:p>
                      <a:pPr>
                        <a:spcAft>
                          <a:spcPts val="0"/>
                        </a:spcAft>
                      </a:pPr>
                      <a:r>
                        <a:rPr sz="1300" b="0" i="1">
                          <a:solidFill>
                            <a:srgbClr val="5E5E38"/>
                          </a:solidFill>
                        </a:rPr>
                        <a:t>[test name]</a:t>
                      </a:r>
                    </a:p>
                  </a:txBody>
                  <a:tcPr anchor="ctr" marL="109728" marR="109728" marT="36576" marB="36576">
                    <a:lnL w="0">
                      <a:noFill/>
                    </a:lnL>
                    <a:lnR w="0">
                      <a:noFill/>
                    </a:lnR>
                    <a:lnT w="0">
                      <a:noFill/>
                    </a:lnT>
                    <a:lnB w="9525">
                      <a:solidFill>
                        <a:srgbClr val="DFDFCC"/>
                      </a:solidFill>
                    </a:lnB>
                    <a:solidFill>
                      <a:srgbClr val="F1F1E7"/>
                    </a:solidFill>
                  </a:tcPr>
                </a:tc>
              </a:tr>
              <a:tr h="585216">
                <a:tc>
                  <a:txBody>
                    <a:bodyPr wrap="square" lIns="0" rIns="0" tIns="0" bIns="0" anchor="ctr"/>
                    <a:lstStyle/>
                    <a:p>
                      <a:pPr>
                        <a:spcAft>
                          <a:spcPts val="0"/>
                        </a:spcAft>
                      </a:pPr>
                      <a:r>
                        <a:rPr sz="1300" b="1" i="0">
                          <a:solidFill>
                            <a:srgbClr val="14150F"/>
                          </a:solidFill>
                        </a:rPr>
                        <a:t>Nested work and priority</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0">
                          <a:solidFill>
                            <a:srgbClr val="14150F"/>
                          </a:solidFill>
                        </a:rPr>
                        <a:t>WorkflowComponent, PriorityDecorator (Composite, Decorator)</a:t>
                      </a:r>
                    </a:p>
                  </a:txBody>
                  <a:tcPr anchor="ctr" marL="109728" marR="109728" marT="36576" marB="36576">
                    <a:lnL w="0">
                      <a:noFill/>
                    </a:lnL>
                    <a:lnR w="0">
                      <a:noFill/>
                    </a:lnR>
                    <a:lnT w="0">
                      <a:noFill/>
                    </a:lnT>
                    <a:lnB w="9525">
                      <a:solidFill>
                        <a:srgbClr val="DFDFCC"/>
                      </a:solidFill>
                    </a:lnB>
                    <a:solidFill>
                      <a:srgbClr val="FFFFFF"/>
                    </a:solidFill>
                  </a:tcPr>
                </a:tc>
                <a:tc>
                  <a:txBody>
                    <a:bodyPr wrap="square" lIns="0" rIns="0" tIns="0" bIns="0" anchor="ctr"/>
                    <a:lstStyle/>
                    <a:p>
                      <a:pPr>
                        <a:spcAft>
                          <a:spcPts val="0"/>
                        </a:spcAft>
                      </a:pPr>
                      <a:r>
                        <a:rPr sz="1300" b="0" i="1">
                          <a:solidFill>
                            <a:srgbClr val="5E5E38"/>
                          </a:solidFill>
                        </a:rPr>
                        <a:t>[test name]</a:t>
                      </a:r>
                    </a:p>
                  </a:txBody>
                  <a:tcPr anchor="ctr" marL="109728" marR="109728" marT="36576" marB="36576">
                    <a:lnL w="0">
                      <a:noFill/>
                    </a:lnL>
                    <a:lnR w="0">
                      <a:noFill/>
                    </a:lnR>
                    <a:lnT w="0">
                      <a:noFill/>
                    </a:lnT>
                    <a:lnB w="9525">
                      <a:solidFill>
                        <a:srgbClr val="DFDFCC"/>
                      </a:solidFill>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Section tag"/>
          <p:cNvSpPr txBox="1"/>
          <p:nvPr/>
        </p:nvSpPr>
        <p:spPr>
          <a:xfrm>
            <a:off x="548640" y="329184"/>
            <a:ext cx="8229600" cy="256032"/>
          </a:xfrm>
          <a:prstGeom prst="rect">
            <a:avLst/>
          </a:prstGeom>
          <a:noFill/>
        </p:spPr>
        <p:txBody>
          <a:bodyPr wrap="square" lIns="0" rIns="0" tIns="0" bIns="0" anchor="t">
            <a:spAutoFit/>
          </a:bodyPr>
          <a:lstStyle/>
          <a:p>
            <a:pPr>
              <a:spcAft>
                <a:spcPts val="0"/>
              </a:spcAft>
            </a:pPr>
            <a:r>
              <a:rPr sz="1100" b="1" i="0" spc="150">
                <a:solidFill>
                  <a:srgbClr val="5E5E38"/>
                </a:solidFill>
              </a:rPr>
              <a:t>CLOSING</a:t>
            </a:r>
          </a:p>
        </p:txBody>
      </p:sp>
      <p:sp>
        <p:nvSpPr>
          <p:cNvPr id="4" name="Summary card"/>
          <p:cNvSpPr/>
          <p:nvPr/>
        </p:nvSpPr>
        <p:spPr>
          <a:xfrm>
            <a:off x="548640" y="1572768"/>
            <a:ext cx="3544824"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con circle"/>
          <p:cNvSpPr/>
          <p:nvPr/>
        </p:nvSpPr>
        <p:spPr>
          <a:xfrm>
            <a:off x="777240" y="1801368"/>
            <a:ext cx="566928" cy="566928"/>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Icon FaCogs" descr="FaCogs_w.png"/>
          <p:cNvPicPr>
            <a:picLocks noChangeAspect="1"/>
          </p:cNvPicPr>
          <p:nvPr/>
        </p:nvPicPr>
        <p:blipFill>
          <a:blip r:embed="rId3"/>
          <a:stretch>
            <a:fillRect/>
          </a:stretch>
        </p:blipFill>
        <p:spPr>
          <a:xfrm>
            <a:off x="913302" y="1937430"/>
            <a:ext cx="294802" cy="294802"/>
          </a:xfrm>
          <a:prstGeom prst="rect">
            <a:avLst/>
          </a:prstGeom>
        </p:spPr>
      </p:pic>
      <p:sp>
        <p:nvSpPr>
          <p:cNvPr id="7" name="Summary text"/>
          <p:cNvSpPr txBox="1"/>
          <p:nvPr/>
        </p:nvSpPr>
        <p:spPr>
          <a:xfrm>
            <a:off x="777240" y="2532888"/>
            <a:ext cx="3087624" cy="1188720"/>
          </a:xfrm>
          <a:prstGeom prst="rect">
            <a:avLst/>
          </a:prstGeom>
          <a:noFill/>
        </p:spPr>
        <p:txBody>
          <a:bodyPr wrap="square" lIns="0" rIns="0" tIns="0" bIns="0" anchor="t">
            <a:spAutoFit/>
          </a:bodyPr>
          <a:lstStyle/>
          <a:p>
            <a:pPr>
              <a:spcAft>
                <a:spcPts val="300"/>
              </a:spcAft>
            </a:pPr>
            <a:r>
              <a:rPr sz="1800" b="1" i="0">
                <a:solidFill>
                  <a:srgbClr val="14150F"/>
                </a:solidFill>
              </a:rPr>
              <a:t>One reusable engine</a:t>
            </a:r>
          </a:p>
          <a:p>
            <a:pPr>
              <a:spcAft>
                <a:spcPts val="0"/>
              </a:spcAft>
            </a:pPr>
            <a:r>
              <a:rPr sz="1400" b="0" i="0">
                <a:solidFill>
                  <a:srgbClr val="66665A"/>
                </a:solidFill>
              </a:rPr>
              <a:t>Definitions, instances and clear boundaries</a:t>
            </a:r>
          </a:p>
        </p:txBody>
      </p:sp>
      <p:sp>
        <p:nvSpPr>
          <p:cNvPr id="8" name="Summary card"/>
          <p:cNvSpPr/>
          <p:nvPr/>
        </p:nvSpPr>
        <p:spPr>
          <a:xfrm>
            <a:off x="4322064" y="1572768"/>
            <a:ext cx="3544824"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con circle"/>
          <p:cNvSpPr/>
          <p:nvPr/>
        </p:nvSpPr>
        <p:spPr>
          <a:xfrm>
            <a:off x="4550664" y="1801368"/>
            <a:ext cx="566928" cy="566928"/>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Icon FaUniversity" descr="FaUniversity_w.png"/>
          <p:cNvPicPr>
            <a:picLocks noChangeAspect="1"/>
          </p:cNvPicPr>
          <p:nvPr/>
        </p:nvPicPr>
        <p:blipFill>
          <a:blip r:embed="rId4"/>
          <a:stretch>
            <a:fillRect/>
          </a:stretch>
        </p:blipFill>
        <p:spPr>
          <a:xfrm>
            <a:off x="4686726" y="1937430"/>
            <a:ext cx="294802" cy="294802"/>
          </a:xfrm>
          <a:prstGeom prst="rect">
            <a:avLst/>
          </a:prstGeom>
        </p:spPr>
      </p:pic>
      <p:sp>
        <p:nvSpPr>
          <p:cNvPr id="11" name="Summary text"/>
          <p:cNvSpPr txBox="1"/>
          <p:nvPr/>
        </p:nvSpPr>
        <p:spPr>
          <a:xfrm>
            <a:off x="4550664" y="2532888"/>
            <a:ext cx="3087624" cy="1188720"/>
          </a:xfrm>
          <a:prstGeom prst="rect">
            <a:avLst/>
          </a:prstGeom>
          <a:noFill/>
        </p:spPr>
        <p:txBody>
          <a:bodyPr wrap="square" lIns="0" rIns="0" tIns="0" bIns="0" anchor="t">
            <a:spAutoFit/>
          </a:bodyPr>
          <a:lstStyle/>
          <a:p>
            <a:pPr>
              <a:spcAft>
                <a:spcPts val="300"/>
              </a:spcAft>
            </a:pPr>
            <a:r>
              <a:rPr sz="1800" b="1" i="0">
                <a:solidFill>
                  <a:srgbClr val="14150F"/>
                </a:solidFill>
              </a:rPr>
              <a:t>Two industries</a:t>
            </a:r>
          </a:p>
          <a:p>
            <a:pPr>
              <a:spcAft>
                <a:spcPts val="0"/>
              </a:spcAft>
            </a:pPr>
            <a:r>
              <a:rPr sz="1400" b="0" i="0">
                <a:solidFill>
                  <a:srgbClr val="66665A"/>
                </a:solidFill>
              </a:rPr>
              <a:t>University complaints and hospital admission</a:t>
            </a:r>
          </a:p>
        </p:txBody>
      </p:sp>
      <p:sp>
        <p:nvSpPr>
          <p:cNvPr id="12" name="Summary card"/>
          <p:cNvSpPr/>
          <p:nvPr/>
        </p:nvSpPr>
        <p:spPr>
          <a:xfrm>
            <a:off x="8095488" y="1572768"/>
            <a:ext cx="3544824"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con circle"/>
          <p:cNvSpPr/>
          <p:nvPr/>
        </p:nvSpPr>
        <p:spPr>
          <a:xfrm>
            <a:off x="8324088" y="1801368"/>
            <a:ext cx="566928" cy="566928"/>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Icon FaSitemap" descr="FaSitemap_w.png"/>
          <p:cNvPicPr>
            <a:picLocks noChangeAspect="1"/>
          </p:cNvPicPr>
          <p:nvPr/>
        </p:nvPicPr>
        <p:blipFill>
          <a:blip r:embed="rId5"/>
          <a:stretch>
            <a:fillRect/>
          </a:stretch>
        </p:blipFill>
        <p:spPr>
          <a:xfrm>
            <a:off x="8460150" y="1937430"/>
            <a:ext cx="294802" cy="294802"/>
          </a:xfrm>
          <a:prstGeom prst="rect">
            <a:avLst/>
          </a:prstGeom>
        </p:spPr>
      </p:pic>
      <p:sp>
        <p:nvSpPr>
          <p:cNvPr id="15" name="Summary text"/>
          <p:cNvSpPr txBox="1"/>
          <p:nvPr/>
        </p:nvSpPr>
        <p:spPr>
          <a:xfrm>
            <a:off x="8324088" y="2532888"/>
            <a:ext cx="3087624" cy="1188720"/>
          </a:xfrm>
          <a:prstGeom prst="rect">
            <a:avLst/>
          </a:prstGeom>
          <a:noFill/>
        </p:spPr>
        <p:txBody>
          <a:bodyPr wrap="square" lIns="0" rIns="0" tIns="0" bIns="0" anchor="t">
            <a:spAutoFit/>
          </a:bodyPr>
          <a:lstStyle/>
          <a:p>
            <a:pPr>
              <a:spcAft>
                <a:spcPts val="300"/>
              </a:spcAft>
            </a:pPr>
            <a:r>
              <a:rPr sz="1800" b="1" i="0">
                <a:solidFill>
                  <a:srgbClr val="14150F"/>
                </a:solidFill>
              </a:rPr>
              <a:t>GoF patterns</a:t>
            </a:r>
          </a:p>
          <a:p>
            <a:pPr>
              <a:spcAft>
                <a:spcPts val="0"/>
              </a:spcAft>
            </a:pPr>
            <a:r>
              <a:rPr sz="1400" b="0" i="0">
                <a:solidFill>
                  <a:srgbClr val="66665A"/>
                </a:solidFill>
              </a:rPr>
              <a:t>One connected design, not isolated demos</a:t>
            </a:r>
          </a:p>
        </p:txBody>
      </p:sp>
      <p:sp>
        <p:nvSpPr>
          <p:cNvPr id="16" name="Summary card"/>
          <p:cNvSpPr/>
          <p:nvPr/>
        </p:nvSpPr>
        <p:spPr>
          <a:xfrm>
            <a:off x="548640" y="3950208"/>
            <a:ext cx="3544824"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con circle"/>
          <p:cNvSpPr/>
          <p:nvPr/>
        </p:nvSpPr>
        <p:spPr>
          <a:xfrm>
            <a:off x="777240" y="4178808"/>
            <a:ext cx="566928" cy="566928"/>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Icon FaTerminal" descr="FaTerminal_w.png"/>
          <p:cNvPicPr>
            <a:picLocks noChangeAspect="1"/>
          </p:cNvPicPr>
          <p:nvPr/>
        </p:nvPicPr>
        <p:blipFill>
          <a:blip r:embed="rId6"/>
          <a:stretch>
            <a:fillRect/>
          </a:stretch>
        </p:blipFill>
        <p:spPr>
          <a:xfrm>
            <a:off x="913302" y="4314870"/>
            <a:ext cx="294802" cy="294802"/>
          </a:xfrm>
          <a:prstGeom prst="rect">
            <a:avLst/>
          </a:prstGeom>
        </p:spPr>
      </p:pic>
      <p:sp>
        <p:nvSpPr>
          <p:cNvPr id="19" name="Summary text"/>
          <p:cNvSpPr txBox="1"/>
          <p:nvPr/>
        </p:nvSpPr>
        <p:spPr>
          <a:xfrm>
            <a:off x="777240" y="4910328"/>
            <a:ext cx="3087624" cy="1188720"/>
          </a:xfrm>
          <a:prstGeom prst="rect">
            <a:avLst/>
          </a:prstGeom>
          <a:noFill/>
        </p:spPr>
        <p:txBody>
          <a:bodyPr wrap="square" lIns="0" rIns="0" tIns="0" bIns="0" anchor="t">
            <a:spAutoFit/>
          </a:bodyPr>
          <a:lstStyle/>
          <a:p>
            <a:pPr>
              <a:spcAft>
                <a:spcPts val="300"/>
              </a:spcAft>
            </a:pPr>
            <a:r>
              <a:rPr sz="1800" b="1" i="0">
                <a:solidFill>
                  <a:srgbClr val="14150F"/>
                </a:solidFill>
              </a:rPr>
              <a:t>Interactive TUI</a:t>
            </a:r>
          </a:p>
          <a:p>
            <a:pPr>
              <a:spcAft>
                <a:spcPts val="0"/>
              </a:spcAft>
            </a:pPr>
            <a:r>
              <a:rPr sz="1400" b="0" i="0">
                <a:solidFill>
                  <a:srgbClr val="66665A"/>
                </a:solidFill>
              </a:rPr>
              <a:t>Live decisions, exceptions and history in C++11</a:t>
            </a:r>
          </a:p>
        </p:txBody>
      </p:sp>
      <p:sp>
        <p:nvSpPr>
          <p:cNvPr id="20" name="Summary card"/>
          <p:cNvSpPr/>
          <p:nvPr/>
        </p:nvSpPr>
        <p:spPr>
          <a:xfrm>
            <a:off x="4322064" y="3950208"/>
            <a:ext cx="3544824"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con circle"/>
          <p:cNvSpPr/>
          <p:nvPr/>
        </p:nvSpPr>
        <p:spPr>
          <a:xfrm>
            <a:off x="4550664" y="4178808"/>
            <a:ext cx="566928" cy="566928"/>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Icon FaFlask" descr="FaFlask_w.png"/>
          <p:cNvPicPr>
            <a:picLocks noChangeAspect="1"/>
          </p:cNvPicPr>
          <p:nvPr/>
        </p:nvPicPr>
        <p:blipFill>
          <a:blip r:embed="rId7"/>
          <a:stretch>
            <a:fillRect/>
          </a:stretch>
        </p:blipFill>
        <p:spPr>
          <a:xfrm>
            <a:off x="4686726" y="4314870"/>
            <a:ext cx="294802" cy="294802"/>
          </a:xfrm>
          <a:prstGeom prst="rect">
            <a:avLst/>
          </a:prstGeom>
        </p:spPr>
      </p:pic>
      <p:sp>
        <p:nvSpPr>
          <p:cNvPr id="23" name="Summary text"/>
          <p:cNvSpPr txBox="1"/>
          <p:nvPr/>
        </p:nvSpPr>
        <p:spPr>
          <a:xfrm>
            <a:off x="4550664" y="4910328"/>
            <a:ext cx="3087624" cy="1188720"/>
          </a:xfrm>
          <a:prstGeom prst="rect">
            <a:avLst/>
          </a:prstGeom>
          <a:noFill/>
        </p:spPr>
        <p:txBody>
          <a:bodyPr wrap="square" lIns="0" rIns="0" tIns="0" bIns="0" anchor="t">
            <a:spAutoFit/>
          </a:bodyPr>
          <a:lstStyle/>
          <a:p>
            <a:pPr>
              <a:spcAft>
                <a:spcPts val="300"/>
              </a:spcAft>
            </a:pPr>
            <a:r>
              <a:rPr sz="1800" b="1" i="0">
                <a:solidFill>
                  <a:srgbClr val="14150F"/>
                </a:solidFill>
              </a:rPr>
              <a:t>Automated tests</a:t>
            </a:r>
          </a:p>
          <a:p>
            <a:pPr>
              <a:spcAft>
                <a:spcPts val="0"/>
              </a:spcAft>
            </a:pPr>
            <a:r>
              <a:rPr sz="1400" b="0" i="0">
                <a:solidFill>
                  <a:srgbClr val="66665A"/>
                </a:solidFill>
              </a:rPr>
              <a:t>Transitions, routing, isolation, invalid actions</a:t>
            </a:r>
          </a:p>
        </p:txBody>
      </p:sp>
      <p:sp>
        <p:nvSpPr>
          <p:cNvPr id="24" name="Summary card"/>
          <p:cNvSpPr/>
          <p:nvPr/>
        </p:nvSpPr>
        <p:spPr>
          <a:xfrm>
            <a:off x="8095488" y="3950208"/>
            <a:ext cx="3544824" cy="2194560"/>
          </a:xfrm>
          <a:prstGeom prst="roundRect">
            <a:avLst>
              <a:gd name="adj" fmla="val 5000"/>
            </a:avLst>
          </a:prstGeom>
          <a:solidFill>
            <a:srgbClr val="F1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con circle"/>
          <p:cNvSpPr/>
          <p:nvPr/>
        </p:nvSpPr>
        <p:spPr>
          <a:xfrm>
            <a:off x="8324088" y="4178808"/>
            <a:ext cx="566928" cy="566928"/>
          </a:xfrm>
          <a:prstGeom prst="ellipse">
            <a:avLst/>
          </a:prstGeom>
          <a:solidFill>
            <a:srgbClr val="1415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Icon FaCodeBranch" descr="FaCodeBranch_w.png"/>
          <p:cNvPicPr>
            <a:picLocks noChangeAspect="1"/>
          </p:cNvPicPr>
          <p:nvPr/>
        </p:nvPicPr>
        <p:blipFill>
          <a:blip r:embed="rId8"/>
          <a:stretch>
            <a:fillRect/>
          </a:stretch>
        </p:blipFill>
        <p:spPr>
          <a:xfrm>
            <a:off x="8460150" y="4314870"/>
            <a:ext cx="294802" cy="294802"/>
          </a:xfrm>
          <a:prstGeom prst="rect">
            <a:avLst/>
          </a:prstGeom>
        </p:spPr>
      </p:pic>
      <p:sp>
        <p:nvSpPr>
          <p:cNvPr id="27" name="Summary text"/>
          <p:cNvSpPr txBox="1"/>
          <p:nvPr/>
        </p:nvSpPr>
        <p:spPr>
          <a:xfrm>
            <a:off x="8324088" y="4910328"/>
            <a:ext cx="3087624" cy="1188720"/>
          </a:xfrm>
          <a:prstGeom prst="rect">
            <a:avLst/>
          </a:prstGeom>
          <a:noFill/>
        </p:spPr>
        <p:txBody>
          <a:bodyPr wrap="square" lIns="0" rIns="0" tIns="0" bIns="0" anchor="t">
            <a:spAutoFit/>
          </a:bodyPr>
          <a:lstStyle/>
          <a:p>
            <a:pPr>
              <a:spcAft>
                <a:spcPts val="300"/>
              </a:spcAft>
            </a:pPr>
            <a:r>
              <a:rPr sz="1800" b="1" i="0">
                <a:solidFill>
                  <a:srgbClr val="14150F"/>
                </a:solidFill>
              </a:rPr>
              <a:t>Documented history</a:t>
            </a:r>
          </a:p>
          <a:p>
            <a:pPr>
              <a:spcAft>
                <a:spcPts val="0"/>
              </a:spcAft>
            </a:pPr>
            <a:r>
              <a:rPr sz="1400" b="0" i="0">
                <a:solidFill>
                  <a:srgbClr val="66665A"/>
                </a:solidFill>
              </a:rPr>
              <a:t>Design decisions, UML and Git evidence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Freeform 2"/>
          <p:cNvSpPr/>
          <p:nvPr/>
        </p:nvSpPr>
        <p:spPr>
          <a:xfrm flipV="1">
            <a:off x="0" y="-1"/>
            <a:ext cx="12192000" cy="6858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2">
              <a:duotone>
                <a:prstClr val="black"/>
                <a:srgbClr val="FFFF00">
                  <a:tint val="45000"/>
                  <a:satMod val="400000"/>
                </a:srgbClr>
              </a:duotone>
            </a:blip>
            <a:stretch>
              <a:fillRect t="-1777" b="-1777"/>
            </a:stretch>
          </a:blipFill>
        </p:spPr>
        <p:txBody>
          <a:bodyPr/>
          <a:lstStyle/>
          <a:p>
            <a:endParaRPr lang="en-US" dirty="0"/>
          </a:p>
        </p:txBody>
      </p:sp>
      <p:sp>
        <p:nvSpPr>
          <p:cNvPr id="7" name="Freeform 7"/>
          <p:cNvSpPr/>
          <p:nvPr/>
        </p:nvSpPr>
        <p:spPr>
          <a:xfrm>
            <a:off x="893991" y="578875"/>
            <a:ext cx="705412" cy="961380"/>
          </a:xfrm>
          <a:custGeom>
            <a:avLst/>
            <a:gdLst/>
            <a:ahLst/>
            <a:cxnLst/>
            <a:rect l="l" t="t" r="r" b="b"/>
            <a:pathLst>
              <a:path w="1058118" h="1442069">
                <a:moveTo>
                  <a:pt x="0" y="0"/>
                </a:moveTo>
                <a:lnTo>
                  <a:pt x="1058118" y="0"/>
                </a:lnTo>
                <a:lnTo>
                  <a:pt x="1058118" y="1442070"/>
                </a:lnTo>
                <a:lnTo>
                  <a:pt x="0" y="1442070"/>
                </a:lnTo>
                <a:lnTo>
                  <a:pt x="0" y="0"/>
                </a:lnTo>
                <a:close/>
              </a:path>
            </a:pathLst>
          </a:custGeom>
          <a:blipFill>
            <a:blip r:embed="rId3"/>
            <a:stretch>
              <a:fillRect/>
            </a:stretch>
          </a:blipFill>
        </p:spPr>
        <p:txBody>
          <a:bodyPr/>
          <a:lstStyle/>
          <a:p>
            <a:endParaRPr lang="en-US"/>
          </a:p>
        </p:txBody>
      </p:sp>
      <p:sp>
        <p:nvSpPr>
          <p:cNvPr id="9" name="Freeform 8"/>
          <p:cNvSpPr/>
          <p:nvPr/>
        </p:nvSpPr>
        <p:spPr>
          <a:xfrm>
            <a:off x="10724588" y="578875"/>
            <a:ext cx="705412" cy="961380"/>
          </a:xfrm>
          <a:custGeom>
            <a:avLst/>
            <a:gdLst/>
            <a:ahLst/>
            <a:cxnLst/>
            <a:rect l="l" t="t" r="r" b="b"/>
            <a:pathLst>
              <a:path w="1058118" h="1442069">
                <a:moveTo>
                  <a:pt x="0" y="0"/>
                </a:moveTo>
                <a:lnTo>
                  <a:pt x="1058118" y="0"/>
                </a:lnTo>
                <a:lnTo>
                  <a:pt x="1058118" y="1442070"/>
                </a:lnTo>
                <a:lnTo>
                  <a:pt x="0" y="1442070"/>
                </a:lnTo>
                <a:lnTo>
                  <a:pt x="0" y="0"/>
                </a:lnTo>
                <a:close/>
              </a:path>
            </a:pathLst>
          </a:custGeom>
          <a:blipFill>
            <a:blip r:embed="rId3"/>
            <a:stretch>
              <a:fillRect/>
            </a:stretch>
          </a:blipFill>
        </p:spPr>
        <p:txBody>
          <a:bodyPr/>
          <a:lstStyle/>
          <a:p>
            <a:endParaRPr lang="en-US"/>
          </a:p>
        </p:txBody>
      </p:sp>
      <p:sp>
        <p:nvSpPr>
          <p:cNvPr id="2" name="Title 1"/>
          <p:cNvSpPr>
            <a:spLocks noGrp="1"/>
          </p:cNvSpPr>
          <p:nvPr>
            <p:ph type="ctrTitle"/>
          </p:nvPr>
        </p:nvSpPr>
        <p:spPr>
          <a:xfrm>
            <a:off x="1280160" y="1920240"/>
            <a:ext cx="9628632" cy="1371600"/>
          </a:xfrm>
        </p:spPr>
        <p:txBody>
          <a:bodyPr anchor="b"/>
          <a:lstStyle/>
          <a:p>
            <a:r>
              <a:rPr sz="6600" b="1">
                <a:solidFill>
                  <a:schemeClr val="bg1"/>
                </a:solidFill>
              </a:rPr>
              <a:t>Questions</a:t>
            </a:r>
          </a:p>
        </p:txBody>
      </p:sp>
      <p:sp>
        <p:nvSpPr>
          <p:cNvPr id="3" name="Subtitle 2"/>
          <p:cNvSpPr>
            <a:spLocks noGrp="1"/>
          </p:cNvSpPr>
          <p:nvPr>
            <p:ph type="subTitle" idx="1"/>
          </p:nvPr>
        </p:nvSpPr>
        <p:spPr>
          <a:xfrm>
            <a:off x="1280160" y="3429000"/>
            <a:ext cx="9628632" cy="548640"/>
          </a:xfrm>
        </p:spPr>
        <p:txBody>
          <a:bodyPr/>
          <a:lstStyle/>
          <a:p>
            <a:r>
              <a:rPr sz="2600">
                <a:solidFill>
                  <a:srgbClr val="FFFFFF"/>
                </a:solidFill>
              </a:rPr>
              <a:t>Thank you</a:t>
            </a:r>
          </a:p>
        </p:txBody>
      </p:sp>
      <p:sp>
        <p:nvSpPr>
          <p:cNvPr id="10" name="Repository link"/>
          <p:cNvSpPr txBox="1"/>
          <p:nvPr/>
        </p:nvSpPr>
        <p:spPr>
          <a:xfrm>
            <a:off x="1280160" y="4206240"/>
            <a:ext cx="9628632" cy="365760"/>
          </a:xfrm>
          <a:prstGeom prst="rect">
            <a:avLst/>
          </a:prstGeom>
          <a:noFill/>
        </p:spPr>
        <p:txBody>
          <a:bodyPr wrap="square" lIns="0" rIns="0" tIns="0" bIns="0" anchor="t">
            <a:spAutoFit/>
          </a:bodyPr>
          <a:lstStyle/>
          <a:p>
            <a:pPr algn="ctr">
              <a:spcAft>
                <a:spcPts val="0"/>
              </a:spcAft>
            </a:pPr>
            <a:r>
              <a:rPr sz="1600" b="1" i="0">
                <a:solidFill>
                  <a:srgbClr val="CACA98"/>
                </a:solidFill>
              </a:rPr>
              <a:t>github.com/Kristy2005/TIVIDY-Prac6</a:t>
            </a:r>
          </a:p>
        </p:txBody>
      </p:sp>
      <p:sp>
        <p:nvSpPr>
          <p:cNvPr id="11" name="Team member"/>
          <p:cNvSpPr txBox="1"/>
          <p:nvPr/>
        </p:nvSpPr>
        <p:spPr>
          <a:xfrm>
            <a:off x="548640" y="5349240"/>
            <a:ext cx="2218334" cy="548640"/>
          </a:xfrm>
          <a:prstGeom prst="rect">
            <a:avLst/>
          </a:prstGeom>
          <a:noFill/>
        </p:spPr>
        <p:txBody>
          <a:bodyPr wrap="square" lIns="0" rIns="0" tIns="0" bIns="0" anchor="t">
            <a:spAutoFit/>
          </a:bodyPr>
          <a:lstStyle/>
          <a:p>
            <a:pPr algn="ctr">
              <a:spcAft>
                <a:spcPts val="100"/>
              </a:spcAft>
            </a:pPr>
            <a:r>
              <a:rPr sz="1400" b="1" i="0">
                <a:solidFill>
                  <a:srgbClr val="FFFFFF"/>
                </a:solidFill>
              </a:rPr>
              <a:t>Lindokuhle Skosana</a:t>
            </a:r>
          </a:p>
          <a:p>
            <a:pPr algn="ctr">
              <a:spcAft>
                <a:spcPts val="0"/>
              </a:spcAft>
            </a:pPr>
            <a:r>
              <a:rPr sz="1200" b="0" i="0">
                <a:solidFill>
                  <a:srgbClr val="DDDDCB"/>
                </a:solidFill>
              </a:rPr>
              <a:t>u24891968</a:t>
            </a:r>
          </a:p>
        </p:txBody>
      </p:sp>
      <p:sp>
        <p:nvSpPr>
          <p:cNvPr id="12" name="Team member"/>
          <p:cNvSpPr txBox="1"/>
          <p:nvPr/>
        </p:nvSpPr>
        <p:spPr>
          <a:xfrm>
            <a:off x="2766974" y="5349240"/>
            <a:ext cx="2218334" cy="548640"/>
          </a:xfrm>
          <a:prstGeom prst="rect">
            <a:avLst/>
          </a:prstGeom>
          <a:noFill/>
        </p:spPr>
        <p:txBody>
          <a:bodyPr wrap="square" lIns="0" rIns="0" tIns="0" bIns="0" anchor="t">
            <a:spAutoFit/>
          </a:bodyPr>
          <a:lstStyle/>
          <a:p>
            <a:pPr algn="ctr">
              <a:spcAft>
                <a:spcPts val="100"/>
              </a:spcAft>
            </a:pPr>
            <a:r>
              <a:rPr sz="1400" b="1" i="0">
                <a:solidFill>
                  <a:srgbClr val="FFFFFF"/>
                </a:solidFill>
              </a:rPr>
              <a:t>Kristy Heesen</a:t>
            </a:r>
          </a:p>
          <a:p>
            <a:pPr algn="ctr">
              <a:spcAft>
                <a:spcPts val="0"/>
              </a:spcAft>
            </a:pPr>
            <a:r>
              <a:rPr sz="1200" b="0" i="0">
                <a:solidFill>
                  <a:srgbClr val="DDDDCB"/>
                </a:solidFill>
              </a:rPr>
              <a:t>u24702341</a:t>
            </a:r>
          </a:p>
        </p:txBody>
      </p:sp>
      <p:sp>
        <p:nvSpPr>
          <p:cNvPr id="13" name="Team member"/>
          <p:cNvSpPr txBox="1"/>
          <p:nvPr/>
        </p:nvSpPr>
        <p:spPr>
          <a:xfrm>
            <a:off x="4985308" y="5349240"/>
            <a:ext cx="2218334" cy="548640"/>
          </a:xfrm>
          <a:prstGeom prst="rect">
            <a:avLst/>
          </a:prstGeom>
          <a:noFill/>
        </p:spPr>
        <p:txBody>
          <a:bodyPr wrap="square" lIns="0" rIns="0" tIns="0" bIns="0" anchor="t">
            <a:spAutoFit/>
          </a:bodyPr>
          <a:lstStyle/>
          <a:p>
            <a:pPr algn="ctr">
              <a:spcAft>
                <a:spcPts val="100"/>
              </a:spcAft>
            </a:pPr>
            <a:r>
              <a:rPr sz="1400" b="1" i="0">
                <a:solidFill>
                  <a:srgbClr val="FFFFFF"/>
                </a:solidFill>
              </a:rPr>
              <a:t>LM Kabongo</a:t>
            </a:r>
          </a:p>
          <a:p>
            <a:pPr algn="ctr">
              <a:spcAft>
                <a:spcPts val="0"/>
              </a:spcAft>
            </a:pPr>
            <a:r>
              <a:rPr sz="1200" b="0" i="0">
                <a:solidFill>
                  <a:srgbClr val="DDDDCB"/>
                </a:solidFill>
              </a:rPr>
              <a:t>25030338</a:t>
            </a:r>
          </a:p>
        </p:txBody>
      </p:sp>
      <p:sp>
        <p:nvSpPr>
          <p:cNvPr id="14" name="Team member"/>
          <p:cNvSpPr txBox="1"/>
          <p:nvPr/>
        </p:nvSpPr>
        <p:spPr>
          <a:xfrm>
            <a:off x="7203643" y="5349240"/>
            <a:ext cx="2218334" cy="548640"/>
          </a:xfrm>
          <a:prstGeom prst="rect">
            <a:avLst/>
          </a:prstGeom>
          <a:noFill/>
        </p:spPr>
        <p:txBody>
          <a:bodyPr wrap="square" lIns="0" rIns="0" tIns="0" bIns="0" anchor="t">
            <a:spAutoFit/>
          </a:bodyPr>
          <a:lstStyle/>
          <a:p>
            <a:pPr algn="ctr">
              <a:spcAft>
                <a:spcPts val="100"/>
              </a:spcAft>
            </a:pPr>
            <a:r>
              <a:rPr sz="1400" b="1" i="0">
                <a:solidFill>
                  <a:srgbClr val="FFFFFF"/>
                </a:solidFill>
              </a:rPr>
              <a:t>Joshua Peter</a:t>
            </a:r>
          </a:p>
          <a:p>
            <a:pPr algn="ctr">
              <a:spcAft>
                <a:spcPts val="0"/>
              </a:spcAft>
            </a:pPr>
            <a:r>
              <a:rPr sz="1200" b="0" i="0">
                <a:solidFill>
                  <a:srgbClr val="DDDDCB"/>
                </a:solidFill>
              </a:rPr>
              <a:t>23626527</a:t>
            </a:r>
          </a:p>
        </p:txBody>
      </p:sp>
      <p:sp>
        <p:nvSpPr>
          <p:cNvPr id="15" name="Team member"/>
          <p:cNvSpPr txBox="1"/>
          <p:nvPr/>
        </p:nvSpPr>
        <p:spPr>
          <a:xfrm>
            <a:off x="9421977" y="5349240"/>
            <a:ext cx="2218334" cy="548640"/>
          </a:xfrm>
          <a:prstGeom prst="rect">
            <a:avLst/>
          </a:prstGeom>
          <a:noFill/>
        </p:spPr>
        <p:txBody>
          <a:bodyPr wrap="square" lIns="0" rIns="0" tIns="0" bIns="0" anchor="t">
            <a:spAutoFit/>
          </a:bodyPr>
          <a:lstStyle/>
          <a:p>
            <a:pPr algn="ctr">
              <a:spcAft>
                <a:spcPts val="100"/>
              </a:spcAft>
            </a:pPr>
            <a:r>
              <a:rPr sz="1400" b="1" i="0">
                <a:solidFill>
                  <a:srgbClr val="FFFFFF"/>
                </a:solidFill>
              </a:rPr>
              <a:t>Musa Msibi</a:t>
            </a:r>
          </a:p>
          <a:p>
            <a:pPr algn="ctr">
              <a:spcAft>
                <a:spcPts val="0"/>
              </a:spcAft>
            </a:pPr>
            <a:r>
              <a:rPr sz="1200" b="0" i="0">
                <a:solidFill>
                  <a:srgbClr val="DDDDCB"/>
                </a:solidFill>
              </a:rPr>
              <a:t>25098022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TotalTime>
  <Words>94</Words>
  <Application>Microsoft Office PowerPoint</Application>
  <PresentationFormat>Widescreen</PresentationFormat>
  <Paragraphs>14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University Student Complaint Management</vt:lpstr>
      <vt:lpstr>Hospital Admission System</vt:lpstr>
      <vt:lpstr>PowerPoint Presentation</vt:lpstr>
      <vt:lpstr>PowerPoint Presentation</vt:lpstr>
      <vt:lpstr>UML Class Diagram:</vt:lpstr>
      <vt:lpstr>Hospital Admission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TIVIDY Final Project Presentation</dc:title>
  <dc:creator>Mr. M Msibi</dc:creator>
  <cp:lastModifiedBy>Mr. M Msibi</cp:lastModifiedBy>
  <cp:revision>1</cp:revision>
  <dcterms:created xsi:type="dcterms:W3CDTF">2026-10-26T06:51:38Z</dcterms:created>
  <dcterms:modified xsi:type="dcterms:W3CDTF">2026-10-26T08:35:15Z</dcterms:modified>
  <dc:subject>COS 214 Final Project 2026</dc:subject>
</cp:coreProperties>
</file>