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4" r:id="rId2"/>
    <p:sldId id="265" r:id="rId3"/>
    <p:sldId id="266" r:id="rId4"/>
    <p:sldId id="267" r:id="rId13"/>
    <p:sldId id="285" r:id="rId5"/>
    <p:sldId id="286" r:id="rId6"/>
    <p:sldId id="294" r:id="rId9"/>
    <p:sldId id="277" r:id="rId16"/>
    <p:sldId id="298" r:id="rId17"/>
    <p:sldId id="287" r:id="rId7"/>
    <p:sldId id="270" r:id="rId19"/>
    <p:sldId id="295" r:id="rId10"/>
    <p:sldId id="283" r:id="rId20"/>
    <p:sldId id="284" r:id="rId21"/>
    <p:sldId id="300" r:id="rId22"/>
    <p:sldId id="297" r:id="rId12"/>
    <p:sldId id="278" r:id="rId33"/>
    <p:sldId id="268" r:id="rId14"/>
    <p:sldId id="301" r:id="rId23"/>
    <p:sldId id="269" r:id="rId15"/>
    <p:sldId id="288" r:id="rId24"/>
    <p:sldId id="289" r:id="rId25"/>
    <p:sldId id="292" r:id="rId36"/>
    <p:sldId id="271" r:id="rId27"/>
    <p:sldId id="272" r:id="rId28"/>
    <p:sldId id="276" r:id="rId32"/>
    <p:sldId id="275" r:id="rId31"/>
    <p:sldId id="273" r:id="rId29"/>
    <p:sldId id="274" r:id="rId30"/>
    <p:sldId id="279" r:id="rId34"/>
    <p:sldId id="28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521415D9-36F7-43E2-AB2F-B90AF26B5E84}">
      <p14:sectionLst xmlns:p14="http://schemas.microsoft.com/office/powerpoint/2010/main">
        <p14:section name="Introduction" id="{B3AF1461-DDEC-447D-BB53-3E574D328F38}">
          <p14:sldIdLst>
            <p14:sldId id="264"/>
            <p14:sldId id="265"/>
            <p14:sldId id="266"/>
            <p14:sldId id="267"/>
          </p14:sldIdLst>
        </p14:section>
        <p14:section name="Two industries" id="{7E464D49-1913-403C-AE11-59B0C4ABCA44}">
          <p14:sldIdLst>
            <p14:sldId id="285"/>
            <p14:sldId id="286"/>
            <p14:sldId id="294"/>
          </p14:sldIdLst>
        </p14:section>
        <p14:section name="Live demonstration" id="{F821CEA2-2425-4875-9CE4-8E9D29D8D05A}">
          <p14:sldIdLst>
            <p14:sldId id="277"/>
            <p14:sldId id="298"/>
            <p14:sldId id="287"/>
            <p14:sldId id="270"/>
            <p14:sldId id="295"/>
            <p14:sldId id="283"/>
            <p14:sldId id="284"/>
          </p14:sldIdLst>
        </p14:section>
        <p14:section name="Design &amp; engineering" id="{31CEAF26-32B8-48FE-9509-ED0F7079ABEB}">
          <p14:sldIdLst>
            <p14:sldId id="300"/>
            <p14:sldId id="297"/>
            <p14:sldId id="278"/>
            <p14:sldId id="268"/>
            <p14:sldId id="301"/>
            <p14:sldId id="269"/>
            <p14:sldId id="288"/>
            <p14:sldId id="289"/>
          </p14:sldIdLst>
        </p14:section>
        <p14:section name="Questions" id="{14D757F3-A7CD-49E3-BC95-282A7A83478B}">
          <p14:sldIdLst>
            <p14:sldId id="292"/>
          </p14:sldIdLst>
        </p14:section>
        <p14:section name="Appendix" id="{48F8EAE9-79CF-4AA1-85D0-46F021FEDC2A}">
          <p14:sldIdLst>
            <p14:sldId id="271"/>
            <p14:sldId id="272"/>
            <p14:sldId id="276"/>
            <p14:sldId id="275"/>
            <p14:sldId id="273"/>
            <p14:sldId id="274"/>
            <p14:sldId id="279"/>
            <p14:sldId id="28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2" autoAdjust="0"/>
    <p:restoredTop sz="94660"/>
  </p:normalViewPr>
  <p:slideViewPr>
    <p:cSldViewPr snapToGrid="0">
      <p:cViewPr>
        <p:scale>
          <a:sx n="61" d="100"/>
          <a:sy n="61" d="100"/>
        </p:scale>
        <p:origin x="3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040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Speaker: [assign]</a:t>
            </a:r>
          </a:p>
          <a:p>
            <a:r>
              <a:t>Section time: 0-4 min: the engine and both industries</a:t>
            </a:r>
          </a:p>
          <a:p>
            <a:r>
              <a:t>Welcome the client, introduce the team, and say we will show a short overview and then run the real system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Speaker: [assign]</a:t>
            </a:r>
          </a:p>
          <a:p>
            <a:r>
              <a:t>Section time: 0-4 min: the engine and both industries</a:t>
            </a:r>
          </a:p>
          <a:p>
            <a:r>
              <a:t>Confirm each concern against the brief before presenting; edit the rows if the brief differs.</a:t>
            </a:r>
          </a:p>
          <a:p>
            <a:r>
              <a:t>Walk down the five rows: one engine, two industries, independent cases, visible progress, safe handling of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Speaker: [assign]</a:t>
            </a:r>
          </a:p>
          <a:p>
            <a:r>
              <a:t>Section time: 0-4 min: the engine and both industries</a:t>
            </a:r>
          </a:p>
          <a:p>
            <a:r>
              <a:t>Both industries run on exactly the same engine. Only the process definition, roles, rules and notices change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0-4 min: the engine and both industries</a:t>
            </a:r>
          </a:p>
          <a:p>
            <a:r>
              <a:t>Two distinct industries, one reusable engine. Explain the process, participants, input data and expected result of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0-4 min: the engine and both industries</a:t>
            </a:r>
          </a:p>
          <a:p>
            <a:r>
              <a:t>A student submits a complaint; an administrator reviews and routes it; a staff member investigates; if it cannot be resolved it is escalated; the student accepts or appeals. Final outcomes are Resolved or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4-12 min: industry 1 live (University)</a:t>
            </a:r>
          </a:p>
          <a:p>
            <a:r>
              <a:t>Dependencies: complaint must be submitted before review, reviewed before assignment, assigned before investigation. An external email system sends confirmation, assignment, escalation and resolution notices.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0-4 min: the engine and both industries</a:t>
            </a:r>
          </a:p>
          <a:p>
            <a:r>
              <a:t>DRAFT CONTENT - confirm against the implemented Hospital workflow. A patient is registered, triaged, admitted and assigned, diagnosed and treated, then discharged or the case is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12-20 min: industry 2 live (Hospital) and "your turn"</a:t>
            </a:r>
          </a:p>
          <a:p>
            <a:r>
              <a:t>DRAFT CONTENT - confirm against the implemented Hospital workflow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20-25 min: patterns, diagrams, tests and engineering practice (keep the engineering slides under 3 minutes in total)</a:t>
            </a:r>
          </a:p>
          <a:p>
            <a:r>
              <a:t>Both scenarios reuse the generic engine classes without modification. Confirm the hospital column (assignment strategy, chain order) against your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Speaker: [assign]</a:t>
            </a:r>
          </a:p>
          <a:p>
            <a:r>
              <a:t>Section time: 0-4 min: the engine and both industries</a:t>
            </a:r>
          </a:p>
          <a:p>
            <a:r>
              <a:t>Trace one case left to right. Check every caption against the final state diagram before presenting.</a:t>
            </a:r>
          </a:p>
          <a:p>
            <a:r>
              <a:t>Message: every case follows the same lifecycle in both industries, and escalation never changes the stage, only who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Speaker: [assign]</a:t>
            </a:r>
          </a:p>
          <a:p>
            <a:r>
              <a:t>Section time: 20-25 min: patterns, diagrams, tests and engineering practice (keep the engineering slides under 3 minutes in total)</a:t>
            </a:r>
          </a:p>
          <a:p>
            <a:r>
              <a:t>Capture a screenshot of a passing run (see the summary line: test cases passed, 0 failed).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Speaker: [assign]</a:t>
            </a:r>
          </a:p>
          <a:p>
            <a:r>
              <a:t>Section time: 20-25 min: patterns, diagrams, tests and engineering practice (keep the engineering slides under 3 minutes in total)</a:t>
            </a:r>
          </a:p>
          <a:p>
            <a:r>
              <a:t>GitHub Actions builds the project, runs the tests and memory-checks it on every push.</a:t>
            </a:r>
          </a:p>
          <a:p>
            <a:r>
              <a:t>If Docker is not done, delete the Docker bullet and the small screenshot placeholder.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4-12 min: industry 1 live (University)</a:t>
            </a:r>
          </a:p>
          <a:p>
            <a:r>
              <a:t>Minutes 4-20. 4-12 industry 1 with decisions and an exception. 12-20 industry 2 on the same engine. Bring a reliable local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4-12 min: industry 1 live (University)</a:t>
            </a:r>
          </a:p>
          <a:p>
            <a:r>
              <a:t>Show one completion path and one exception path per industry, including an invalid action rejected by the State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Speaker: [assign]</a:t>
            </a:r>
          </a:p>
          <a:p>
            <a:r>
              <a:t>Section time: 4-12 min: industry 1 live (University)</a:t>
            </a:r>
          </a:p>
          <a:p>
            <a:r>
              <a:t>Run both scenarios on the real TUI: start a case, show available work, complete items, show a decision and an exception, show the history.</a:t>
            </a:r>
          </a:p>
          <a:p>
            <a:r>
              <a:t>Then invite the client to prompt changes: add or cancel a work item, change who does it or its priority, start a second case, try an invalid action. Rehearse these in advance. Screenshots are an emergency fallback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11725-52A7-6B39-063F-65EB47BD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C2667-6659-B409-3286-20DD5F99AB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568B6-CBAC-808C-962B-6DDB6254E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Speaker: [assign]</a:t>
            </a:r>
          </a:p>
          <a:p>
            <a:r>
              <a:t>Section time: 12-20 min: industry 2 live (Hospital) and "your turn"</a:t>
            </a:r>
          </a:p>
          <a:p>
            <a:r>
              <a:t>Run both scenarios on the real TUI: start a case, show available work, complete items, show a decision and an exception, show the history.</a:t>
            </a:r>
          </a:p>
          <a:p>
            <a:r>
              <a:t>Then invite the client to prompt changes: add or cancel a work item, change who does it or its priority, start a second case, try an invalid action. Rehearse these in advance. Screenshots are an emergency fallback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9BF65-E14B-8EE3-9480-8619428C9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94752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F6B6E-E46C-847F-D0BA-BED43A8D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2FD1E-80D9-F29A-22BA-7E87A48C01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C4156-8EF2-FE88-A07A-118D7127B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Speaker: [assign]</a:t>
            </a:r>
          </a:p>
          <a:p>
            <a:r>
              <a:t>Section time: 12-20 min: industry 2 live (Hospital) and "your turn"</a:t>
            </a:r>
          </a:p>
          <a:p>
            <a:r>
              <a:t>Run both scenarios on the real TUI: start a case, show available work, complete items, show a decision and an exception, show the history.</a:t>
            </a:r>
          </a:p>
          <a:p>
            <a:r>
              <a:t>Then invite the client to prompt changes: add or cancel a work item, change who does it or its priority, start a second case, try an invalid action. Rehearse these in advance. Screenshots are an emergency fallback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48CBE-27FD-8874-8E8E-563F9CBEF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175620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20-25 min: patterns, diagrams, tests and engineering practice (keep the engineering slides under 3 minutes in total)</a:t>
            </a:r>
          </a:p>
          <a:p>
            <a:r>
              <a:t>Be ready to show the build, the test run, repository history and any CI/CD or Docker bonus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20-25 min: patterns, diagrams, tests and engineering practice (keep the engineering slides under 3 minutes in total)</a:t>
            </a:r>
          </a:p>
          <a:p>
            <a:r>
              <a:t>Fill in the framework, test counts and the test command. Every member must have contributed tests. Manual tests and standalone assert programs are not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20-25 min: patterns, diagrams, tests and engineering practice (keep the engineering slides under 3 minutes in total)</a:t>
            </a:r>
          </a:p>
          <a:p>
            <a:r>
              <a:t>Compulsory: at least 10 meaningful commits per member, at least three closed pull requests, Doxygen documentation, README with build/run/test for both industries. Bonus (optional): CI/CD,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20-25 min: patterns, diagrams, tests and engineering practice (keep the engineering slides under 3 minutes in total)</a:t>
            </a:r>
          </a:p>
          <a:p>
            <a:r>
              <a:t>Practical 6 contributions are taken from the group document. Complete the final project column for each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Appendix: only if asked</a:t>
            </a:r>
          </a:p>
          <a:p>
            <a:r>
              <a:t>Not presented. Use only if the client or markers ask for the design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Appendix: only if asked</a:t>
            </a:r>
          </a:p>
          <a:p>
            <a:r>
              <a:t>The class diagram in the earlier deck is the old export. Re-export from the latest Visual Paradigm file (includes Prototype clone() and getState) before using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Appendix: only if asked</a:t>
            </a:r>
          </a:p>
          <a:p>
            <a:r>
              <a:t>Activity diagram for the university complaint workflow. The exported image is low resolution: re-export it larger (SVG or PDF) if the lane text is not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Appendix: only if asked</a:t>
            </a:r>
          </a:p>
          <a:p>
            <a:r>
              <a:t>Generic engine activity diagram: work assignment (workload based) and completion, including escalation. Used by both industries.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Appendix: only if asked</a:t>
            </a:r>
          </a:p>
          <a:p>
            <a:r>
              <a:t>Sequence diagram: completing a work item and deciding what happens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Appendix: only if asked</a:t>
            </a:r>
          </a:p>
          <a:p>
            <a:r>
              <a:t>The state diagram in the earlier deck still shows an Escalated state. Re-export it with Escalated removed (escalation keeps the case In Progress) so it matches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20-25 min: patterns, diagrams, tests and engineering practice (keep the engineering slides under 3 minutes in total)</a:t>
            </a:r>
          </a:p>
          <a:p>
            <a:r>
              <a:t>Prototype is the second creational pattern. Participants (from the class diagram): Prototype = WorkflowComponent, ConcretePrototypes = WorkItem, WorkflowStage, SubProcess, PriorityDecorator, Client = WorkflowDefinition / WorkflowInstance. Confirm the exact creation path with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Appendix: only if asked</a:t>
            </a:r>
          </a:p>
          <a:p>
            <a:r>
              <a:t>Replace the bracketed test names with the real test cases from the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Appendix: only if asked</a:t>
            </a:r>
          </a:p>
          <a:p>
            <a:r>
              <a:t>Emergency fallback only. A live system is required for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time: 25-30 min: questions and code inspection</a:t>
            </a:r>
          </a:p>
          <a:p>
            <a:r>
              <a:t>Minutes 25-30: questions, code inspection and individual understanding. Every member should be able to explain the whole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0C24-F43A-2630-F4A9-601D5342B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1D507-8B57-B051-D9EB-7228931BB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7A9A2-2262-EF23-9993-B3E195CD1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52161-86A5-48CB-BA9B-27F00BC067DA}" type="datetimeFigureOut">
              <a:rPr lang="en-ZA" smtClean="0"/>
              <a:t>2026/11/01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06AE8-2F2F-5DFC-6720-D37660B6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BBA84-E5EC-64C6-DCBA-F9E4808F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13BAC-F59A-40A9-AF31-1C1746D018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6449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106D-291F-36BD-4040-251476212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592B8-9725-49F5-A84B-D5068F4CD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1BC18-8459-1AB8-27E9-27DF8150F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52161-86A5-48CB-BA9B-27F00BC067DA}" type="datetimeFigureOut">
              <a:rPr lang="en-ZA" smtClean="0"/>
              <a:t>2026/11/01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FD2AA-A012-5DDF-6F1C-3800A447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69C64-1235-BD80-7A1F-40E3F29A4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13BAC-F59A-40A9-AF31-1C1746D018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0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172D-E2F3-FEC7-F622-78FCD82DB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2130B-7FEE-0FAD-1709-3E8A207EC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D1B3D-3C16-9E28-5241-4FB93B56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52161-86A5-48CB-BA9B-27F00BC067DA}" type="datetimeFigureOut">
              <a:rPr lang="en-ZA" smtClean="0"/>
              <a:t>2026/11/01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30729-8DC0-637F-17E4-4FEC5FAE5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C1200-AB86-3C09-F836-DEBEDDE4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13BAC-F59A-40A9-AF31-1C1746D018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8892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2BCB-4F76-3626-B6EB-BD690C78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62EC3-8077-9279-63D7-978D01267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A7FA7-8301-D8C7-FC28-B877DCF3E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1063F-B2B6-705F-B721-85DA37D3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52161-86A5-48CB-BA9B-27F00BC067DA}" type="datetimeFigureOut">
              <a:rPr lang="en-ZA" smtClean="0"/>
              <a:t>2026/11/01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458CC-B19D-2D2F-FC97-AFA566F1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FDC9C-5A77-390B-A184-58E3C18D3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13BAC-F59A-40A9-AF31-1C1746D018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7406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C4392-0197-4CA0-0C9C-6C17BE79F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0A0E-D02F-81C2-56B9-4B9D35EAE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2BA31-31A7-8E9F-67A4-3799C1548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CA5D-FFF2-CDED-7DFD-B847053BA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6C0ACD-E248-BB5E-4304-7E4912A79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B948A6-4E21-A542-2F6A-E379BBD9C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52161-86A5-48CB-BA9B-27F00BC067DA}" type="datetimeFigureOut">
              <a:rPr lang="en-ZA" smtClean="0"/>
              <a:t>2026/11/01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6825C1-E7DD-F6DE-C73A-88A5E3B7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C6298E-3384-BE1B-3FB2-47CEDC64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13BAC-F59A-40A9-AF31-1C1746D018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7021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CC775-530C-2337-6AF6-7273F7A93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713232"/>
          </a:xfrm>
        </p:spPr>
        <p:txBody>
          <a:bodyPr lIns="0" tIns="0" rIns="0" bIns="0" anchor="t"/>
          <a:lstStyle>
            <a:lvl1pPr algn="l">
              <a:defRPr sz="3000" b="1">
                <a:solidFill>
                  <a:srgbClr val="14150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2FBC8-C784-49BD-752F-A99037D41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52161-86A5-48CB-BA9B-27F00BC067DA}" type="datetimeFigureOut">
              <a:rPr lang="en-ZA" smtClean="0"/>
              <a:t>2026/11/01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483BE-CD94-3FAE-CAA4-49A7937AF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18A9BE-70F2-8DEF-CFD7-5BD17E203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13BAC-F59A-40A9-AF31-1C1746D01893}" type="slidenum">
              <a:rPr lang="en-ZA" smtClean="0"/>
              <a:t>‹#›</a:t>
            </a:fld>
            <a:endParaRPr lang="en-ZA"/>
          </a:p>
        </p:txBody>
      </p:sp>
      <p:sp>
        <p:nvSpPr>
          <p:cNvPr id="90" name="Deck footer"/>
          <p:cNvSpPr txBox="1"/>
          <p:nvPr userDrawn="1"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ZA" sz="1000" b="1">
                <a:solidFill>
                  <a:srgbClr val="5E5E38"/>
                </a:solidFill>
              </a:rPr>
              <a:t>TIVIDY</a:t>
            </a:r>
            <a:r>
              <a:rPr lang="en-ZA" sz="1000">
                <a:solidFill>
                  <a:srgbClr val="66665A"/>
                </a:solidFill>
              </a:rPr>
              <a:t>   |   COS 214 Final Project 2026</a:t>
            </a:r>
          </a:p>
        </p:txBody>
      </p:sp>
      <p:sp>
        <p:nvSpPr>
          <p:cNvPr id="91" name="Deck slide number"/>
          <p:cNvSpPr txBox="1"/>
          <p:nvPr userDrawn="1"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fld id="{B6F15528-21DE-4FAA-801E-634DDDAF4B2B}" type="slidenum">
              <a:rPr lang="en-ZA" sz="1000">
                <a:solidFill>
                  <a:srgbClr val="66665A"/>
                </a:solidFill>
              </a:rPr>
              <a:t>‹#›</a:t>
            </a:fld>
            <a:endParaRPr lang="en-ZA" sz="1000">
              <a:solidFill>
                <a:srgbClr val="6666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21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1D361A-F875-0AC1-BEDC-8DB36CC22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52161-86A5-48CB-BA9B-27F00BC067DA}" type="datetimeFigureOut">
              <a:rPr lang="en-ZA" smtClean="0"/>
              <a:t>2026/11/01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B652AF-2AEF-F4DB-D9B3-707626DDC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524B-DF4D-4BBB-D881-DE15FAD6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13BAC-F59A-40A9-AF31-1C1746D018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1179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41C82-64A7-38E1-12A8-AD899CB1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D60E0-E649-1CDE-EBBE-CD9871D64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288D8-BC14-D04B-032A-7D310CDEE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B1B6B-ED8C-4B06-575F-13A51B3CD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52161-86A5-48CB-BA9B-27F00BC067DA}" type="datetimeFigureOut">
              <a:rPr lang="en-ZA" smtClean="0"/>
              <a:t>2026/11/01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449F9-4BDC-7E84-4BC6-2B4A3699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4DAFE-EF0E-3B8F-80F8-C6A616B30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13BAC-F59A-40A9-AF31-1C1746D018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1100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02052-3F42-34F6-D828-FFF706B8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656F52-6595-E172-C479-03750E565BD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BD5B5-3712-3B24-B774-03C303D36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5D2ED-3A29-F478-BEB7-D37B7646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52161-86A5-48CB-BA9B-27F00BC067DA}" type="datetimeFigureOut">
              <a:rPr lang="en-ZA" smtClean="0"/>
              <a:t>2026/11/01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944DA-3564-3A85-FD35-D5049C625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37271-BE6C-291F-CD2F-3736BBC4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13BAC-F59A-40A9-AF31-1C1746D018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9248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AF5F4-E5C1-26B3-1EEC-B266D0934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44A3B2-C4D0-4FC5-EA1C-483F958F4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1EF99-0C3F-B107-99A3-8A8805411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52161-86A5-48CB-BA9B-27F00BC067DA}" type="datetimeFigureOut">
              <a:rPr lang="en-ZA" smtClean="0"/>
              <a:t>2026/11/01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3A597-C694-D31C-5B12-735B0C70E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8FF6B-FDB7-96A3-FFEF-FD7D87FC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13BAC-F59A-40A9-AF31-1C1746D018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515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7615A2-483E-7DCD-884F-EA31E9CB4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59FC6-9622-84AA-8D17-3371EBD3D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30731-3CEF-C7EA-0C80-76E3A9EBE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52161-86A5-48CB-BA9B-27F00BC067DA}" type="datetimeFigureOut">
              <a:rPr lang="en-ZA" smtClean="0"/>
              <a:t>2026/11/01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3272B-0AB3-3E00-7431-0DE3E751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5774C-0424-2FBB-70B5-AD6DBB37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13BAC-F59A-40A9-AF31-1C1746D018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687820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A81B4-0B83-D45D-4BD4-E7A79BEBF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8E585-004F-F793-928C-69052CB2E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B46D4-E091-8309-6038-652AE0DFF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52161-86A5-48CB-BA9B-27F00BC067DA}" type="datetimeFigureOut">
              <a:rPr lang="en-ZA" smtClean="0"/>
              <a:t>2026/11/01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375DE-B45D-7FD2-D711-C82FEAABF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544C8-930A-03D5-9A80-074813505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13BAC-F59A-40A9-AF31-1C1746D0189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0906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3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8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29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30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/>
          <p:cNvSpPr/>
          <p:nvPr/>
        </p:nvSpPr>
        <p:spPr>
          <a:xfrm flipV="1">
            <a:off x="0" y="-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3">
              <a:duotone>
                <a:prstClr val="black"/>
                <a:srgbClr val="FFFF00">
                  <a:tint val="45000"/>
                  <a:satMod val="400000"/>
                </a:srgbClr>
              </a:duotone>
            </a:blip>
            <a:stretch>
              <a:fillRect t="-1777" b="-177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893991" y="578875"/>
            <a:ext cx="705412" cy="961380"/>
          </a:xfrm>
          <a:custGeom>
            <a:avLst/>
            <a:gdLst/>
            <a:ahLst/>
            <a:cxnLst/>
            <a:rect l="l" t="t" r="r" b="b"/>
            <a:pathLst>
              <a:path w="1058118" h="1442069">
                <a:moveTo>
                  <a:pt x="0" y="0"/>
                </a:moveTo>
                <a:lnTo>
                  <a:pt x="1058118" y="0"/>
                </a:lnTo>
                <a:lnTo>
                  <a:pt x="1058118" y="1442070"/>
                </a:lnTo>
                <a:lnTo>
                  <a:pt x="0" y="1442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10724588" y="578875"/>
            <a:ext cx="705412" cy="961380"/>
          </a:xfrm>
          <a:custGeom>
            <a:avLst/>
            <a:gdLst/>
            <a:ahLst/>
            <a:cxnLst/>
            <a:rect l="l" t="t" r="r" b="b"/>
            <a:pathLst>
              <a:path w="1058118" h="1442069">
                <a:moveTo>
                  <a:pt x="0" y="0"/>
                </a:moveTo>
                <a:lnTo>
                  <a:pt x="1058118" y="0"/>
                </a:lnTo>
                <a:lnTo>
                  <a:pt x="1058118" y="1442070"/>
                </a:lnTo>
                <a:lnTo>
                  <a:pt x="0" y="1442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1600200"/>
            <a:ext cx="9628632" cy="1554480"/>
          </a:xfrm>
        </p:spPr>
        <p:txBody>
          <a:bodyPr anchor="b"/>
          <a:lstStyle/>
          <a:p>
            <a:r>
              <a:rPr sz="8800" b="1">
                <a:solidFill>
                  <a:schemeClr val="bg1"/>
                </a:solidFill>
              </a:rPr>
              <a:t>TIVIDY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0160" y="3246120"/>
            <a:ext cx="9628632" cy="640080"/>
          </a:xfrm>
        </p:spPr>
        <p:txBody>
          <a:bodyPr/>
          <a:lstStyle/>
          <a:p>
            <a:r>
              <a:rPr sz="3000">
                <a:solidFill>
                  <a:srgbClr val="FFFFFF"/>
                </a:solidFill>
              </a:rPr>
              <a:t>Generic Workflow Management System</a:t>
            </a:r>
          </a:p>
        </p:txBody>
      </p:sp>
      <p:sp>
        <p:nvSpPr>
          <p:cNvPr id="10" name="Course line"/>
          <p:cNvSpPr txBox="1"/>
          <p:nvPr/>
        </p:nvSpPr>
        <p:spPr>
          <a:xfrm>
            <a:off x="1280160" y="4023360"/>
            <a:ext cx="96286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 spc="200">
                <a:solidFill>
                  <a:srgbClr val="CACA98"/>
                </a:solidFill>
              </a:rPr>
              <a:t>COS 214 FINAL PROJECT   ·   2026</a:t>
            </a:r>
          </a:p>
        </p:txBody>
      </p:sp>
      <p:sp>
        <p:nvSpPr>
          <p:cNvPr id="11" name="Team member"/>
          <p:cNvSpPr txBox="1"/>
          <p:nvPr/>
        </p:nvSpPr>
        <p:spPr>
          <a:xfrm>
            <a:off x="548640" y="5349240"/>
            <a:ext cx="221833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</a:rPr>
              <a:t>Lindokuhle Skosana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DDDDCB"/>
                </a:solidFill>
              </a:rPr>
              <a:t>u24891968</a:t>
            </a:r>
          </a:p>
        </p:txBody>
      </p:sp>
      <p:sp>
        <p:nvSpPr>
          <p:cNvPr id="12" name="Team member"/>
          <p:cNvSpPr txBox="1"/>
          <p:nvPr/>
        </p:nvSpPr>
        <p:spPr>
          <a:xfrm>
            <a:off x="2766974" y="5349240"/>
            <a:ext cx="221833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</a:rPr>
              <a:t>Kristy Heesen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DDDDCB"/>
                </a:solidFill>
              </a:rPr>
              <a:t>u24702341</a:t>
            </a:r>
          </a:p>
        </p:txBody>
      </p:sp>
      <p:sp>
        <p:nvSpPr>
          <p:cNvPr id="13" name="Team member"/>
          <p:cNvSpPr txBox="1"/>
          <p:nvPr/>
        </p:nvSpPr>
        <p:spPr>
          <a:xfrm>
            <a:off x="4985308" y="5349240"/>
            <a:ext cx="221833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</a:rPr>
              <a:t>LM Kabongo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DDDDCB"/>
                </a:solidFill>
              </a:rPr>
              <a:t>25030338</a:t>
            </a:r>
          </a:p>
        </p:txBody>
      </p:sp>
      <p:sp>
        <p:nvSpPr>
          <p:cNvPr id="14" name="Team member"/>
          <p:cNvSpPr txBox="1"/>
          <p:nvPr/>
        </p:nvSpPr>
        <p:spPr>
          <a:xfrm>
            <a:off x="7203643" y="5349240"/>
            <a:ext cx="221833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</a:rPr>
              <a:t>Joshua Peter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DDDDCB"/>
                </a:solidFill>
              </a:rPr>
              <a:t>23626527</a:t>
            </a:r>
          </a:p>
        </p:txBody>
      </p:sp>
      <p:sp>
        <p:nvSpPr>
          <p:cNvPr id="15" name="Team member"/>
          <p:cNvSpPr txBox="1"/>
          <p:nvPr/>
        </p:nvSpPr>
        <p:spPr>
          <a:xfrm>
            <a:off x="9421977" y="5349240"/>
            <a:ext cx="221833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</a:rPr>
              <a:t>Musa Msibi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DDDDCB"/>
                </a:solidFill>
              </a:rPr>
              <a:t>25098022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asked for, what we built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OVERVIEW</a:t>
            </a:r>
          </a:p>
        </p:txBody>
      </p:sp>
      <p:sp>
        <p:nvSpPr>
          <p:cNvPr id="4" name="Column label"/>
          <p:cNvSpPr txBox="1"/>
          <p:nvPr/>
        </p:nvSpPr>
        <p:spPr>
          <a:xfrm>
            <a:off x="1417320" y="148132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YOU ASKED FOR</a:t>
            </a:r>
          </a:p>
        </p:txBody>
      </p:sp>
      <p:sp>
        <p:nvSpPr>
          <p:cNvPr id="5" name="Column label"/>
          <p:cNvSpPr txBox="1"/>
          <p:nvPr/>
        </p:nvSpPr>
        <p:spPr>
          <a:xfrm>
            <a:off x="5852160" y="1481328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WHAT WE BUILT</a:t>
            </a:r>
          </a:p>
        </p:txBody>
      </p:sp>
      <p:sp>
        <p:nvSpPr>
          <p:cNvPr id="6" name="Concern row"/>
          <p:cNvSpPr/>
          <p:nvPr/>
        </p:nvSpPr>
        <p:spPr>
          <a:xfrm>
            <a:off x="548640" y="1828800"/>
            <a:ext cx="11091672" cy="749808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con circle"/>
          <p:cNvSpPr/>
          <p:nvPr/>
        </p:nvSpPr>
        <p:spPr>
          <a:xfrm>
            <a:off x="713232" y="1956816"/>
            <a:ext cx="493776" cy="49377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 FaCogs" descr="FaCog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38" y="2075322"/>
            <a:ext cx="256763" cy="256763"/>
          </a:xfrm>
          <a:prstGeom prst="rect">
            <a:avLst/>
          </a:prstGeom>
        </p:spPr>
      </p:pic>
      <p:sp>
        <p:nvSpPr>
          <p:cNvPr id="9" name="Concern"/>
          <p:cNvSpPr txBox="1"/>
          <p:nvPr/>
        </p:nvSpPr>
        <p:spPr>
          <a:xfrm>
            <a:off x="1417320" y="1874519"/>
            <a:ext cx="4114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14150F"/>
                </a:solidFill>
              </a:rPr>
              <a:t>One engine for any industry</a:t>
            </a:r>
          </a:p>
        </p:txBody>
      </p:sp>
      <p:cxnSp>
        <p:nvCxnSpPr>
          <p:cNvPr id="10" name="Arrow"/>
          <p:cNvCxnSpPr/>
          <p:nvPr/>
        </p:nvCxnSpPr>
        <p:spPr>
          <a:xfrm>
            <a:off x="5440680" y="2203704"/>
            <a:ext cx="320040" cy="0"/>
          </a:xfrm>
          <a:prstGeom prst="line">
            <a:avLst/>
          </a:prstGeom>
          <a:ln w="25400">
            <a:solidFill>
              <a:srgbClr val="5E5E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uilt"/>
          <p:cNvSpPr txBox="1"/>
          <p:nvPr/>
        </p:nvSpPr>
        <p:spPr>
          <a:xfrm>
            <a:off x="5943600" y="1874519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>
                <a:solidFill>
                  <a:srgbClr val="14150F"/>
                </a:solidFill>
              </a:rPr>
              <a:t>Built once. Each industry just plugs in its own steps.</a:t>
            </a:r>
          </a:p>
        </p:txBody>
      </p:sp>
      <p:sp>
        <p:nvSpPr>
          <p:cNvPr id="12" name="Concern row"/>
          <p:cNvSpPr/>
          <p:nvPr/>
        </p:nvSpPr>
        <p:spPr>
          <a:xfrm>
            <a:off x="548640" y="2670048"/>
            <a:ext cx="11091672" cy="749808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con circle"/>
          <p:cNvSpPr/>
          <p:nvPr/>
        </p:nvSpPr>
        <p:spPr>
          <a:xfrm>
            <a:off x="713232" y="2798064"/>
            <a:ext cx="493776" cy="49377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 FaUniversity" descr="FaUniversit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38" y="2916570"/>
            <a:ext cx="256763" cy="256763"/>
          </a:xfrm>
          <a:prstGeom prst="rect">
            <a:avLst/>
          </a:prstGeom>
        </p:spPr>
      </p:pic>
      <p:sp>
        <p:nvSpPr>
          <p:cNvPr id="15" name="Concern"/>
          <p:cNvSpPr txBox="1"/>
          <p:nvPr/>
        </p:nvSpPr>
        <p:spPr>
          <a:xfrm>
            <a:off x="1417320" y="2715768"/>
            <a:ext cx="4114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14150F"/>
                </a:solidFill>
              </a:rPr>
              <a:t>Two different industries</a:t>
            </a:r>
          </a:p>
        </p:txBody>
      </p:sp>
      <p:cxnSp>
        <p:nvCxnSpPr>
          <p:cNvPr id="16" name="Arrow"/>
          <p:cNvCxnSpPr/>
          <p:nvPr/>
        </p:nvCxnSpPr>
        <p:spPr>
          <a:xfrm>
            <a:off x="5440680" y="3044952"/>
            <a:ext cx="320040" cy="0"/>
          </a:xfrm>
          <a:prstGeom prst="line">
            <a:avLst/>
          </a:prstGeom>
          <a:ln w="25400">
            <a:solidFill>
              <a:srgbClr val="5E5E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Built"/>
          <p:cNvSpPr txBox="1"/>
          <p:nvPr/>
        </p:nvSpPr>
        <p:spPr>
          <a:xfrm>
            <a:off x="5943600" y="2715768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>
                <a:solidFill>
                  <a:srgbClr val="14150F"/>
                </a:solidFill>
              </a:rPr>
              <a:t>University complaints and hospital admissions, side by side.</a:t>
            </a:r>
          </a:p>
        </p:txBody>
      </p:sp>
      <p:sp>
        <p:nvSpPr>
          <p:cNvPr id="18" name="Concern row"/>
          <p:cNvSpPr/>
          <p:nvPr/>
        </p:nvSpPr>
        <p:spPr>
          <a:xfrm>
            <a:off x="548640" y="3511296"/>
            <a:ext cx="11091672" cy="749808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con circle"/>
          <p:cNvSpPr/>
          <p:nvPr/>
        </p:nvSpPr>
        <p:spPr>
          <a:xfrm>
            <a:off x="713232" y="3639312"/>
            <a:ext cx="493776" cy="49377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Icon FaLayerGroup" descr="FaLayerGro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38" y="3757818"/>
            <a:ext cx="256763" cy="256763"/>
          </a:xfrm>
          <a:prstGeom prst="rect">
            <a:avLst/>
          </a:prstGeom>
        </p:spPr>
      </p:pic>
      <p:sp>
        <p:nvSpPr>
          <p:cNvPr id="21" name="Concern"/>
          <p:cNvSpPr txBox="1"/>
          <p:nvPr/>
        </p:nvSpPr>
        <p:spPr>
          <a:xfrm>
            <a:off x="1417320" y="3557015"/>
            <a:ext cx="4114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14150F"/>
                </a:solidFill>
              </a:rPr>
              <a:t>Every case on its own</a:t>
            </a:r>
          </a:p>
        </p:txBody>
      </p:sp>
      <p:cxnSp>
        <p:nvCxnSpPr>
          <p:cNvPr id="22" name="Arrow"/>
          <p:cNvCxnSpPr/>
          <p:nvPr/>
        </p:nvCxnSpPr>
        <p:spPr>
          <a:xfrm>
            <a:off x="5440680" y="3886200"/>
            <a:ext cx="320040" cy="0"/>
          </a:xfrm>
          <a:prstGeom prst="line">
            <a:avLst/>
          </a:prstGeom>
          <a:ln w="25400">
            <a:solidFill>
              <a:srgbClr val="5E5E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Built"/>
          <p:cNvSpPr txBox="1"/>
          <p:nvPr/>
        </p:nvSpPr>
        <p:spPr>
          <a:xfrm>
            <a:off x="5943600" y="3557015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>
                <a:solidFill>
                  <a:srgbClr val="14150F"/>
                </a:solidFill>
              </a:rPr>
              <a:t>Cases are kept separate, so one never affects another.</a:t>
            </a:r>
          </a:p>
        </p:txBody>
      </p:sp>
      <p:sp>
        <p:nvSpPr>
          <p:cNvPr id="24" name="Concern row"/>
          <p:cNvSpPr/>
          <p:nvPr/>
        </p:nvSpPr>
        <p:spPr>
          <a:xfrm>
            <a:off x="548640" y="4352544"/>
            <a:ext cx="11091672" cy="749808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con circle"/>
          <p:cNvSpPr/>
          <p:nvPr/>
        </p:nvSpPr>
        <p:spPr>
          <a:xfrm>
            <a:off x="713232" y="4480559"/>
            <a:ext cx="493776" cy="49377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 FaHistory" descr="FaHisto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738" y="4599066"/>
            <a:ext cx="256763" cy="256763"/>
          </a:xfrm>
          <a:prstGeom prst="rect">
            <a:avLst/>
          </a:prstGeom>
        </p:spPr>
      </p:pic>
      <p:sp>
        <p:nvSpPr>
          <p:cNvPr id="27" name="Concern"/>
          <p:cNvSpPr txBox="1"/>
          <p:nvPr/>
        </p:nvSpPr>
        <p:spPr>
          <a:xfrm>
            <a:off x="1417320" y="4398264"/>
            <a:ext cx="4114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14150F"/>
                </a:solidFill>
              </a:rPr>
              <a:t>See where things stand</a:t>
            </a:r>
          </a:p>
        </p:txBody>
      </p:sp>
      <p:cxnSp>
        <p:nvCxnSpPr>
          <p:cNvPr id="28" name="Arrow"/>
          <p:cNvCxnSpPr/>
          <p:nvPr/>
        </p:nvCxnSpPr>
        <p:spPr>
          <a:xfrm>
            <a:off x="5440680" y="4727448"/>
            <a:ext cx="320040" cy="0"/>
          </a:xfrm>
          <a:prstGeom prst="line">
            <a:avLst/>
          </a:prstGeom>
          <a:ln w="25400">
            <a:solidFill>
              <a:srgbClr val="5E5E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Built"/>
          <p:cNvSpPr txBox="1"/>
          <p:nvPr/>
        </p:nvSpPr>
        <p:spPr>
          <a:xfrm>
            <a:off x="5943600" y="4398264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>
                <a:solidFill>
                  <a:srgbClr val="14150F"/>
                </a:solidFill>
              </a:rPr>
              <a:t>Check progress and the full history of any case.</a:t>
            </a:r>
          </a:p>
        </p:txBody>
      </p:sp>
      <p:sp>
        <p:nvSpPr>
          <p:cNvPr id="30" name="Concern row"/>
          <p:cNvSpPr/>
          <p:nvPr/>
        </p:nvSpPr>
        <p:spPr>
          <a:xfrm>
            <a:off x="548640" y="5193792"/>
            <a:ext cx="11091672" cy="749808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con circle"/>
          <p:cNvSpPr/>
          <p:nvPr/>
        </p:nvSpPr>
        <p:spPr>
          <a:xfrm>
            <a:off x="713232" y="5321807"/>
            <a:ext cx="493776" cy="49377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con FaExclamationTriangle" descr="FaExclamationTriangl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738" y="5440314"/>
            <a:ext cx="256763" cy="256763"/>
          </a:xfrm>
          <a:prstGeom prst="rect">
            <a:avLst/>
          </a:prstGeom>
        </p:spPr>
      </p:pic>
      <p:sp>
        <p:nvSpPr>
          <p:cNvPr id="33" name="Concern"/>
          <p:cNvSpPr txBox="1"/>
          <p:nvPr/>
        </p:nvSpPr>
        <p:spPr>
          <a:xfrm>
            <a:off x="1417320" y="5239512"/>
            <a:ext cx="4114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14150F"/>
                </a:solidFill>
              </a:rPr>
              <a:t>Mistakes don’t break things</a:t>
            </a:r>
          </a:p>
        </p:txBody>
      </p:sp>
      <p:cxnSp>
        <p:nvCxnSpPr>
          <p:cNvPr id="34" name="Arrow"/>
          <p:cNvCxnSpPr/>
          <p:nvPr/>
        </p:nvCxnSpPr>
        <p:spPr>
          <a:xfrm>
            <a:off x="5440680" y="5568696"/>
            <a:ext cx="320040" cy="0"/>
          </a:xfrm>
          <a:prstGeom prst="line">
            <a:avLst/>
          </a:prstGeom>
          <a:ln w="25400">
            <a:solidFill>
              <a:srgbClr val="5E5E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Built"/>
          <p:cNvSpPr txBox="1"/>
          <p:nvPr/>
        </p:nvSpPr>
        <p:spPr>
          <a:xfrm>
            <a:off x="5943600" y="5239512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>
                <a:solidFill>
                  <a:srgbClr val="14150F"/>
                </a:solidFill>
              </a:rPr>
              <a:t>Wrong actions are stopped. Problems go to the right person.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industries, one engine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OVERVIEW</a:t>
            </a:r>
          </a:p>
        </p:txBody>
      </p:sp>
      <p:sp>
        <p:nvSpPr>
          <p:cNvPr id="4" name="Industry card"/>
          <p:cNvSpPr/>
          <p:nvPr/>
        </p:nvSpPr>
        <p:spPr>
          <a:xfrm>
            <a:off x="548640" y="1600200"/>
            <a:ext cx="3931920" cy="150876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con circle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 FaUniversity" descr="FaUniversity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1982419"/>
            <a:ext cx="332841" cy="332841"/>
          </a:xfrm>
          <a:prstGeom prst="rect">
            <a:avLst/>
          </a:prstGeom>
        </p:spPr>
      </p:pic>
      <p:sp>
        <p:nvSpPr>
          <p:cNvPr id="7" name="Industry text"/>
          <p:cNvSpPr txBox="1"/>
          <p:nvPr/>
        </p:nvSpPr>
        <p:spPr>
          <a:xfrm>
            <a:off x="1600200" y="1783080"/>
            <a:ext cx="27432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4150F"/>
                </a:solidFill>
              </a:rPr>
              <a:t>University complaints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66665A"/>
                </a:solidFill>
              </a:rPr>
              <a:t>From a student’s complaint to the final outcome</a:t>
            </a:r>
          </a:p>
        </p:txBody>
      </p:sp>
      <p:cxnSp>
        <p:nvCxnSpPr>
          <p:cNvPr id="8" name="Arrow"/>
          <p:cNvCxnSpPr/>
          <p:nvPr/>
        </p:nvCxnSpPr>
        <p:spPr>
          <a:xfrm>
            <a:off x="4526280" y="2350008"/>
            <a:ext cx="960120" cy="804672"/>
          </a:xfrm>
          <a:prstGeom prst="line">
            <a:avLst/>
          </a:prstGeom>
          <a:ln w="31750">
            <a:solidFill>
              <a:srgbClr val="5E5E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ndustry card"/>
          <p:cNvSpPr/>
          <p:nvPr/>
        </p:nvSpPr>
        <p:spPr>
          <a:xfrm>
            <a:off x="548640" y="3291840"/>
            <a:ext cx="3931920" cy="150876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con circle"/>
          <p:cNvSpPr/>
          <p:nvPr/>
        </p:nvSpPr>
        <p:spPr>
          <a:xfrm>
            <a:off x="777240" y="3520440"/>
            <a:ext cx="640080" cy="640080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 FaHospital" descr="FaHospita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3674059"/>
            <a:ext cx="332841" cy="332841"/>
          </a:xfrm>
          <a:prstGeom prst="rect">
            <a:avLst/>
          </a:prstGeom>
        </p:spPr>
      </p:pic>
      <p:sp>
        <p:nvSpPr>
          <p:cNvPr id="12" name="Industry text"/>
          <p:cNvSpPr txBox="1"/>
          <p:nvPr/>
        </p:nvSpPr>
        <p:spPr>
          <a:xfrm>
            <a:off x="1600200" y="3474720"/>
            <a:ext cx="27432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14150F"/>
                </a:solidFill>
              </a:rPr>
              <a:t>Hospital admission &amp; treatment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66665A"/>
                </a:solidFill>
              </a:rPr>
              <a:t>From a patient walking in to going home</a:t>
            </a:r>
          </a:p>
        </p:txBody>
      </p:sp>
      <p:cxnSp>
        <p:nvCxnSpPr>
          <p:cNvPr id="13" name="Arrow"/>
          <p:cNvCxnSpPr/>
          <p:nvPr/>
        </p:nvCxnSpPr>
        <p:spPr>
          <a:xfrm flipV="1">
            <a:off x="4526280" y="3154680"/>
            <a:ext cx="960120" cy="886968"/>
          </a:xfrm>
          <a:prstGeom prst="line">
            <a:avLst/>
          </a:prstGeom>
          <a:ln w="31750">
            <a:solidFill>
              <a:srgbClr val="5E5E3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ngine block"/>
          <p:cNvSpPr/>
          <p:nvPr/>
        </p:nvSpPr>
        <p:spPr>
          <a:xfrm>
            <a:off x="5532120" y="1600200"/>
            <a:ext cx="6108192" cy="320040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 w="19050">
            <a:solidFill>
              <a:srgbClr val="5E5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Engine heading"/>
          <p:cNvSpPr txBox="1"/>
          <p:nvPr/>
        </p:nvSpPr>
        <p:spPr>
          <a:xfrm>
            <a:off x="5760720" y="1719072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 spc="150">
                <a:solidFill>
                  <a:srgbClr val="5E5E38"/>
                </a:solidFill>
              </a:rPr>
              <a:t>THE TIVIDY ENGINE</a:t>
            </a:r>
          </a:p>
          <a:p>
            <a:pPr>
              <a:spcAft>
                <a:spcPts val="0"/>
              </a:spcAft>
            </a:pPr>
            <a:r>
              <a:rPr sz="1800" b="1" i="0">
                <a:solidFill>
                  <a:srgbClr val="14150F"/>
                </a:solidFill>
              </a:rPr>
              <a:t>The same for both</a:t>
            </a:r>
          </a:p>
        </p:txBody>
      </p:sp>
      <p:sp>
        <p:nvSpPr>
          <p:cNvPr id="16" name="Engine tile"/>
          <p:cNvSpPr/>
          <p:nvPr/>
        </p:nvSpPr>
        <p:spPr>
          <a:xfrm>
            <a:off x="5760720" y="2514600"/>
            <a:ext cx="17647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Icon circle"/>
          <p:cNvSpPr/>
          <p:nvPr/>
        </p:nvSpPr>
        <p:spPr>
          <a:xfrm>
            <a:off x="6359652" y="2697480"/>
            <a:ext cx="566928" cy="566928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Icon FaLayerGroup" descr="FaLayerGro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714" y="2833542"/>
            <a:ext cx="294802" cy="294802"/>
          </a:xfrm>
          <a:prstGeom prst="rect">
            <a:avLst/>
          </a:prstGeom>
        </p:spPr>
      </p:pic>
      <p:sp>
        <p:nvSpPr>
          <p:cNvPr id="19" name="Tile label"/>
          <p:cNvSpPr txBox="1"/>
          <p:nvPr/>
        </p:nvSpPr>
        <p:spPr>
          <a:xfrm>
            <a:off x="5852159" y="3429000"/>
            <a:ext cx="158191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150F"/>
                </a:solidFill>
              </a:rPr>
              <a:t>Where each case is</a:t>
            </a:r>
          </a:p>
        </p:txBody>
      </p:sp>
      <p:sp>
        <p:nvSpPr>
          <p:cNvPr id="20" name="Engine tile"/>
          <p:cNvSpPr/>
          <p:nvPr/>
        </p:nvSpPr>
        <p:spPr>
          <a:xfrm>
            <a:off x="7662671" y="2514600"/>
            <a:ext cx="17647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con circle"/>
          <p:cNvSpPr/>
          <p:nvPr/>
        </p:nvSpPr>
        <p:spPr>
          <a:xfrm>
            <a:off x="8261603" y="2697480"/>
            <a:ext cx="566928" cy="566928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 FaTasks" descr="FaTask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666" y="2833542"/>
            <a:ext cx="294802" cy="294802"/>
          </a:xfrm>
          <a:prstGeom prst="rect">
            <a:avLst/>
          </a:prstGeom>
        </p:spPr>
      </p:pic>
      <p:sp>
        <p:nvSpPr>
          <p:cNvPr id="23" name="Tile label"/>
          <p:cNvSpPr txBox="1"/>
          <p:nvPr/>
        </p:nvSpPr>
        <p:spPr>
          <a:xfrm>
            <a:off x="7754111" y="3429000"/>
            <a:ext cx="158191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150F"/>
                </a:solidFill>
              </a:rPr>
              <a:t>Who does what</a:t>
            </a:r>
          </a:p>
        </p:txBody>
      </p:sp>
      <p:sp>
        <p:nvSpPr>
          <p:cNvPr id="24" name="Engine tile"/>
          <p:cNvSpPr/>
          <p:nvPr/>
        </p:nvSpPr>
        <p:spPr>
          <a:xfrm>
            <a:off x="9564624" y="2514600"/>
            <a:ext cx="17647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con circle"/>
          <p:cNvSpPr/>
          <p:nvPr/>
        </p:nvSpPr>
        <p:spPr>
          <a:xfrm>
            <a:off x="10163556" y="2697480"/>
            <a:ext cx="566928" cy="566928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 FaBell" descr="FaBel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9618" y="2833542"/>
            <a:ext cx="294802" cy="294802"/>
          </a:xfrm>
          <a:prstGeom prst="rect">
            <a:avLst/>
          </a:prstGeom>
        </p:spPr>
      </p:pic>
      <p:sp>
        <p:nvSpPr>
          <p:cNvPr id="27" name="Tile label"/>
          <p:cNvSpPr txBox="1"/>
          <p:nvPr/>
        </p:nvSpPr>
        <p:spPr>
          <a:xfrm>
            <a:off x="9656064" y="3429000"/>
            <a:ext cx="158191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150F"/>
                </a:solidFill>
              </a:rPr>
              <a:t>Escalation, alerts and history</a:t>
            </a:r>
          </a:p>
        </p:txBody>
      </p:sp>
      <p:sp>
        <p:nvSpPr>
          <p:cNvPr id="28" name="Takeaway bar"/>
          <p:cNvSpPr/>
          <p:nvPr/>
        </p:nvSpPr>
        <p:spPr>
          <a:xfrm>
            <a:off x="548640" y="5074920"/>
            <a:ext cx="11091672" cy="731520"/>
          </a:xfrm>
          <a:prstGeom prst="roundRect">
            <a:avLst>
              <a:gd name="adj" fmla="val 5000"/>
            </a:avLst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Only the steps and the people change. The engine stays the same.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/>
          <p:cNvSpPr/>
          <p:nvPr/>
        </p:nvSpPr>
        <p:spPr>
          <a:xfrm flipV="1">
            <a:off x="0" y="-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3">
              <a:duotone>
                <a:prstClr val="black"/>
                <a:srgbClr val="FFFF00">
                  <a:tint val="45000"/>
                  <a:satMod val="400000"/>
                </a:srgbClr>
              </a:duotone>
            </a:blip>
            <a:stretch>
              <a:fillRect t="-1777" b="-177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893991" y="578875"/>
            <a:ext cx="705412" cy="961380"/>
          </a:xfrm>
          <a:custGeom>
            <a:avLst/>
            <a:gdLst/>
            <a:ahLst/>
            <a:cxnLst/>
            <a:rect l="l" t="t" r="r" b="b"/>
            <a:pathLst>
              <a:path w="1058118" h="1442069">
                <a:moveTo>
                  <a:pt x="0" y="0"/>
                </a:moveTo>
                <a:lnTo>
                  <a:pt x="1058118" y="0"/>
                </a:lnTo>
                <a:lnTo>
                  <a:pt x="1058118" y="1442070"/>
                </a:lnTo>
                <a:lnTo>
                  <a:pt x="0" y="1442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10724588" y="578875"/>
            <a:ext cx="705412" cy="961380"/>
          </a:xfrm>
          <a:custGeom>
            <a:avLst/>
            <a:gdLst/>
            <a:ahLst/>
            <a:cxnLst/>
            <a:rect l="l" t="t" r="r" b="b"/>
            <a:pathLst>
              <a:path w="1058118" h="1442069">
                <a:moveTo>
                  <a:pt x="0" y="0"/>
                </a:moveTo>
                <a:lnTo>
                  <a:pt x="1058118" y="0"/>
                </a:lnTo>
                <a:lnTo>
                  <a:pt x="1058118" y="1442070"/>
                </a:lnTo>
                <a:lnTo>
                  <a:pt x="0" y="1442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2651760"/>
            <a:ext cx="9628632" cy="1417320"/>
          </a:xfrm>
        </p:spPr>
        <p:txBody>
          <a:bodyPr anchor="t"/>
          <a:lstStyle/>
          <a:p>
            <a:r>
              <a:rPr sz="5400" b="1">
                <a:solidFill>
                  <a:schemeClr val="bg1"/>
                </a:solidFill>
              </a:rPr>
              <a:t>Two Industries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0160" y="4251960"/>
            <a:ext cx="9628632" cy="822960"/>
          </a:xfrm>
        </p:spPr>
        <p:txBody>
          <a:bodyPr/>
          <a:lstStyle/>
          <a:p>
            <a:r>
              <a:rPr sz="2000" dirty="0">
                <a:solidFill>
                  <a:srgbClr val="DDDDCB"/>
                </a:solidFill>
              </a:rPr>
              <a:t>University complaint handling · Hospital patient admission &amp; treatment</a:t>
            </a:r>
          </a:p>
        </p:txBody>
      </p:sp>
      <p:sp>
        <p:nvSpPr>
          <p:cNvPr id="10" name="Section number"/>
          <p:cNvSpPr txBox="1"/>
          <p:nvPr/>
        </p:nvSpPr>
        <p:spPr>
          <a:xfrm>
            <a:off x="1280160" y="2148840"/>
            <a:ext cx="96286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 spc="400">
                <a:solidFill>
                  <a:srgbClr val="CACA98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University Complaint Workflow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01 · INDUSTRY 1 · EDUCATION</a:t>
            </a:r>
          </a:p>
        </p:txBody>
      </p:sp>
      <p:sp>
        <p:nvSpPr>
          <p:cNvPr id="4" name="Step 1"/>
          <p:cNvSpPr/>
          <p:nvPr/>
        </p:nvSpPr>
        <p:spPr>
          <a:xfrm>
            <a:off x="548640" y="1572768"/>
            <a:ext cx="1780032" cy="777240"/>
          </a:xfrm>
          <a:prstGeom prst="homePlat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201168" bIns="54864" rtlCol="0" anchor="ctr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CACA98"/>
                </a:solidFill>
              </a:rPr>
              <a:t>1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Submit complaint</a:t>
            </a:r>
          </a:p>
        </p:txBody>
      </p:sp>
      <p:sp>
        <p:nvSpPr>
          <p:cNvPr id="5" name="Step 2"/>
          <p:cNvSpPr/>
          <p:nvPr/>
        </p:nvSpPr>
        <p:spPr>
          <a:xfrm>
            <a:off x="2410968" y="1572768"/>
            <a:ext cx="1780032" cy="777240"/>
          </a:xfrm>
          <a:prstGeom prst="homePlate">
            <a:avLst/>
          </a:prstGeom>
          <a:solidFill>
            <a:srgbClr val="5E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201168" bIns="54864" rtlCol="0" anchor="ctr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CACA98"/>
                </a:solidFill>
              </a:rPr>
              <a:t>2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Review &amp; classify</a:t>
            </a:r>
          </a:p>
        </p:txBody>
      </p:sp>
      <p:sp>
        <p:nvSpPr>
          <p:cNvPr id="6" name="Step 3"/>
          <p:cNvSpPr/>
          <p:nvPr/>
        </p:nvSpPr>
        <p:spPr>
          <a:xfrm>
            <a:off x="4273296" y="1572768"/>
            <a:ext cx="1780032" cy="777240"/>
          </a:xfrm>
          <a:prstGeom prst="homePlate">
            <a:avLst/>
          </a:prstGeom>
          <a:solidFill>
            <a:srgbClr val="5E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201168" bIns="54864" rtlCol="0" anchor="ctr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CACA98"/>
                </a:solidFill>
              </a:rPr>
              <a:t>3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Assign to department</a:t>
            </a:r>
          </a:p>
        </p:txBody>
      </p:sp>
      <p:sp>
        <p:nvSpPr>
          <p:cNvPr id="7" name="Step 4"/>
          <p:cNvSpPr/>
          <p:nvPr/>
        </p:nvSpPr>
        <p:spPr>
          <a:xfrm>
            <a:off x="6135624" y="1572768"/>
            <a:ext cx="1780032" cy="777240"/>
          </a:xfrm>
          <a:prstGeom prst="homePlate">
            <a:avLst/>
          </a:prstGeom>
          <a:solidFill>
            <a:srgbClr val="5E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201168" bIns="54864" rtlCol="0" anchor="ctr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CACA98"/>
                </a:solidFill>
              </a:rPr>
              <a:t>4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Investigate</a:t>
            </a:r>
          </a:p>
        </p:txBody>
      </p:sp>
      <p:sp>
        <p:nvSpPr>
          <p:cNvPr id="8" name="Step 5"/>
          <p:cNvSpPr/>
          <p:nvPr/>
        </p:nvSpPr>
        <p:spPr>
          <a:xfrm>
            <a:off x="7997952" y="1572768"/>
            <a:ext cx="1780032" cy="777240"/>
          </a:xfrm>
          <a:prstGeom prst="homePlate">
            <a:avLst/>
          </a:prstGeom>
          <a:solidFill>
            <a:srgbClr val="5E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201168" bIns="54864" rtlCol="0" anchor="ctr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CACA98"/>
                </a:solidFill>
              </a:rPr>
              <a:t>5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Decide or escalate</a:t>
            </a:r>
          </a:p>
        </p:txBody>
      </p:sp>
      <p:sp>
        <p:nvSpPr>
          <p:cNvPr id="9" name="Step 6"/>
          <p:cNvSpPr/>
          <p:nvPr/>
        </p:nvSpPr>
        <p:spPr>
          <a:xfrm>
            <a:off x="9860280" y="1572768"/>
            <a:ext cx="1780032" cy="777240"/>
          </a:xfrm>
          <a:prstGeom prst="homePlat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201168" bIns="54864" rtlCol="0" anchor="ctr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CACA98"/>
                </a:solidFill>
              </a:rPr>
              <a:t>6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Resolve or close</a:t>
            </a:r>
          </a:p>
        </p:txBody>
      </p:sp>
      <p:sp>
        <p:nvSpPr>
          <p:cNvPr id="10" name="Sub heading"/>
          <p:cNvSpPr txBox="1"/>
          <p:nvPr/>
        </p:nvSpPr>
        <p:spPr>
          <a:xfrm>
            <a:off x="548640" y="257860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PARTICIPANTS AND ROLES</a:t>
            </a:r>
          </a:p>
        </p:txBody>
      </p:sp>
      <p:sp>
        <p:nvSpPr>
          <p:cNvPr id="11" name="Role card"/>
          <p:cNvSpPr/>
          <p:nvPr/>
        </p:nvSpPr>
        <p:spPr>
          <a:xfrm>
            <a:off x="548640" y="2898648"/>
            <a:ext cx="6766560" cy="5486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con circle"/>
          <p:cNvSpPr/>
          <p:nvPr/>
        </p:nvSpPr>
        <p:spPr>
          <a:xfrm>
            <a:off x="658368" y="2971800"/>
            <a:ext cx="402336" cy="40233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 FaUserGraduate" descr="FaUserGraduat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28" y="3068360"/>
            <a:ext cx="209214" cy="209214"/>
          </a:xfrm>
          <a:prstGeom prst="rect">
            <a:avLst/>
          </a:prstGeom>
        </p:spPr>
      </p:pic>
      <p:sp>
        <p:nvSpPr>
          <p:cNvPr id="14" name="Role text"/>
          <p:cNvSpPr txBox="1"/>
          <p:nvPr/>
        </p:nvSpPr>
        <p:spPr>
          <a:xfrm>
            <a:off x="1207007" y="2935224"/>
            <a:ext cx="5989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4150F"/>
                </a:solidFill>
              </a:rPr>
              <a:t>Student</a:t>
            </a:r>
            <a:r>
              <a:rPr sz="1300" b="0" i="0">
                <a:solidFill>
                  <a:srgbClr val="66665A"/>
                </a:solidFill>
              </a:rPr>
              <a:t>  submits the complaint, receives the outcome</a:t>
            </a:r>
          </a:p>
        </p:txBody>
      </p:sp>
      <p:sp>
        <p:nvSpPr>
          <p:cNvPr id="15" name="Role card"/>
          <p:cNvSpPr/>
          <p:nvPr/>
        </p:nvSpPr>
        <p:spPr>
          <a:xfrm>
            <a:off x="548640" y="3538728"/>
            <a:ext cx="6766560" cy="5486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con circle"/>
          <p:cNvSpPr/>
          <p:nvPr/>
        </p:nvSpPr>
        <p:spPr>
          <a:xfrm>
            <a:off x="658368" y="3611880"/>
            <a:ext cx="402336" cy="40233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 FaClipboardCheck" descr="FaClipboard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28" y="3708440"/>
            <a:ext cx="209214" cy="209214"/>
          </a:xfrm>
          <a:prstGeom prst="rect">
            <a:avLst/>
          </a:prstGeom>
        </p:spPr>
      </p:pic>
      <p:sp>
        <p:nvSpPr>
          <p:cNvPr id="18" name="Role text"/>
          <p:cNvSpPr txBox="1"/>
          <p:nvPr/>
        </p:nvSpPr>
        <p:spPr>
          <a:xfrm>
            <a:off x="1207007" y="3575304"/>
            <a:ext cx="5989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4150F"/>
                </a:solidFill>
              </a:rPr>
              <a:t>Administrator</a:t>
            </a:r>
            <a:r>
              <a:rPr sz="1300" b="0" i="0">
                <a:solidFill>
                  <a:srgbClr val="66665A"/>
                </a:solidFill>
              </a:rPr>
              <a:t>  reviews, classifies and routes</a:t>
            </a:r>
          </a:p>
        </p:txBody>
      </p:sp>
      <p:sp>
        <p:nvSpPr>
          <p:cNvPr id="19" name="Role card"/>
          <p:cNvSpPr/>
          <p:nvPr/>
        </p:nvSpPr>
        <p:spPr>
          <a:xfrm>
            <a:off x="548640" y="4178808"/>
            <a:ext cx="6766560" cy="5486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con circle"/>
          <p:cNvSpPr/>
          <p:nvPr/>
        </p:nvSpPr>
        <p:spPr>
          <a:xfrm>
            <a:off x="658368" y="4251960"/>
            <a:ext cx="402336" cy="40233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con FaUsers" descr="Fa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28" y="4348520"/>
            <a:ext cx="209214" cy="209214"/>
          </a:xfrm>
          <a:prstGeom prst="rect">
            <a:avLst/>
          </a:prstGeom>
        </p:spPr>
      </p:pic>
      <p:sp>
        <p:nvSpPr>
          <p:cNvPr id="22" name="Role text"/>
          <p:cNvSpPr txBox="1"/>
          <p:nvPr/>
        </p:nvSpPr>
        <p:spPr>
          <a:xfrm>
            <a:off x="1207007" y="4215384"/>
            <a:ext cx="5989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4150F"/>
                </a:solidFill>
              </a:rPr>
              <a:t>Staff member / lecturer</a:t>
            </a:r>
            <a:r>
              <a:rPr sz="1300" b="0" i="0">
                <a:solidFill>
                  <a:srgbClr val="66665A"/>
                </a:solidFill>
              </a:rPr>
              <a:t>  investigates and tries to resolve</a:t>
            </a:r>
          </a:p>
        </p:txBody>
      </p:sp>
      <p:sp>
        <p:nvSpPr>
          <p:cNvPr id="23" name="Role card"/>
          <p:cNvSpPr/>
          <p:nvPr/>
        </p:nvSpPr>
        <p:spPr>
          <a:xfrm>
            <a:off x="548640" y="4818888"/>
            <a:ext cx="6766560" cy="5486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con circle"/>
          <p:cNvSpPr/>
          <p:nvPr/>
        </p:nvSpPr>
        <p:spPr>
          <a:xfrm>
            <a:off x="658368" y="4892040"/>
            <a:ext cx="402336" cy="40233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 FaUserTie" descr="FaUserTi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928" y="4988600"/>
            <a:ext cx="209214" cy="209214"/>
          </a:xfrm>
          <a:prstGeom prst="rect">
            <a:avLst/>
          </a:prstGeom>
        </p:spPr>
      </p:pic>
      <p:sp>
        <p:nvSpPr>
          <p:cNvPr id="26" name="Role text"/>
          <p:cNvSpPr txBox="1"/>
          <p:nvPr/>
        </p:nvSpPr>
        <p:spPr>
          <a:xfrm>
            <a:off x="1207007" y="4855464"/>
            <a:ext cx="5989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4150F"/>
                </a:solidFill>
              </a:rPr>
              <a:t>Department head</a:t>
            </a:r>
            <a:r>
              <a:rPr sz="1300" b="0" i="0">
                <a:solidFill>
                  <a:srgbClr val="66665A"/>
                </a:solidFill>
              </a:rPr>
              <a:t>  handles escalated or higher-approval cases</a:t>
            </a:r>
          </a:p>
        </p:txBody>
      </p:sp>
      <p:sp>
        <p:nvSpPr>
          <p:cNvPr id="27" name="Role card"/>
          <p:cNvSpPr/>
          <p:nvPr/>
        </p:nvSpPr>
        <p:spPr>
          <a:xfrm>
            <a:off x="548640" y="5458968"/>
            <a:ext cx="6766560" cy="5486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con circle"/>
          <p:cNvSpPr/>
          <p:nvPr/>
        </p:nvSpPr>
        <p:spPr>
          <a:xfrm>
            <a:off x="658368" y="5532120"/>
            <a:ext cx="402336" cy="40233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con FaShieldAlt" descr="FaShieldAl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928" y="5628680"/>
            <a:ext cx="209214" cy="209214"/>
          </a:xfrm>
          <a:prstGeom prst="rect">
            <a:avLst/>
          </a:prstGeom>
        </p:spPr>
      </p:pic>
      <p:sp>
        <p:nvSpPr>
          <p:cNvPr id="30" name="Role text"/>
          <p:cNvSpPr txBox="1"/>
          <p:nvPr/>
        </p:nvSpPr>
        <p:spPr>
          <a:xfrm>
            <a:off x="1207007" y="5495544"/>
            <a:ext cx="5989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4150F"/>
                </a:solidFill>
              </a:rPr>
              <a:t>Faculty representative</a:t>
            </a:r>
            <a:r>
              <a:rPr sz="1300" b="0" i="0">
                <a:solidFill>
                  <a:srgbClr val="66665A"/>
                </a:solidFill>
              </a:rPr>
              <a:t>  final escalation level</a:t>
            </a:r>
          </a:p>
        </p:txBody>
      </p:sp>
      <p:sp>
        <p:nvSpPr>
          <p:cNvPr id="31" name="Sub heading"/>
          <p:cNvSpPr txBox="1"/>
          <p:nvPr/>
        </p:nvSpPr>
        <p:spPr>
          <a:xfrm>
            <a:off x="7635240" y="2578608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POSSIBLE OUTCOMES</a:t>
            </a:r>
          </a:p>
        </p:txBody>
      </p:sp>
      <p:sp>
        <p:nvSpPr>
          <p:cNvPr id="32" name="Outcome card"/>
          <p:cNvSpPr/>
          <p:nvPr/>
        </p:nvSpPr>
        <p:spPr>
          <a:xfrm>
            <a:off x="7635240" y="2898648"/>
            <a:ext cx="4005072" cy="795528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con circle"/>
          <p:cNvSpPr/>
          <p:nvPr/>
        </p:nvSpPr>
        <p:spPr>
          <a:xfrm>
            <a:off x="7772400" y="3081528"/>
            <a:ext cx="420624" cy="42062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Icon FaCheckCircle" descr="FaCheckCircl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3349" y="3182477"/>
            <a:ext cx="218724" cy="218724"/>
          </a:xfrm>
          <a:prstGeom prst="rect">
            <a:avLst/>
          </a:prstGeom>
        </p:spPr>
      </p:pic>
      <p:sp>
        <p:nvSpPr>
          <p:cNvPr id="35" name="Outcome text"/>
          <p:cNvSpPr txBox="1"/>
          <p:nvPr/>
        </p:nvSpPr>
        <p:spPr>
          <a:xfrm>
            <a:off x="8366760" y="2953512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1600" b="1" i="0">
                <a:solidFill>
                  <a:srgbClr val="14150F"/>
                </a:solidFill>
              </a:rPr>
              <a:t>Resolved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Student accepts the outcome</a:t>
            </a:r>
          </a:p>
        </p:txBody>
      </p:sp>
      <p:sp>
        <p:nvSpPr>
          <p:cNvPr id="36" name="Outcome card"/>
          <p:cNvSpPr/>
          <p:nvPr/>
        </p:nvSpPr>
        <p:spPr>
          <a:xfrm>
            <a:off x="7635240" y="3785615"/>
            <a:ext cx="4005072" cy="795528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Icon circle"/>
          <p:cNvSpPr/>
          <p:nvPr/>
        </p:nvSpPr>
        <p:spPr>
          <a:xfrm>
            <a:off x="7772400" y="3968496"/>
            <a:ext cx="420624" cy="420624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Icon FaTimesCircle" descr="FaTimesCircle_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3349" y="4069445"/>
            <a:ext cx="218724" cy="218724"/>
          </a:xfrm>
          <a:prstGeom prst="rect">
            <a:avLst/>
          </a:prstGeom>
        </p:spPr>
      </p:pic>
      <p:sp>
        <p:nvSpPr>
          <p:cNvPr id="39" name="Outcome text"/>
          <p:cNvSpPr txBox="1"/>
          <p:nvPr/>
        </p:nvSpPr>
        <p:spPr>
          <a:xfrm>
            <a:off x="8366760" y="3840479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1600" b="1" i="0">
                <a:solidFill>
                  <a:srgbClr val="14150F"/>
                </a:solidFill>
              </a:rPr>
              <a:t>Closed: retracted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Student withdraws the complaint</a:t>
            </a:r>
          </a:p>
        </p:txBody>
      </p:sp>
      <p:sp>
        <p:nvSpPr>
          <p:cNvPr id="40" name="Outcome card"/>
          <p:cNvSpPr/>
          <p:nvPr/>
        </p:nvSpPr>
        <p:spPr>
          <a:xfrm>
            <a:off x="7635240" y="4672583"/>
            <a:ext cx="4005072" cy="795528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Icon circle"/>
          <p:cNvSpPr/>
          <p:nvPr/>
        </p:nvSpPr>
        <p:spPr>
          <a:xfrm>
            <a:off x="7772400" y="4855464"/>
            <a:ext cx="420624" cy="420624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Icon FaTimesCircle" descr="FaTimesCircle_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3349" y="4956413"/>
            <a:ext cx="218724" cy="218724"/>
          </a:xfrm>
          <a:prstGeom prst="rect">
            <a:avLst/>
          </a:prstGeom>
        </p:spPr>
      </p:pic>
      <p:sp>
        <p:nvSpPr>
          <p:cNvPr id="43" name="Outcome text"/>
          <p:cNvSpPr txBox="1"/>
          <p:nvPr/>
        </p:nvSpPr>
        <p:spPr>
          <a:xfrm>
            <a:off x="8366760" y="4727447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1600" b="1" i="0">
                <a:solidFill>
                  <a:srgbClr val="14150F"/>
                </a:solidFill>
              </a:rPr>
              <a:t>Closed: appeal denied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Final appeal is denied</a:t>
            </a:r>
          </a:p>
        </p:txBody>
      </p:sp>
      <p:sp>
        <p:nvSpPr>
          <p:cNvPr id="44" name="Input data"/>
          <p:cNvSpPr txBox="1"/>
          <p:nvPr/>
        </p:nvSpPr>
        <p:spPr>
          <a:xfrm>
            <a:off x="7635240" y="5623560"/>
            <a:ext cx="40050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14150F"/>
                </a:solidFill>
              </a:rPr>
              <a:t>Input data: </a:t>
            </a:r>
            <a:r>
              <a:rPr sz="1300" b="0" i="0">
                <a:solidFill>
                  <a:srgbClr val="66665A"/>
                </a:solidFill>
              </a:rPr>
              <a:t>complaint type, description, student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University: work, decisions and exceptions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02 · LIVE DEMONSTRATION · EDUCATION</a:t>
            </a:r>
          </a:p>
        </p:txBody>
      </p:sp>
      <p:sp>
        <p:nvSpPr>
          <p:cNvPr id="4" name="Column card"/>
          <p:cNvSpPr/>
          <p:nvPr/>
        </p:nvSpPr>
        <p:spPr>
          <a:xfrm>
            <a:off x="548640" y="1572768"/>
            <a:ext cx="3544824" cy="361188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ag"/>
          <p:cNvSpPr/>
          <p:nvPr/>
        </p:nvSpPr>
        <p:spPr>
          <a:xfrm>
            <a:off x="731520" y="175564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1945" rIns="36576" bIns="21945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WORK ITEMS</a:t>
            </a:r>
          </a:p>
        </p:txBody>
      </p:sp>
      <p:sp>
        <p:nvSpPr>
          <p:cNvPr id="6" name="Column list"/>
          <p:cNvSpPr txBox="1"/>
          <p:nvPr/>
        </p:nvSpPr>
        <p:spPr>
          <a:xfrm>
            <a:off x="731520" y="2194560"/>
            <a:ext cx="317906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Submit complaint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Review complaint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Identify complaint type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Assign complaint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Investigate complaint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Make decision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Escalate complaint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Review appeal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Resolve complaint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Close complaint</a:t>
            </a:r>
          </a:p>
        </p:txBody>
      </p:sp>
      <p:sp>
        <p:nvSpPr>
          <p:cNvPr id="7" name="Column card"/>
          <p:cNvSpPr/>
          <p:nvPr/>
        </p:nvSpPr>
        <p:spPr>
          <a:xfrm>
            <a:off x="4322064" y="1572768"/>
            <a:ext cx="3544824" cy="361188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ag"/>
          <p:cNvSpPr/>
          <p:nvPr/>
        </p:nvSpPr>
        <p:spPr>
          <a:xfrm>
            <a:off x="4504944" y="1755648"/>
            <a:ext cx="2322576" cy="292608"/>
          </a:xfrm>
          <a:prstGeom prst="roundRect">
            <a:avLst>
              <a:gd name="adj" fmla="val 50000"/>
            </a:avLst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1945" rIns="36576" bIns="21945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DECISIONS &amp; ROUTING</a:t>
            </a:r>
          </a:p>
        </p:txBody>
      </p:sp>
      <p:sp>
        <p:nvSpPr>
          <p:cNvPr id="9" name="Column list"/>
          <p:cNvSpPr txBox="1"/>
          <p:nvPr/>
        </p:nvSpPr>
        <p:spPr>
          <a:xfrm>
            <a:off x="4504944" y="2194560"/>
            <a:ext cx="317906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What type of complaint is it?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Which department receives it?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Can the staff member resolve it?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Should it be escalated?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Does the student accept the outcome?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Should an appeal be created?</a:t>
            </a:r>
          </a:p>
        </p:txBody>
      </p:sp>
      <p:sp>
        <p:nvSpPr>
          <p:cNvPr id="10" name="Column card"/>
          <p:cNvSpPr/>
          <p:nvPr/>
        </p:nvSpPr>
        <p:spPr>
          <a:xfrm>
            <a:off x="8095488" y="1572768"/>
            <a:ext cx="3544824" cy="361188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ag"/>
          <p:cNvSpPr/>
          <p:nvPr/>
        </p:nvSpPr>
        <p:spPr>
          <a:xfrm>
            <a:off x="8278367" y="175564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1945" rIns="36576" bIns="21945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EXCEPTIONS</a:t>
            </a:r>
          </a:p>
        </p:txBody>
      </p:sp>
      <p:sp>
        <p:nvSpPr>
          <p:cNvPr id="12" name="Column list"/>
          <p:cNvSpPr txBox="1"/>
          <p:nvPr/>
        </p:nvSpPr>
        <p:spPr>
          <a:xfrm>
            <a:off x="8278367" y="2194560"/>
            <a:ext cx="317906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Insufficient information from the student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Complaint sent to the wrong department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Cannot be resolved at the current level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Email notification fails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Student withdraws the complaint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Student appeals the decision</a:t>
            </a:r>
          </a:p>
        </p:txBody>
      </p:sp>
      <p:sp>
        <p:nvSpPr>
          <p:cNvPr id="13" name="Dependencies strip"/>
          <p:cNvSpPr/>
          <p:nvPr/>
        </p:nvSpPr>
        <p:spPr>
          <a:xfrm>
            <a:off x="548640" y="5321808"/>
            <a:ext cx="11091672" cy="777240"/>
          </a:xfrm>
          <a:prstGeom prst="roundRect">
            <a:avLst>
              <a:gd name="adj" fmla="val 5000"/>
            </a:avLst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ACA98"/>
                </a:solidFill>
              </a:rPr>
              <a:t>Dependencies: </a:t>
            </a:r>
            <a:r>
              <a:rPr sz="1400" b="0" i="0">
                <a:solidFill>
                  <a:srgbClr val="FFFFFF"/>
                </a:solidFill>
              </a:rPr>
              <a:t>submit → review → assign → investigate.    </a:t>
            </a:r>
            <a:r>
              <a:rPr sz="1400" b="1" i="0">
                <a:solidFill>
                  <a:srgbClr val="CACA98"/>
                </a:solidFill>
              </a:rPr>
              <a:t>External system: </a:t>
            </a:r>
            <a:r>
              <a:rPr sz="1400" b="0" i="0">
                <a:solidFill>
                  <a:srgbClr val="FFFFFF"/>
                </a:solidFill>
              </a:rPr>
              <a:t>email notices for confirmation, assignment, escalation and resolution.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Hospital Patient Admission &amp; Treatment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01 · INDUSTRY 2 · HEALTHCARE</a:t>
            </a:r>
          </a:p>
        </p:txBody>
      </p:sp>
      <p:sp>
        <p:nvSpPr>
          <p:cNvPr id="4" name="Step 1"/>
          <p:cNvSpPr/>
          <p:nvPr/>
        </p:nvSpPr>
        <p:spPr>
          <a:xfrm>
            <a:off x="548640" y="1572768"/>
            <a:ext cx="1780032" cy="777240"/>
          </a:xfrm>
          <a:prstGeom prst="homePlat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201168" bIns="54864" rtlCol="0" anchor="ctr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CACA98"/>
                </a:solidFill>
              </a:rPr>
              <a:t>1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Register patient</a:t>
            </a:r>
          </a:p>
        </p:txBody>
      </p:sp>
      <p:sp>
        <p:nvSpPr>
          <p:cNvPr id="5" name="Step 2"/>
          <p:cNvSpPr/>
          <p:nvPr/>
        </p:nvSpPr>
        <p:spPr>
          <a:xfrm>
            <a:off x="2410968" y="1572768"/>
            <a:ext cx="1780032" cy="777240"/>
          </a:xfrm>
          <a:prstGeom prst="homePlate">
            <a:avLst/>
          </a:prstGeom>
          <a:solidFill>
            <a:srgbClr val="5E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201168" bIns="54864" rtlCol="0" anchor="ctr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CACA98"/>
                </a:solidFill>
              </a:rPr>
              <a:t>2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Triage</a:t>
            </a:r>
          </a:p>
        </p:txBody>
      </p:sp>
      <p:sp>
        <p:nvSpPr>
          <p:cNvPr id="6" name="Step 3"/>
          <p:cNvSpPr/>
          <p:nvPr/>
        </p:nvSpPr>
        <p:spPr>
          <a:xfrm>
            <a:off x="4273296" y="1572768"/>
            <a:ext cx="1780032" cy="777240"/>
          </a:xfrm>
          <a:prstGeom prst="homePlate">
            <a:avLst/>
          </a:prstGeom>
          <a:solidFill>
            <a:srgbClr val="5E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201168" bIns="54864" rtlCol="0" anchor="ctr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CACA98"/>
                </a:solidFill>
              </a:rPr>
              <a:t>3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Admit &amp; assign</a:t>
            </a:r>
          </a:p>
        </p:txBody>
      </p:sp>
      <p:sp>
        <p:nvSpPr>
          <p:cNvPr id="7" name="Step 4"/>
          <p:cNvSpPr/>
          <p:nvPr/>
        </p:nvSpPr>
        <p:spPr>
          <a:xfrm>
            <a:off x="6135624" y="1572768"/>
            <a:ext cx="1780032" cy="777240"/>
          </a:xfrm>
          <a:prstGeom prst="homePlate">
            <a:avLst/>
          </a:prstGeom>
          <a:solidFill>
            <a:srgbClr val="5E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201168" bIns="54864" rtlCol="0" anchor="ctr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CACA98"/>
                </a:solidFill>
              </a:rPr>
              <a:t>4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Diagnose</a:t>
            </a:r>
          </a:p>
        </p:txBody>
      </p:sp>
      <p:sp>
        <p:nvSpPr>
          <p:cNvPr id="8" name="Step 5"/>
          <p:cNvSpPr/>
          <p:nvPr/>
        </p:nvSpPr>
        <p:spPr>
          <a:xfrm>
            <a:off x="7997952" y="1572768"/>
            <a:ext cx="1780032" cy="777240"/>
          </a:xfrm>
          <a:prstGeom prst="homePlate">
            <a:avLst/>
          </a:prstGeom>
          <a:solidFill>
            <a:srgbClr val="5E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201168" bIns="54864" rtlCol="0" anchor="ctr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CACA98"/>
                </a:solidFill>
              </a:rPr>
              <a:t>5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Treat</a:t>
            </a:r>
          </a:p>
        </p:txBody>
      </p:sp>
      <p:sp>
        <p:nvSpPr>
          <p:cNvPr id="9" name="Step 6"/>
          <p:cNvSpPr/>
          <p:nvPr/>
        </p:nvSpPr>
        <p:spPr>
          <a:xfrm>
            <a:off x="9860280" y="1572768"/>
            <a:ext cx="1780032" cy="777240"/>
          </a:xfrm>
          <a:prstGeom prst="homePlat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201168" bIns="54864" rtlCol="0" anchor="ctr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CACA98"/>
                </a:solidFill>
              </a:rPr>
              <a:t>6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Discharge or close</a:t>
            </a:r>
          </a:p>
        </p:txBody>
      </p:sp>
      <p:sp>
        <p:nvSpPr>
          <p:cNvPr id="10" name="Sub heading"/>
          <p:cNvSpPr txBox="1"/>
          <p:nvPr/>
        </p:nvSpPr>
        <p:spPr>
          <a:xfrm>
            <a:off x="548640" y="2578608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PARTICIPANTS AND ROLES</a:t>
            </a:r>
          </a:p>
        </p:txBody>
      </p:sp>
      <p:sp>
        <p:nvSpPr>
          <p:cNvPr id="11" name="Role card"/>
          <p:cNvSpPr/>
          <p:nvPr/>
        </p:nvSpPr>
        <p:spPr>
          <a:xfrm>
            <a:off x="548640" y="2898648"/>
            <a:ext cx="6766560" cy="5486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con circle"/>
          <p:cNvSpPr/>
          <p:nvPr/>
        </p:nvSpPr>
        <p:spPr>
          <a:xfrm>
            <a:off x="658368" y="2971800"/>
            <a:ext cx="402336" cy="40233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 FaUsers" descr="Fa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28" y="3068360"/>
            <a:ext cx="209214" cy="209214"/>
          </a:xfrm>
          <a:prstGeom prst="rect">
            <a:avLst/>
          </a:prstGeom>
        </p:spPr>
      </p:pic>
      <p:sp>
        <p:nvSpPr>
          <p:cNvPr id="14" name="Role text"/>
          <p:cNvSpPr txBox="1"/>
          <p:nvPr/>
        </p:nvSpPr>
        <p:spPr>
          <a:xfrm>
            <a:off x="1207007" y="2935224"/>
            <a:ext cx="5989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4150F"/>
                </a:solidFill>
              </a:rPr>
              <a:t>Patient</a:t>
            </a:r>
            <a:r>
              <a:rPr sz="1300" b="0" i="0">
                <a:solidFill>
                  <a:srgbClr val="66665A"/>
                </a:solidFill>
              </a:rPr>
              <a:t>  arrives and receives care</a:t>
            </a:r>
          </a:p>
        </p:txBody>
      </p:sp>
      <p:sp>
        <p:nvSpPr>
          <p:cNvPr id="15" name="Role card"/>
          <p:cNvSpPr/>
          <p:nvPr/>
        </p:nvSpPr>
        <p:spPr>
          <a:xfrm>
            <a:off x="548640" y="3538728"/>
            <a:ext cx="6766560" cy="5486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con circle"/>
          <p:cNvSpPr/>
          <p:nvPr/>
        </p:nvSpPr>
        <p:spPr>
          <a:xfrm>
            <a:off x="658368" y="3611880"/>
            <a:ext cx="402336" cy="40233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 FaClipboardCheck" descr="FaClipboard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28" y="3708440"/>
            <a:ext cx="209214" cy="209214"/>
          </a:xfrm>
          <a:prstGeom prst="rect">
            <a:avLst/>
          </a:prstGeom>
        </p:spPr>
      </p:pic>
      <p:sp>
        <p:nvSpPr>
          <p:cNvPr id="18" name="Role text"/>
          <p:cNvSpPr txBox="1"/>
          <p:nvPr/>
        </p:nvSpPr>
        <p:spPr>
          <a:xfrm>
            <a:off x="1207007" y="3575304"/>
            <a:ext cx="5989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4150F"/>
                </a:solidFill>
              </a:rPr>
              <a:t>Admissions clerk</a:t>
            </a:r>
            <a:r>
              <a:rPr sz="1300" b="0" i="0">
                <a:solidFill>
                  <a:srgbClr val="66665A"/>
                </a:solidFill>
              </a:rPr>
              <a:t>  registers and admits the patient</a:t>
            </a:r>
          </a:p>
        </p:txBody>
      </p:sp>
      <p:sp>
        <p:nvSpPr>
          <p:cNvPr id="19" name="Role card"/>
          <p:cNvSpPr/>
          <p:nvPr/>
        </p:nvSpPr>
        <p:spPr>
          <a:xfrm>
            <a:off x="548640" y="4178808"/>
            <a:ext cx="6766560" cy="5486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con circle"/>
          <p:cNvSpPr/>
          <p:nvPr/>
        </p:nvSpPr>
        <p:spPr>
          <a:xfrm>
            <a:off x="658368" y="4251960"/>
            <a:ext cx="402336" cy="40233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con FaUserNurse" descr="FaUserNur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28" y="4348520"/>
            <a:ext cx="209214" cy="209214"/>
          </a:xfrm>
          <a:prstGeom prst="rect">
            <a:avLst/>
          </a:prstGeom>
        </p:spPr>
      </p:pic>
      <p:sp>
        <p:nvSpPr>
          <p:cNvPr id="22" name="Role text"/>
          <p:cNvSpPr txBox="1"/>
          <p:nvPr/>
        </p:nvSpPr>
        <p:spPr>
          <a:xfrm>
            <a:off x="1207007" y="4215384"/>
            <a:ext cx="5989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4150F"/>
                </a:solidFill>
              </a:rPr>
              <a:t>Triage nurse</a:t>
            </a:r>
            <a:r>
              <a:rPr sz="1300" b="0" i="0">
                <a:solidFill>
                  <a:srgbClr val="66665A"/>
                </a:solidFill>
              </a:rPr>
              <a:t>  assesses urgency</a:t>
            </a:r>
          </a:p>
        </p:txBody>
      </p:sp>
      <p:sp>
        <p:nvSpPr>
          <p:cNvPr id="23" name="Role card"/>
          <p:cNvSpPr/>
          <p:nvPr/>
        </p:nvSpPr>
        <p:spPr>
          <a:xfrm>
            <a:off x="548640" y="4818888"/>
            <a:ext cx="6766560" cy="5486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con circle"/>
          <p:cNvSpPr/>
          <p:nvPr/>
        </p:nvSpPr>
        <p:spPr>
          <a:xfrm>
            <a:off x="658368" y="4892040"/>
            <a:ext cx="402336" cy="40233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 FaUserMd" descr="FaUserM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928" y="4988600"/>
            <a:ext cx="209214" cy="209214"/>
          </a:xfrm>
          <a:prstGeom prst="rect">
            <a:avLst/>
          </a:prstGeom>
        </p:spPr>
      </p:pic>
      <p:sp>
        <p:nvSpPr>
          <p:cNvPr id="26" name="Role text"/>
          <p:cNvSpPr txBox="1"/>
          <p:nvPr/>
        </p:nvSpPr>
        <p:spPr>
          <a:xfrm>
            <a:off x="1207007" y="4855464"/>
            <a:ext cx="5989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4150F"/>
                </a:solidFill>
              </a:rPr>
              <a:t>Doctor</a:t>
            </a:r>
            <a:r>
              <a:rPr sz="1300" b="0" i="0">
                <a:solidFill>
                  <a:srgbClr val="66665A"/>
                </a:solidFill>
              </a:rPr>
              <a:t>  diagnoses and treats</a:t>
            </a:r>
          </a:p>
        </p:txBody>
      </p:sp>
      <p:sp>
        <p:nvSpPr>
          <p:cNvPr id="27" name="Role card"/>
          <p:cNvSpPr/>
          <p:nvPr/>
        </p:nvSpPr>
        <p:spPr>
          <a:xfrm>
            <a:off x="548640" y="5458968"/>
            <a:ext cx="6766560" cy="5486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con circle"/>
          <p:cNvSpPr/>
          <p:nvPr/>
        </p:nvSpPr>
        <p:spPr>
          <a:xfrm>
            <a:off x="658368" y="5532120"/>
            <a:ext cx="402336" cy="402336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con FaStethoscope" descr="FaStethoscop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928" y="5628680"/>
            <a:ext cx="209214" cy="209214"/>
          </a:xfrm>
          <a:prstGeom prst="rect">
            <a:avLst/>
          </a:prstGeom>
        </p:spPr>
      </p:pic>
      <p:sp>
        <p:nvSpPr>
          <p:cNvPr id="30" name="Role text"/>
          <p:cNvSpPr txBox="1"/>
          <p:nvPr/>
        </p:nvSpPr>
        <p:spPr>
          <a:xfrm>
            <a:off x="1207007" y="5495544"/>
            <a:ext cx="5989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4150F"/>
                </a:solidFill>
              </a:rPr>
              <a:t>Specialist</a:t>
            </a:r>
            <a:r>
              <a:rPr sz="1300" b="0" i="0">
                <a:solidFill>
                  <a:srgbClr val="66665A"/>
                </a:solidFill>
              </a:rPr>
              <a:t>  handles escalated cases, final decisions</a:t>
            </a:r>
          </a:p>
        </p:txBody>
      </p:sp>
      <p:sp>
        <p:nvSpPr>
          <p:cNvPr id="31" name="Sub heading"/>
          <p:cNvSpPr txBox="1"/>
          <p:nvPr/>
        </p:nvSpPr>
        <p:spPr>
          <a:xfrm>
            <a:off x="7635240" y="2578608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POSSIBLE OUTCOMES</a:t>
            </a:r>
          </a:p>
        </p:txBody>
      </p:sp>
      <p:sp>
        <p:nvSpPr>
          <p:cNvPr id="32" name="Outcome card"/>
          <p:cNvSpPr/>
          <p:nvPr/>
        </p:nvSpPr>
        <p:spPr>
          <a:xfrm>
            <a:off x="7635240" y="2898648"/>
            <a:ext cx="4005072" cy="795528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con circle"/>
          <p:cNvSpPr/>
          <p:nvPr/>
        </p:nvSpPr>
        <p:spPr>
          <a:xfrm>
            <a:off x="7772400" y="3081528"/>
            <a:ext cx="420624" cy="42062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Icon FaCheckCircle" descr="FaCheckCircl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3349" y="3182477"/>
            <a:ext cx="218724" cy="218724"/>
          </a:xfrm>
          <a:prstGeom prst="rect">
            <a:avLst/>
          </a:prstGeom>
        </p:spPr>
      </p:pic>
      <p:sp>
        <p:nvSpPr>
          <p:cNvPr id="35" name="Outcome text"/>
          <p:cNvSpPr txBox="1"/>
          <p:nvPr/>
        </p:nvSpPr>
        <p:spPr>
          <a:xfrm>
            <a:off x="8366760" y="2953512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1600" b="1" i="0">
                <a:solidFill>
                  <a:srgbClr val="14150F"/>
                </a:solidFill>
              </a:rPr>
              <a:t>Resolved: discharged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Treatment complete</a:t>
            </a:r>
          </a:p>
        </p:txBody>
      </p:sp>
      <p:sp>
        <p:nvSpPr>
          <p:cNvPr id="36" name="Outcome card"/>
          <p:cNvSpPr/>
          <p:nvPr/>
        </p:nvSpPr>
        <p:spPr>
          <a:xfrm>
            <a:off x="7635240" y="3785615"/>
            <a:ext cx="4005072" cy="795528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Icon circle"/>
          <p:cNvSpPr/>
          <p:nvPr/>
        </p:nvSpPr>
        <p:spPr>
          <a:xfrm>
            <a:off x="7772400" y="3968496"/>
            <a:ext cx="420624" cy="420624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Icon FaTimesCircle" descr="FaTimesCircle_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3349" y="4069445"/>
            <a:ext cx="218724" cy="218724"/>
          </a:xfrm>
          <a:prstGeom prst="rect">
            <a:avLst/>
          </a:prstGeom>
        </p:spPr>
      </p:pic>
      <p:sp>
        <p:nvSpPr>
          <p:cNvPr id="39" name="Outcome text"/>
          <p:cNvSpPr txBox="1"/>
          <p:nvPr/>
        </p:nvSpPr>
        <p:spPr>
          <a:xfrm>
            <a:off x="8366760" y="3840479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1600" b="1" i="0">
                <a:solidFill>
                  <a:srgbClr val="14150F"/>
                </a:solidFill>
              </a:rPr>
              <a:t>Closed: withdrawn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Patient leaves or withdraws</a:t>
            </a:r>
          </a:p>
        </p:txBody>
      </p:sp>
      <p:sp>
        <p:nvSpPr>
          <p:cNvPr id="40" name="Outcome card"/>
          <p:cNvSpPr/>
          <p:nvPr/>
        </p:nvSpPr>
        <p:spPr>
          <a:xfrm>
            <a:off x="7635240" y="4672583"/>
            <a:ext cx="4005072" cy="795528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Icon circle"/>
          <p:cNvSpPr/>
          <p:nvPr/>
        </p:nvSpPr>
        <p:spPr>
          <a:xfrm>
            <a:off x="7772400" y="4855464"/>
            <a:ext cx="420624" cy="420624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Icon FaTimesCircle" descr="FaTimesCircle_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3349" y="4956413"/>
            <a:ext cx="218724" cy="218724"/>
          </a:xfrm>
          <a:prstGeom prst="rect">
            <a:avLst/>
          </a:prstGeom>
        </p:spPr>
      </p:pic>
      <p:sp>
        <p:nvSpPr>
          <p:cNvPr id="43" name="Outcome text"/>
          <p:cNvSpPr txBox="1"/>
          <p:nvPr/>
        </p:nvSpPr>
        <p:spPr>
          <a:xfrm>
            <a:off x="8366760" y="4727447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1600" b="1" i="0">
                <a:solidFill>
                  <a:srgbClr val="14150F"/>
                </a:solidFill>
              </a:rPr>
              <a:t>Closed: referred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Case continues elsewhere</a:t>
            </a:r>
          </a:p>
        </p:txBody>
      </p:sp>
      <p:sp>
        <p:nvSpPr>
          <p:cNvPr id="44" name="Input data"/>
          <p:cNvSpPr txBox="1"/>
          <p:nvPr/>
        </p:nvSpPr>
        <p:spPr>
          <a:xfrm>
            <a:off x="7635240" y="5623560"/>
            <a:ext cx="40050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14150F"/>
                </a:solidFill>
              </a:rPr>
              <a:t>Input data: </a:t>
            </a:r>
            <a:r>
              <a:rPr sz="1300" b="0" i="0">
                <a:solidFill>
                  <a:srgbClr val="66665A"/>
                </a:solidFill>
              </a:rPr>
              <a:t>patient details, symptoms, urgency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Hospital: work, decisions and exceptions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02 · LIVE DEMONSTRATION · HEALTHCARE</a:t>
            </a:r>
          </a:p>
        </p:txBody>
      </p:sp>
      <p:sp>
        <p:nvSpPr>
          <p:cNvPr id="4" name="Column card"/>
          <p:cNvSpPr/>
          <p:nvPr/>
        </p:nvSpPr>
        <p:spPr>
          <a:xfrm>
            <a:off x="548640" y="1572768"/>
            <a:ext cx="3544824" cy="361188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ag"/>
          <p:cNvSpPr/>
          <p:nvPr/>
        </p:nvSpPr>
        <p:spPr>
          <a:xfrm>
            <a:off x="731520" y="175564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1945" rIns="36576" bIns="21945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WORK ITEMS</a:t>
            </a:r>
          </a:p>
        </p:txBody>
      </p:sp>
      <p:sp>
        <p:nvSpPr>
          <p:cNvPr id="6" name="Column list"/>
          <p:cNvSpPr txBox="1"/>
          <p:nvPr/>
        </p:nvSpPr>
        <p:spPr>
          <a:xfrm>
            <a:off x="731520" y="2194560"/>
            <a:ext cx="317906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Register patient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Capture patient details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Triage assessment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Assign doctor and bed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Diagnose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Treat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Review treatment plan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Escalate to specialist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Discharge patient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Close case</a:t>
            </a:r>
          </a:p>
        </p:txBody>
      </p:sp>
      <p:sp>
        <p:nvSpPr>
          <p:cNvPr id="7" name="Column card"/>
          <p:cNvSpPr/>
          <p:nvPr/>
        </p:nvSpPr>
        <p:spPr>
          <a:xfrm>
            <a:off x="4322064" y="1572768"/>
            <a:ext cx="3544824" cy="361188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ag"/>
          <p:cNvSpPr/>
          <p:nvPr/>
        </p:nvSpPr>
        <p:spPr>
          <a:xfrm>
            <a:off x="4504944" y="1755648"/>
            <a:ext cx="2322576" cy="292608"/>
          </a:xfrm>
          <a:prstGeom prst="roundRect">
            <a:avLst>
              <a:gd name="adj" fmla="val 50000"/>
            </a:avLst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1945" rIns="36576" bIns="21945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DECISIONS &amp; ROUTING</a:t>
            </a:r>
          </a:p>
        </p:txBody>
      </p:sp>
      <p:sp>
        <p:nvSpPr>
          <p:cNvPr id="9" name="Column list"/>
          <p:cNvSpPr txBox="1"/>
          <p:nvPr/>
        </p:nvSpPr>
        <p:spPr>
          <a:xfrm>
            <a:off x="4504944" y="2194560"/>
            <a:ext cx="317906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Is the case urgent?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Admit or treat as outpatient?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Which doctor and bed are available?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Can the doctor treat, or escalate?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Is the treatment plan approved?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Is the patient fit for discharge?</a:t>
            </a:r>
          </a:p>
        </p:txBody>
      </p:sp>
      <p:sp>
        <p:nvSpPr>
          <p:cNvPr id="10" name="Column card"/>
          <p:cNvSpPr/>
          <p:nvPr/>
        </p:nvSpPr>
        <p:spPr>
          <a:xfrm>
            <a:off x="8095488" y="1572768"/>
            <a:ext cx="3544824" cy="361188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ag"/>
          <p:cNvSpPr/>
          <p:nvPr/>
        </p:nvSpPr>
        <p:spPr>
          <a:xfrm>
            <a:off x="8278367" y="175564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1945" rIns="36576" bIns="21945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</a:rPr>
              <a:t>EXCEPTIONS</a:t>
            </a:r>
          </a:p>
        </p:txBody>
      </p:sp>
      <p:sp>
        <p:nvSpPr>
          <p:cNvPr id="12" name="Column list"/>
          <p:cNvSpPr txBox="1"/>
          <p:nvPr/>
        </p:nvSpPr>
        <p:spPr>
          <a:xfrm>
            <a:off x="8278367" y="2194560"/>
            <a:ext cx="317906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Missing patient information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No bed available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Complication during treatment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Specialist unavailable: next level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Patient leaves against advice</a:t>
            </a:r>
          </a:p>
          <a:p>
            <a:pPr marL="182880" indent="-182880">
              <a:spcAft>
                <a:spcPts val="400"/>
              </a:spcAft>
              <a:buClr>
                <a:srgbClr val="5E5E38"/>
              </a:buClr>
              <a:buFont typeface="Arial"/>
              <a:buChar char="•"/>
            </a:pPr>
            <a:r>
              <a:rPr sz="1400" b="0" i="0">
                <a:solidFill>
                  <a:srgbClr val="14150F"/>
                </a:solidFill>
              </a:rPr>
              <a:t>Notification fails</a:t>
            </a:r>
          </a:p>
        </p:txBody>
      </p:sp>
      <p:sp>
        <p:nvSpPr>
          <p:cNvPr id="13" name="Dependencies strip"/>
          <p:cNvSpPr/>
          <p:nvPr/>
        </p:nvSpPr>
        <p:spPr>
          <a:xfrm>
            <a:off x="548640" y="5321808"/>
            <a:ext cx="11091672" cy="777240"/>
          </a:xfrm>
          <a:prstGeom prst="roundRect">
            <a:avLst>
              <a:gd name="adj" fmla="val 5000"/>
            </a:avLst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ACA98"/>
                </a:solidFill>
              </a:rPr>
              <a:t>Dependencies: </a:t>
            </a:r>
            <a:r>
              <a:rPr sz="1400" b="0" i="0">
                <a:solidFill>
                  <a:srgbClr val="FFFFFF"/>
                </a:solidFill>
              </a:rPr>
              <a:t>register → triage → admit → diagnose → treat.    </a:t>
            </a:r>
            <a:r>
              <a:rPr sz="1400" b="1" i="0">
                <a:solidFill>
                  <a:srgbClr val="CACA98"/>
                </a:solidFill>
              </a:rPr>
              <a:t>External system: </a:t>
            </a:r>
            <a:r>
              <a:rPr sz="1400" b="0" i="0">
                <a:solidFill>
                  <a:srgbClr val="FFFFFF"/>
                </a:solidFill>
              </a:rPr>
              <a:t>ward and patient notifications through the same adapter.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engine, different configuration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03 · DESIGN &amp; ENGINEERING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548640" y="1572768"/>
          <a:ext cx="11091672" cy="457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Responsibility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1415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University complaint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1415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Hospital admission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1415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Generic engine classes (unchanged)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141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Workflow definition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Built for complaints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Built for admissions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WorkflowBuilder, WorkflowDirector, WorkflowDefinition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Structure of work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Stages, work items, appeal sub-process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Stages, work items, treatment sub-process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WorkflowComponent, WorkItem, WorkflowStage, SubProcess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Assignment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Role-based by department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Workload-based by availability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AssignmentStrategy and its concrete strategies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Escalation chain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Staff, department head, faculty rep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Nurse, doctor, specialist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Handler, EscalationHandler, ApprovalHandler, FinalDecisionHandler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Notifications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Email to student and staff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Alerts to ward and patient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NotificationService, EmailAdapter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Lifecycle &amp; history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Submitted to Resolved or Closed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Submitted to Resolved or Closed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WorkflowInstance, WorkflowState, observers, WorkflowHistory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engine in one picture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OVERVIEW</a:t>
            </a:r>
          </a:p>
        </p:txBody>
      </p:sp>
      <p:sp>
        <p:nvSpPr>
          <p:cNvPr id="4" name="State Submitted"/>
          <p:cNvSpPr/>
          <p:nvPr/>
        </p:nvSpPr>
        <p:spPr>
          <a:xfrm>
            <a:off x="548640" y="22402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7AC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4150F"/>
                </a:solidFill>
              </a:rPr>
              <a:t>Submitted</a:t>
            </a:r>
          </a:p>
        </p:txBody>
      </p:sp>
      <p:sp>
        <p:nvSpPr>
          <p:cNvPr id="5" name="State Active"/>
          <p:cNvSpPr/>
          <p:nvPr/>
        </p:nvSpPr>
        <p:spPr>
          <a:xfrm>
            <a:off x="3607308" y="22402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7AC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4150F"/>
                </a:solidFill>
              </a:rPr>
              <a:t>Active</a:t>
            </a:r>
          </a:p>
        </p:txBody>
      </p:sp>
      <p:sp>
        <p:nvSpPr>
          <p:cNvPr id="6" name="State In Progress"/>
          <p:cNvSpPr/>
          <p:nvPr/>
        </p:nvSpPr>
        <p:spPr>
          <a:xfrm>
            <a:off x="6665976" y="22402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7AC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4150F"/>
                </a:solidFill>
              </a:rPr>
              <a:t>In Progress</a:t>
            </a:r>
          </a:p>
        </p:txBody>
      </p:sp>
      <p:sp>
        <p:nvSpPr>
          <p:cNvPr id="7" name="State Resolved"/>
          <p:cNvSpPr/>
          <p:nvPr/>
        </p:nvSpPr>
        <p:spPr>
          <a:xfrm>
            <a:off x="9724644" y="224028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</a:rPr>
              <a:t>Resolved</a:t>
            </a:r>
          </a:p>
        </p:txBody>
      </p:sp>
      <p:sp>
        <p:nvSpPr>
          <p:cNvPr id="8" name="State Closed"/>
          <p:cNvSpPr/>
          <p:nvPr/>
        </p:nvSpPr>
        <p:spPr>
          <a:xfrm>
            <a:off x="5120640" y="3657600"/>
            <a:ext cx="1920240" cy="777240"/>
          </a:xfrm>
          <a:prstGeom prst="roundRect">
            <a:avLst>
              <a:gd name="adj" fmla="val 5000"/>
            </a:avLst>
          </a:prstGeom>
          <a:solidFill>
            <a:srgbClr val="5E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</a:rPr>
              <a:t>Closed</a:t>
            </a:r>
          </a:p>
        </p:txBody>
      </p:sp>
      <p:cxnSp>
        <p:nvCxnSpPr>
          <p:cNvPr id="9" name="Arrow"/>
          <p:cNvCxnSpPr/>
          <p:nvPr/>
        </p:nvCxnSpPr>
        <p:spPr>
          <a:xfrm>
            <a:off x="2505456" y="2628900"/>
            <a:ext cx="1065276" cy="0"/>
          </a:xfrm>
          <a:prstGeom prst="line">
            <a:avLst/>
          </a:prstGeom>
          <a:ln w="28575">
            <a:solidFill>
              <a:srgbClr val="141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Number badge"/>
          <p:cNvSpPr/>
          <p:nvPr/>
        </p:nvSpPr>
        <p:spPr>
          <a:xfrm>
            <a:off x="2873501" y="2125980"/>
            <a:ext cx="329184" cy="329184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50F"/>
                </a:solidFill>
              </a:rPr>
              <a:t>1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5564124" y="2628900"/>
            <a:ext cx="1065276" cy="0"/>
          </a:xfrm>
          <a:prstGeom prst="line">
            <a:avLst/>
          </a:prstGeom>
          <a:ln w="28575">
            <a:solidFill>
              <a:srgbClr val="141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Number badge"/>
          <p:cNvSpPr/>
          <p:nvPr/>
        </p:nvSpPr>
        <p:spPr>
          <a:xfrm>
            <a:off x="5932170" y="2125980"/>
            <a:ext cx="329184" cy="329184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50F"/>
                </a:solidFill>
              </a:rPr>
              <a:t>2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8622792" y="2628900"/>
            <a:ext cx="1065276" cy="0"/>
          </a:xfrm>
          <a:prstGeom prst="line">
            <a:avLst/>
          </a:prstGeom>
          <a:ln w="28575">
            <a:solidFill>
              <a:srgbClr val="141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umber badge"/>
          <p:cNvSpPr/>
          <p:nvPr/>
        </p:nvSpPr>
        <p:spPr>
          <a:xfrm>
            <a:off x="8990838" y="2125980"/>
            <a:ext cx="329184" cy="329184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50F"/>
                </a:solidFill>
              </a:rPr>
              <a:t>3</a:t>
            </a:r>
          </a:p>
        </p:txBody>
      </p:sp>
      <p:cxnSp>
        <p:nvCxnSpPr>
          <p:cNvPr id="15" name="Arrow"/>
          <p:cNvCxnSpPr/>
          <p:nvPr/>
        </p:nvCxnSpPr>
        <p:spPr>
          <a:xfrm>
            <a:off x="4567428" y="3017520"/>
            <a:ext cx="873252" cy="640080"/>
          </a:xfrm>
          <a:prstGeom prst="line">
            <a:avLst/>
          </a:prstGeom>
          <a:ln w="28575">
            <a:solidFill>
              <a:srgbClr val="141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umber badge"/>
          <p:cNvSpPr/>
          <p:nvPr/>
        </p:nvSpPr>
        <p:spPr>
          <a:xfrm>
            <a:off x="4572000" y="3218688"/>
            <a:ext cx="329184" cy="329184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50F"/>
                </a:solidFill>
              </a:rPr>
              <a:t>4</a:t>
            </a:r>
          </a:p>
        </p:txBody>
      </p:sp>
      <p:cxnSp>
        <p:nvCxnSpPr>
          <p:cNvPr id="17" name="Arrow"/>
          <p:cNvCxnSpPr/>
          <p:nvPr/>
        </p:nvCxnSpPr>
        <p:spPr>
          <a:xfrm flipH="1">
            <a:off x="6720840" y="3017520"/>
            <a:ext cx="905256" cy="640080"/>
          </a:xfrm>
          <a:prstGeom prst="line">
            <a:avLst/>
          </a:prstGeom>
          <a:ln w="28575">
            <a:solidFill>
              <a:srgbClr val="14150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Number badge"/>
          <p:cNvSpPr/>
          <p:nvPr/>
        </p:nvSpPr>
        <p:spPr>
          <a:xfrm>
            <a:off x="7178040" y="3218688"/>
            <a:ext cx="329184" cy="329184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50F"/>
                </a:solidFill>
              </a:rPr>
              <a:t>4</a:t>
            </a:r>
          </a:p>
        </p:txBody>
      </p:sp>
      <p:sp>
        <p:nvSpPr>
          <p:cNvPr id="19" name="Escalate pill"/>
          <p:cNvSpPr/>
          <p:nvPr/>
        </p:nvSpPr>
        <p:spPr>
          <a:xfrm>
            <a:off x="6665976" y="148132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4150F"/>
                </a:solidFill>
              </a:rPr>
              <a:t>Escalate</a:t>
            </a:r>
          </a:p>
        </p:txBody>
      </p:sp>
      <p:cxnSp>
        <p:nvCxnSpPr>
          <p:cNvPr id="20" name="Arrow"/>
          <p:cNvCxnSpPr/>
          <p:nvPr/>
        </p:nvCxnSpPr>
        <p:spPr>
          <a:xfrm>
            <a:off x="7626096" y="1956816"/>
            <a:ext cx="0" cy="256032"/>
          </a:xfrm>
          <a:prstGeom prst="line">
            <a:avLst/>
          </a:prstGeom>
          <a:ln w="25400">
            <a:solidFill>
              <a:srgbClr val="14150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umber badge"/>
          <p:cNvSpPr/>
          <p:nvPr/>
        </p:nvSpPr>
        <p:spPr>
          <a:xfrm>
            <a:off x="8686800" y="1545336"/>
            <a:ext cx="329184" cy="329184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150F"/>
                </a:solidFill>
              </a:rPr>
              <a:t>5</a:t>
            </a:r>
          </a:p>
        </p:txBody>
      </p:sp>
      <p:sp>
        <p:nvSpPr>
          <p:cNvPr id="22" name="Caption card"/>
          <p:cNvSpPr/>
          <p:nvPr/>
        </p:nvSpPr>
        <p:spPr>
          <a:xfrm>
            <a:off x="548640" y="4709160"/>
            <a:ext cx="2108606" cy="160020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Number badge"/>
          <p:cNvSpPr/>
          <p:nvPr/>
        </p:nvSpPr>
        <p:spPr>
          <a:xfrm>
            <a:off x="685800" y="4828032"/>
            <a:ext cx="310896" cy="310896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1</a:t>
            </a:r>
          </a:p>
        </p:txBody>
      </p:sp>
      <p:sp>
        <p:nvSpPr>
          <p:cNvPr id="24" name="Caption text"/>
          <p:cNvSpPr txBox="1"/>
          <p:nvPr/>
        </p:nvSpPr>
        <p:spPr>
          <a:xfrm>
            <a:off x="685800" y="5212080"/>
            <a:ext cx="183428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4150F"/>
                </a:solidFill>
              </a:rPr>
              <a:t>Accepted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Someone checks the case before any work starts.</a:t>
            </a:r>
          </a:p>
        </p:txBody>
      </p:sp>
      <p:sp>
        <p:nvSpPr>
          <p:cNvPr id="25" name="Caption card"/>
          <p:cNvSpPr/>
          <p:nvPr/>
        </p:nvSpPr>
        <p:spPr>
          <a:xfrm>
            <a:off x="2794406" y="4709160"/>
            <a:ext cx="2108606" cy="160020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Number badge"/>
          <p:cNvSpPr/>
          <p:nvPr/>
        </p:nvSpPr>
        <p:spPr>
          <a:xfrm>
            <a:off x="2931566" y="4828032"/>
            <a:ext cx="310896" cy="310896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2</a:t>
            </a:r>
          </a:p>
        </p:txBody>
      </p:sp>
      <p:sp>
        <p:nvSpPr>
          <p:cNvPr id="27" name="Caption text"/>
          <p:cNvSpPr txBox="1"/>
          <p:nvPr/>
        </p:nvSpPr>
        <p:spPr>
          <a:xfrm>
            <a:off x="2931566" y="5212080"/>
            <a:ext cx="183428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4150F"/>
                </a:solidFill>
              </a:rPr>
              <a:t>Work begins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Progress shows up from the very first step.</a:t>
            </a:r>
          </a:p>
        </p:txBody>
      </p:sp>
      <p:sp>
        <p:nvSpPr>
          <p:cNvPr id="28" name="Caption card"/>
          <p:cNvSpPr/>
          <p:nvPr/>
        </p:nvSpPr>
        <p:spPr>
          <a:xfrm>
            <a:off x="5040172" y="4709160"/>
            <a:ext cx="2108606" cy="160020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Number badge"/>
          <p:cNvSpPr/>
          <p:nvPr/>
        </p:nvSpPr>
        <p:spPr>
          <a:xfrm>
            <a:off x="5177332" y="4828032"/>
            <a:ext cx="310896" cy="310896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3</a:t>
            </a:r>
          </a:p>
        </p:txBody>
      </p:sp>
      <p:sp>
        <p:nvSpPr>
          <p:cNvPr id="30" name="Caption text"/>
          <p:cNvSpPr txBox="1"/>
          <p:nvPr/>
        </p:nvSpPr>
        <p:spPr>
          <a:xfrm>
            <a:off x="5177332" y="5212080"/>
            <a:ext cx="183428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4150F"/>
                </a:solidFill>
              </a:rPr>
              <a:t>All work done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A case is only resolved once everything is finished.</a:t>
            </a:r>
          </a:p>
        </p:txBody>
      </p:sp>
      <p:sp>
        <p:nvSpPr>
          <p:cNvPr id="31" name="Caption card"/>
          <p:cNvSpPr/>
          <p:nvPr/>
        </p:nvSpPr>
        <p:spPr>
          <a:xfrm>
            <a:off x="7285939" y="4709160"/>
            <a:ext cx="2108606" cy="160020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umber badge"/>
          <p:cNvSpPr/>
          <p:nvPr/>
        </p:nvSpPr>
        <p:spPr>
          <a:xfrm>
            <a:off x="7423099" y="4828032"/>
            <a:ext cx="310896" cy="310896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4</a:t>
            </a:r>
          </a:p>
        </p:txBody>
      </p:sp>
      <p:sp>
        <p:nvSpPr>
          <p:cNvPr id="33" name="Caption text"/>
          <p:cNvSpPr txBox="1"/>
          <p:nvPr/>
        </p:nvSpPr>
        <p:spPr>
          <a:xfrm>
            <a:off x="7423099" y="5212080"/>
            <a:ext cx="183428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4150F"/>
                </a:solidFill>
              </a:rPr>
              <a:t>Withdrawn or rejected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The case ends without being resolved.</a:t>
            </a:r>
          </a:p>
        </p:txBody>
      </p:sp>
      <p:sp>
        <p:nvSpPr>
          <p:cNvPr id="34" name="Caption card"/>
          <p:cNvSpPr/>
          <p:nvPr/>
        </p:nvSpPr>
        <p:spPr>
          <a:xfrm>
            <a:off x="9531705" y="4709160"/>
            <a:ext cx="2108606" cy="160020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Number badge"/>
          <p:cNvSpPr/>
          <p:nvPr/>
        </p:nvSpPr>
        <p:spPr>
          <a:xfrm>
            <a:off x="9668865" y="4828032"/>
            <a:ext cx="310896" cy="310896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5</a:t>
            </a:r>
          </a:p>
        </p:txBody>
      </p:sp>
      <p:sp>
        <p:nvSpPr>
          <p:cNvPr id="36" name="Caption text"/>
          <p:cNvSpPr txBox="1"/>
          <p:nvPr/>
        </p:nvSpPr>
        <p:spPr>
          <a:xfrm>
            <a:off x="9668865" y="5212080"/>
            <a:ext cx="183428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4150F"/>
                </a:solidFill>
              </a:rPr>
              <a:t>Escalated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The case stays In Progress and moves up to the next decision maker.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Testing: we catch problems first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03 · DESIGN &amp; ENGINEERING</a:t>
            </a:r>
          </a:p>
        </p:txBody>
      </p:sp>
      <p:sp>
        <p:nvSpPr>
          <p:cNvPr id="4" name="Point card"/>
          <p:cNvSpPr/>
          <p:nvPr/>
        </p:nvSpPr>
        <p:spPr>
          <a:xfrm>
            <a:off x="548640" y="1600200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con circle"/>
          <p:cNvSpPr/>
          <p:nvPr/>
        </p:nvSpPr>
        <p:spPr>
          <a:xfrm>
            <a:off x="749808" y="1965960"/>
            <a:ext cx="603504" cy="60350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 FaFlask" descr="FaFlas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48" y="2110800"/>
            <a:ext cx="313822" cy="313822"/>
          </a:xfrm>
          <a:prstGeom prst="rect">
            <a:avLst/>
          </a:prstGeom>
        </p:spPr>
      </p:pic>
      <p:sp>
        <p:nvSpPr>
          <p:cNvPr id="7" name="Point text"/>
          <p:cNvSpPr txBox="1"/>
          <p:nvPr/>
        </p:nvSpPr>
        <p:spPr>
          <a:xfrm>
            <a:off x="1554480" y="1709928"/>
            <a:ext cx="40690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4150F"/>
                </a:solidFill>
              </a:rPr>
              <a:t>We test as we go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66665A"/>
                </a:solidFill>
              </a:rPr>
              <a:t>Automated checks using doctest</a:t>
            </a:r>
          </a:p>
        </p:txBody>
      </p:sp>
      <p:sp>
        <p:nvSpPr>
          <p:cNvPr id="8" name="Point card"/>
          <p:cNvSpPr/>
          <p:nvPr/>
        </p:nvSpPr>
        <p:spPr>
          <a:xfrm>
            <a:off x="548640" y="3081528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con circle"/>
          <p:cNvSpPr/>
          <p:nvPr/>
        </p:nvSpPr>
        <p:spPr>
          <a:xfrm>
            <a:off x="749808" y="3447288"/>
            <a:ext cx="603504" cy="60350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 FaShieldAlt" descr="FaShieldA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48" y="3592128"/>
            <a:ext cx="313822" cy="313822"/>
          </a:xfrm>
          <a:prstGeom prst="rect">
            <a:avLst/>
          </a:prstGeom>
        </p:spPr>
      </p:pic>
      <p:sp>
        <p:nvSpPr>
          <p:cNvPr id="11" name="Point text"/>
          <p:cNvSpPr txBox="1"/>
          <p:nvPr/>
        </p:nvSpPr>
        <p:spPr>
          <a:xfrm>
            <a:off x="1554480" y="3191256"/>
            <a:ext cx="40690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4150F"/>
                </a:solidFill>
              </a:rPr>
              <a:t>Why it matters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66665A"/>
                </a:solidFill>
              </a:rPr>
              <a:t>We find problems before you do</a:t>
            </a:r>
          </a:p>
        </p:txBody>
      </p:sp>
      <p:sp>
        <p:nvSpPr>
          <p:cNvPr id="12" name="Point card"/>
          <p:cNvSpPr/>
          <p:nvPr/>
        </p:nvSpPr>
        <p:spPr>
          <a:xfrm>
            <a:off x="548640" y="4562856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con circle"/>
          <p:cNvSpPr/>
          <p:nvPr/>
        </p:nvSpPr>
        <p:spPr>
          <a:xfrm>
            <a:off x="749808" y="4928616"/>
            <a:ext cx="603504" cy="60350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 FaCheckCircle" descr="FaCheckCirc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648" y="5073456"/>
            <a:ext cx="313822" cy="313822"/>
          </a:xfrm>
          <a:prstGeom prst="rect">
            <a:avLst/>
          </a:prstGeom>
        </p:spPr>
      </p:pic>
      <p:sp>
        <p:nvSpPr>
          <p:cNvPr id="15" name="Point text"/>
          <p:cNvSpPr txBox="1"/>
          <p:nvPr/>
        </p:nvSpPr>
        <p:spPr>
          <a:xfrm>
            <a:off x="1554480" y="4672584"/>
            <a:ext cx="40690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4150F"/>
                </a:solidFill>
              </a:rPr>
              <a:t>What gets checked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66665A"/>
                </a:solidFill>
              </a:rPr>
              <a:t>Case steps, hand-offs, separate cases and wrong actions</a:t>
            </a:r>
          </a:p>
        </p:txBody>
      </p:sp>
      <p:pic>
        <p:nvPicPr>
          <p:cNvPr id="16" name="Evidence image 1" descr="Terminal output: doctest reports 116 test cases passed, 0 failed, and ctest reports 100% tests pass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1600200"/>
            <a:ext cx="5650992" cy="4297680"/>
          </a:xfrm>
          <a:prstGeom prst="roundRect">
            <a:avLst>
              <a:gd name="adj" fmla="val 2000"/>
            </a:avLst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change is checked automatically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03 · DESIGN &amp; ENGINEERING</a:t>
            </a:r>
          </a:p>
        </p:txBody>
      </p:sp>
      <p:sp>
        <p:nvSpPr>
          <p:cNvPr id="4" name="Point card"/>
          <p:cNvSpPr/>
          <p:nvPr/>
        </p:nvSpPr>
        <p:spPr>
          <a:xfrm>
            <a:off x="548640" y="1600200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con circle"/>
          <p:cNvSpPr/>
          <p:nvPr/>
        </p:nvSpPr>
        <p:spPr>
          <a:xfrm>
            <a:off x="749808" y="1965960"/>
            <a:ext cx="603504" cy="60350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 FaGithub" descr="FaGithu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48" y="2110800"/>
            <a:ext cx="313822" cy="313822"/>
          </a:xfrm>
          <a:prstGeom prst="rect">
            <a:avLst/>
          </a:prstGeom>
        </p:spPr>
      </p:pic>
      <p:sp>
        <p:nvSpPr>
          <p:cNvPr id="7" name="Point text"/>
          <p:cNvSpPr txBox="1"/>
          <p:nvPr/>
        </p:nvSpPr>
        <p:spPr>
          <a:xfrm>
            <a:off x="1554480" y="1709928"/>
            <a:ext cx="40690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4150F"/>
                </a:solidFill>
              </a:rPr>
              <a:t>Checked automatically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66665A"/>
                </a:solidFill>
              </a:rPr>
              <a:t>GitHub Actions runs every time we save our work</a:t>
            </a:r>
          </a:p>
        </p:txBody>
      </p:sp>
      <p:sp>
        <p:nvSpPr>
          <p:cNvPr id="8" name="Point card"/>
          <p:cNvSpPr/>
          <p:nvPr/>
        </p:nvSpPr>
        <p:spPr>
          <a:xfrm>
            <a:off x="548640" y="3081528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con circle"/>
          <p:cNvSpPr/>
          <p:nvPr/>
        </p:nvSpPr>
        <p:spPr>
          <a:xfrm>
            <a:off x="749808" y="3447288"/>
            <a:ext cx="603504" cy="60350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 FaCogs" descr="FaCog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48" y="3592128"/>
            <a:ext cx="313822" cy="313822"/>
          </a:xfrm>
          <a:prstGeom prst="rect">
            <a:avLst/>
          </a:prstGeom>
        </p:spPr>
      </p:pic>
      <p:sp>
        <p:nvSpPr>
          <p:cNvPr id="11" name="Point text"/>
          <p:cNvSpPr txBox="1"/>
          <p:nvPr/>
        </p:nvSpPr>
        <p:spPr>
          <a:xfrm>
            <a:off x="1554480" y="3191256"/>
            <a:ext cx="40690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4150F"/>
                </a:solidFill>
              </a:rPr>
              <a:t>Built, tested, memory-checked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66665A"/>
                </a:solidFill>
              </a:rPr>
              <a:t>Mistakes are caught before they reach the main version</a:t>
            </a:r>
          </a:p>
        </p:txBody>
      </p:sp>
      <p:sp>
        <p:nvSpPr>
          <p:cNvPr id="12" name="Point card"/>
          <p:cNvSpPr/>
          <p:nvPr/>
        </p:nvSpPr>
        <p:spPr>
          <a:xfrm>
            <a:off x="548640" y="4562856"/>
            <a:ext cx="5212080" cy="132588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con circle"/>
          <p:cNvSpPr/>
          <p:nvPr/>
        </p:nvSpPr>
        <p:spPr>
          <a:xfrm>
            <a:off x="749808" y="4928616"/>
            <a:ext cx="603504" cy="60350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con FaPlug" descr="FaPlu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648" y="5073456"/>
            <a:ext cx="313822" cy="313822"/>
          </a:xfrm>
          <a:prstGeom prst="rect">
            <a:avLst/>
          </a:prstGeom>
        </p:spPr>
      </p:pic>
      <p:sp>
        <p:nvSpPr>
          <p:cNvPr id="15" name="Point text"/>
          <p:cNvSpPr txBox="1"/>
          <p:nvPr/>
        </p:nvSpPr>
        <p:spPr>
          <a:xfrm>
            <a:off x="1554480" y="4932683"/>
            <a:ext cx="4069080" cy="5770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 dirty="0">
                <a:solidFill>
                  <a:srgbClr val="14150F"/>
                </a:solidFill>
              </a:rPr>
              <a:t>Docker</a:t>
            </a:r>
          </a:p>
          <a:p>
            <a:pPr>
              <a:spcAft>
                <a:spcPts val="0"/>
              </a:spcAft>
            </a:pPr>
            <a:r>
              <a:rPr sz="1600" b="0" i="0" dirty="0">
                <a:solidFill>
                  <a:srgbClr val="66665A"/>
                </a:solidFill>
              </a:rPr>
              <a:t>Runs the same way on any computer</a:t>
            </a:r>
          </a:p>
        </p:txBody>
      </p:sp>
      <p:pic>
        <p:nvPicPr>
          <p:cNvPr id="16" name="Evidence image 1" descr="GitHub Actions CI badge showing passing: built, tested, memory-checked and documented on every pus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1600200"/>
            <a:ext cx="5650992" cy="2834640"/>
          </a:xfrm>
          <a:prstGeom prst="roundRect">
            <a:avLst>
              <a:gd name="adj" fmla="val 2000"/>
            </a:avLst>
          </a:prstGeom>
        </p:spPr>
      </p:pic>
      <p:sp>
        <p:nvSpPr>
          <p:cNvPr id="17" name="Image placeholder"/>
          <p:cNvSpPr/>
          <p:nvPr/>
        </p:nvSpPr>
        <p:spPr>
          <a:xfrm>
            <a:off x="5989320" y="4617720"/>
            <a:ext cx="5650992" cy="1280160"/>
          </a:xfrm>
          <a:prstGeom prst="roundRect">
            <a:avLst>
              <a:gd name="adj" fmla="val 2000"/>
            </a:avLst>
          </a:prstGeom>
          <a:solidFill>
            <a:srgbClr val="F7F7F2"/>
          </a:solidFill>
          <a:ln w="19050">
            <a:solidFill>
              <a:srgbClr val="5E5E3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5836" rIns="109728" bIns="65836" rtlCol="0" anchor="ctr"/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5E5E38"/>
                </a:solidFill>
              </a:rPr>
              <a:t>Insert image here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6665A"/>
                </a:solidFill>
              </a:rPr>
              <a:t>Screenshot: Docker run (remove if not done)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/>
          <p:cNvSpPr/>
          <p:nvPr/>
        </p:nvSpPr>
        <p:spPr>
          <a:xfrm flipV="1">
            <a:off x="0" y="-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3">
              <a:duotone>
                <a:prstClr val="black"/>
                <a:srgbClr val="FFFF00">
                  <a:tint val="45000"/>
                  <a:satMod val="400000"/>
                </a:srgbClr>
              </a:duotone>
            </a:blip>
            <a:stretch>
              <a:fillRect t="-1777" b="-177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893991" y="578875"/>
            <a:ext cx="705412" cy="961380"/>
          </a:xfrm>
          <a:custGeom>
            <a:avLst/>
            <a:gdLst/>
            <a:ahLst/>
            <a:cxnLst/>
            <a:rect l="l" t="t" r="r" b="b"/>
            <a:pathLst>
              <a:path w="1058118" h="1442069">
                <a:moveTo>
                  <a:pt x="0" y="0"/>
                </a:moveTo>
                <a:lnTo>
                  <a:pt x="1058118" y="0"/>
                </a:lnTo>
                <a:lnTo>
                  <a:pt x="1058118" y="1442070"/>
                </a:lnTo>
                <a:lnTo>
                  <a:pt x="0" y="1442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10724588" y="578875"/>
            <a:ext cx="705412" cy="961380"/>
          </a:xfrm>
          <a:custGeom>
            <a:avLst/>
            <a:gdLst/>
            <a:ahLst/>
            <a:cxnLst/>
            <a:rect l="l" t="t" r="r" b="b"/>
            <a:pathLst>
              <a:path w="1058118" h="1442069">
                <a:moveTo>
                  <a:pt x="0" y="0"/>
                </a:moveTo>
                <a:lnTo>
                  <a:pt x="1058118" y="0"/>
                </a:lnTo>
                <a:lnTo>
                  <a:pt x="1058118" y="1442070"/>
                </a:lnTo>
                <a:lnTo>
                  <a:pt x="0" y="1442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2651760"/>
            <a:ext cx="9628632" cy="1417320"/>
          </a:xfrm>
        </p:spPr>
        <p:txBody>
          <a:bodyPr anchor="t"/>
          <a:lstStyle/>
          <a:p>
            <a:r>
              <a:rPr sz="5400" b="1">
                <a:solidFill>
                  <a:schemeClr val="bg1"/>
                </a:solidFill>
              </a:rPr>
              <a:t>Live Demonstration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0160" y="4251960"/>
            <a:ext cx="9628632" cy="822960"/>
          </a:xfrm>
        </p:spPr>
        <p:txBody>
          <a:bodyPr/>
          <a:lstStyle/>
          <a:p>
            <a:r>
              <a:rPr sz="2000">
                <a:solidFill>
                  <a:srgbClr val="DDDDCB"/>
                </a:solidFill>
              </a:rPr>
              <a:t>Interactive C++11 text interface running both industries</a:t>
            </a:r>
          </a:p>
        </p:txBody>
      </p:sp>
      <p:sp>
        <p:nvSpPr>
          <p:cNvPr id="10" name="Section number"/>
          <p:cNvSpPr txBox="1"/>
          <p:nvPr/>
        </p:nvSpPr>
        <p:spPr>
          <a:xfrm>
            <a:off x="1280160" y="2148840"/>
            <a:ext cx="9628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spc="400">
                <a:solidFill>
                  <a:srgbClr val="CACA98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run-through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02 · LIVE DEMONSTRATION</a:t>
            </a:r>
          </a:p>
        </p:txBody>
      </p:sp>
      <p:sp>
        <p:nvSpPr>
          <p:cNvPr id="4" name="Tag"/>
          <p:cNvSpPr/>
          <p:nvPr/>
        </p:nvSpPr>
        <p:spPr>
          <a:xfrm>
            <a:off x="548640" y="1572768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1945" rIns="36576" bIns="21945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</a:rPr>
              <a:t>INDUSTRY 1: UNIVERSITY COMPLAINT</a:t>
            </a:r>
          </a:p>
        </p:txBody>
      </p:sp>
      <p:sp>
        <p:nvSpPr>
          <p:cNvPr id="5" name="Demo step"/>
          <p:cNvSpPr/>
          <p:nvPr/>
        </p:nvSpPr>
        <p:spPr>
          <a:xfrm>
            <a:off x="548640" y="2057400"/>
            <a:ext cx="5454396" cy="512064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tep number"/>
          <p:cNvSpPr/>
          <p:nvPr/>
        </p:nvSpPr>
        <p:spPr>
          <a:xfrm>
            <a:off x="658368" y="2139696"/>
            <a:ext cx="347472" cy="347472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1</a:t>
            </a:r>
          </a:p>
        </p:txBody>
      </p:sp>
      <p:sp>
        <p:nvSpPr>
          <p:cNvPr id="7" name="Demo text"/>
          <p:cNvSpPr txBox="1"/>
          <p:nvPr/>
        </p:nvSpPr>
        <p:spPr>
          <a:xfrm>
            <a:off x="1143000" y="2093976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14150F"/>
                </a:solidFill>
              </a:rPr>
              <a:t>Start an independent complaint instance</a:t>
            </a:r>
          </a:p>
        </p:txBody>
      </p:sp>
      <p:sp>
        <p:nvSpPr>
          <p:cNvPr id="8" name="Demo step"/>
          <p:cNvSpPr/>
          <p:nvPr/>
        </p:nvSpPr>
        <p:spPr>
          <a:xfrm>
            <a:off x="548640" y="2642616"/>
            <a:ext cx="5454396" cy="512064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ep number"/>
          <p:cNvSpPr/>
          <p:nvPr/>
        </p:nvSpPr>
        <p:spPr>
          <a:xfrm>
            <a:off x="658368" y="2724912"/>
            <a:ext cx="347472" cy="347472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2</a:t>
            </a:r>
          </a:p>
        </p:txBody>
      </p:sp>
      <p:sp>
        <p:nvSpPr>
          <p:cNvPr id="10" name="Demo text"/>
          <p:cNvSpPr txBox="1"/>
          <p:nvPr/>
        </p:nvSpPr>
        <p:spPr>
          <a:xfrm>
            <a:off x="1143000" y="2679192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14150F"/>
                </a:solidFill>
              </a:rPr>
              <a:t>Inspect available work and assignments</a:t>
            </a:r>
          </a:p>
        </p:txBody>
      </p:sp>
      <p:sp>
        <p:nvSpPr>
          <p:cNvPr id="11" name="Demo step"/>
          <p:cNvSpPr/>
          <p:nvPr/>
        </p:nvSpPr>
        <p:spPr>
          <a:xfrm>
            <a:off x="548640" y="3227832"/>
            <a:ext cx="5454396" cy="512064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ep number"/>
          <p:cNvSpPr/>
          <p:nvPr/>
        </p:nvSpPr>
        <p:spPr>
          <a:xfrm>
            <a:off x="658368" y="3310128"/>
            <a:ext cx="347472" cy="347472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3</a:t>
            </a:r>
          </a:p>
        </p:txBody>
      </p:sp>
      <p:sp>
        <p:nvSpPr>
          <p:cNvPr id="13" name="Demo text"/>
          <p:cNvSpPr txBox="1"/>
          <p:nvPr/>
        </p:nvSpPr>
        <p:spPr>
          <a:xfrm>
            <a:off x="1143000" y="3264408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14150F"/>
                </a:solidFill>
              </a:rPr>
              <a:t>Administrator reviews, classifies and routes</a:t>
            </a:r>
          </a:p>
        </p:txBody>
      </p:sp>
      <p:sp>
        <p:nvSpPr>
          <p:cNvPr id="14" name="Demo step"/>
          <p:cNvSpPr/>
          <p:nvPr/>
        </p:nvSpPr>
        <p:spPr>
          <a:xfrm>
            <a:off x="548640" y="3813048"/>
            <a:ext cx="5454396" cy="512064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ep number"/>
          <p:cNvSpPr/>
          <p:nvPr/>
        </p:nvSpPr>
        <p:spPr>
          <a:xfrm>
            <a:off x="658368" y="3895344"/>
            <a:ext cx="347472" cy="347472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4</a:t>
            </a:r>
          </a:p>
        </p:txBody>
      </p:sp>
      <p:sp>
        <p:nvSpPr>
          <p:cNvPr id="16" name="Demo text"/>
          <p:cNvSpPr txBox="1"/>
          <p:nvPr/>
        </p:nvSpPr>
        <p:spPr>
          <a:xfrm>
            <a:off x="1143000" y="3849624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14150F"/>
                </a:solidFill>
              </a:rPr>
              <a:t>Staff cannot resolve: escalate up the chain</a:t>
            </a:r>
          </a:p>
        </p:txBody>
      </p:sp>
      <p:sp>
        <p:nvSpPr>
          <p:cNvPr id="17" name="Demo step"/>
          <p:cNvSpPr/>
          <p:nvPr/>
        </p:nvSpPr>
        <p:spPr>
          <a:xfrm>
            <a:off x="548640" y="4398264"/>
            <a:ext cx="5454396" cy="512064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ep number"/>
          <p:cNvSpPr/>
          <p:nvPr/>
        </p:nvSpPr>
        <p:spPr>
          <a:xfrm>
            <a:off x="658368" y="4480560"/>
            <a:ext cx="347472" cy="347472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5</a:t>
            </a:r>
          </a:p>
        </p:txBody>
      </p:sp>
      <p:sp>
        <p:nvSpPr>
          <p:cNvPr id="19" name="Demo text"/>
          <p:cNvSpPr txBox="1"/>
          <p:nvPr/>
        </p:nvSpPr>
        <p:spPr>
          <a:xfrm>
            <a:off x="1143000" y="4434840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14150F"/>
                </a:solidFill>
              </a:rPr>
              <a:t>Student accepts (Resolved) or appeals</a:t>
            </a:r>
          </a:p>
        </p:txBody>
      </p:sp>
      <p:sp>
        <p:nvSpPr>
          <p:cNvPr id="20" name="Demo step"/>
          <p:cNvSpPr/>
          <p:nvPr/>
        </p:nvSpPr>
        <p:spPr>
          <a:xfrm>
            <a:off x="548640" y="4983480"/>
            <a:ext cx="5454396" cy="512064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tep number"/>
          <p:cNvSpPr/>
          <p:nvPr/>
        </p:nvSpPr>
        <p:spPr>
          <a:xfrm>
            <a:off x="658368" y="5065776"/>
            <a:ext cx="347472" cy="347472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6</a:t>
            </a:r>
          </a:p>
        </p:txBody>
      </p:sp>
      <p:sp>
        <p:nvSpPr>
          <p:cNvPr id="22" name="Demo text"/>
          <p:cNvSpPr txBox="1"/>
          <p:nvPr/>
        </p:nvSpPr>
        <p:spPr>
          <a:xfrm>
            <a:off x="1143000" y="5020056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14150F"/>
                </a:solidFill>
              </a:rPr>
              <a:t>View state changes and history</a:t>
            </a:r>
          </a:p>
        </p:txBody>
      </p:sp>
      <p:sp>
        <p:nvSpPr>
          <p:cNvPr id="23" name="Tag"/>
          <p:cNvSpPr/>
          <p:nvPr/>
        </p:nvSpPr>
        <p:spPr>
          <a:xfrm>
            <a:off x="6185916" y="1572768"/>
            <a:ext cx="3657600" cy="329184"/>
          </a:xfrm>
          <a:prstGeom prst="roundRect">
            <a:avLst>
              <a:gd name="adj" fmla="val 50000"/>
            </a:avLst>
          </a:prstGeom>
          <a:solidFill>
            <a:srgbClr val="5E5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1945" rIns="36576" bIns="21945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</a:rPr>
              <a:t>INDUSTRY 2: HOSPITAL ADMISSION</a:t>
            </a:r>
          </a:p>
        </p:txBody>
      </p:sp>
      <p:sp>
        <p:nvSpPr>
          <p:cNvPr id="24" name="Demo step"/>
          <p:cNvSpPr/>
          <p:nvPr/>
        </p:nvSpPr>
        <p:spPr>
          <a:xfrm>
            <a:off x="6185916" y="2057400"/>
            <a:ext cx="5454396" cy="512064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tep number"/>
          <p:cNvSpPr/>
          <p:nvPr/>
        </p:nvSpPr>
        <p:spPr>
          <a:xfrm>
            <a:off x="6295644" y="2139696"/>
            <a:ext cx="347472" cy="347472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1</a:t>
            </a:r>
          </a:p>
        </p:txBody>
      </p:sp>
      <p:sp>
        <p:nvSpPr>
          <p:cNvPr id="26" name="Demo text"/>
          <p:cNvSpPr txBox="1"/>
          <p:nvPr/>
        </p:nvSpPr>
        <p:spPr>
          <a:xfrm>
            <a:off x="6780276" y="2093976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14150F"/>
                </a:solidFill>
              </a:rPr>
              <a:t>Register a patient and start an instance</a:t>
            </a:r>
          </a:p>
        </p:txBody>
      </p:sp>
      <p:sp>
        <p:nvSpPr>
          <p:cNvPr id="27" name="Demo step"/>
          <p:cNvSpPr/>
          <p:nvPr/>
        </p:nvSpPr>
        <p:spPr>
          <a:xfrm>
            <a:off x="6185916" y="2642616"/>
            <a:ext cx="5454396" cy="512064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Step number"/>
          <p:cNvSpPr/>
          <p:nvPr/>
        </p:nvSpPr>
        <p:spPr>
          <a:xfrm>
            <a:off x="6295644" y="2724912"/>
            <a:ext cx="347472" cy="347472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2</a:t>
            </a:r>
          </a:p>
        </p:txBody>
      </p:sp>
      <p:sp>
        <p:nvSpPr>
          <p:cNvPr id="29" name="Demo text"/>
          <p:cNvSpPr txBox="1"/>
          <p:nvPr/>
        </p:nvSpPr>
        <p:spPr>
          <a:xfrm>
            <a:off x="6780276" y="2679192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14150F"/>
                </a:solidFill>
              </a:rPr>
              <a:t>Triage and mark urgent cases as priority</a:t>
            </a:r>
          </a:p>
        </p:txBody>
      </p:sp>
      <p:sp>
        <p:nvSpPr>
          <p:cNvPr id="30" name="Demo step"/>
          <p:cNvSpPr/>
          <p:nvPr/>
        </p:nvSpPr>
        <p:spPr>
          <a:xfrm>
            <a:off x="6185916" y="3227832"/>
            <a:ext cx="5454396" cy="512064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Step number"/>
          <p:cNvSpPr/>
          <p:nvPr/>
        </p:nvSpPr>
        <p:spPr>
          <a:xfrm>
            <a:off x="6295644" y="3310128"/>
            <a:ext cx="347472" cy="347472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3</a:t>
            </a:r>
          </a:p>
        </p:txBody>
      </p:sp>
      <p:sp>
        <p:nvSpPr>
          <p:cNvPr id="32" name="Demo text"/>
          <p:cNvSpPr txBox="1"/>
          <p:nvPr/>
        </p:nvSpPr>
        <p:spPr>
          <a:xfrm>
            <a:off x="6780276" y="3264408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14150F"/>
                </a:solidFill>
              </a:rPr>
              <a:t>Admit and assign a doctor and bed</a:t>
            </a:r>
          </a:p>
        </p:txBody>
      </p:sp>
      <p:sp>
        <p:nvSpPr>
          <p:cNvPr id="33" name="Demo step"/>
          <p:cNvSpPr/>
          <p:nvPr/>
        </p:nvSpPr>
        <p:spPr>
          <a:xfrm>
            <a:off x="6185916" y="3813048"/>
            <a:ext cx="5454396" cy="512064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Step number"/>
          <p:cNvSpPr/>
          <p:nvPr/>
        </p:nvSpPr>
        <p:spPr>
          <a:xfrm>
            <a:off x="6295644" y="3895344"/>
            <a:ext cx="347472" cy="347472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4</a:t>
            </a:r>
          </a:p>
        </p:txBody>
      </p:sp>
      <p:sp>
        <p:nvSpPr>
          <p:cNvPr id="35" name="Demo text"/>
          <p:cNvSpPr txBox="1"/>
          <p:nvPr/>
        </p:nvSpPr>
        <p:spPr>
          <a:xfrm>
            <a:off x="6780276" y="3849624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14150F"/>
                </a:solidFill>
              </a:rPr>
              <a:t>Complication: escalate to the specialist</a:t>
            </a:r>
          </a:p>
        </p:txBody>
      </p:sp>
      <p:sp>
        <p:nvSpPr>
          <p:cNvPr id="36" name="Demo step"/>
          <p:cNvSpPr/>
          <p:nvPr/>
        </p:nvSpPr>
        <p:spPr>
          <a:xfrm>
            <a:off x="6185916" y="4398264"/>
            <a:ext cx="5454396" cy="512064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Step number"/>
          <p:cNvSpPr/>
          <p:nvPr/>
        </p:nvSpPr>
        <p:spPr>
          <a:xfrm>
            <a:off x="6295644" y="4480560"/>
            <a:ext cx="347472" cy="347472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5</a:t>
            </a:r>
          </a:p>
        </p:txBody>
      </p:sp>
      <p:sp>
        <p:nvSpPr>
          <p:cNvPr id="38" name="Demo text"/>
          <p:cNvSpPr txBox="1"/>
          <p:nvPr/>
        </p:nvSpPr>
        <p:spPr>
          <a:xfrm>
            <a:off x="6780276" y="4434840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14150F"/>
                </a:solidFill>
              </a:rPr>
              <a:t>Discharge (Resolved) or close the case</a:t>
            </a:r>
          </a:p>
        </p:txBody>
      </p:sp>
      <p:sp>
        <p:nvSpPr>
          <p:cNvPr id="39" name="Demo step"/>
          <p:cNvSpPr/>
          <p:nvPr/>
        </p:nvSpPr>
        <p:spPr>
          <a:xfrm>
            <a:off x="6185916" y="4983480"/>
            <a:ext cx="5454396" cy="512064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Step number"/>
          <p:cNvSpPr/>
          <p:nvPr/>
        </p:nvSpPr>
        <p:spPr>
          <a:xfrm>
            <a:off x="6295644" y="5065776"/>
            <a:ext cx="347472" cy="347472"/>
          </a:xfrm>
          <a:prstGeom prst="ellipse">
            <a:avLst/>
          </a:prstGeom>
          <a:solidFill>
            <a:srgbClr val="CAC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4150F"/>
                </a:solidFill>
              </a:rPr>
              <a:t>6</a:t>
            </a:r>
          </a:p>
        </p:txBody>
      </p:sp>
      <p:sp>
        <p:nvSpPr>
          <p:cNvPr id="41" name="Demo text"/>
          <p:cNvSpPr txBox="1"/>
          <p:nvPr/>
        </p:nvSpPr>
        <p:spPr>
          <a:xfrm>
            <a:off x="6780276" y="5020056"/>
            <a:ext cx="4754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14150F"/>
                </a:solidFill>
              </a:rPr>
              <a:t>View state changes and history</a:t>
            </a:r>
          </a:p>
        </p:txBody>
      </p:sp>
      <p:sp>
        <p:nvSpPr>
          <p:cNvPr id="42" name="Demo reminder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5000"/>
            </a:avLst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ACA98"/>
                </a:solidFill>
              </a:rPr>
              <a:t>In both runs: </a:t>
            </a:r>
            <a:r>
              <a:rPr sz="1400" b="0" i="0">
                <a:solidFill>
                  <a:srgbClr val="FFFFFF"/>
                </a:solidFill>
              </a:rPr>
              <a:t>include one invalid action (rejected by the current state) and be ready for unscripted interactions.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University complaint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BD421B7-C38F-66D3-D55B-1A1ABE18FB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881" y="1508760"/>
            <a:ext cx="7367188" cy="4160520"/>
          </a:xfrm>
          <a:prstGeom prst="rect">
            <a:avLst/>
          </a:prstGeom>
          <a:ln w="12700">
            <a:solidFill>
              <a:srgbClr val="DFDFCC"/>
            </a:solidFill>
          </a:ln>
        </p:spPr>
      </p:pic>
      <p:sp>
        <p:nvSpPr>
          <p:cNvPr id="28" name="Caption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66665A"/>
                </a:solidFill>
              </a:rPr>
              <a:t>We start a case and take it from start to finish.</a:t>
            </a:r>
          </a:p>
        </p:txBody>
      </p:sp>
      <p:sp>
        <p:nvSpPr>
          <p:cNvPr id="29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spc="150">
                <a:solidFill>
                  <a:srgbClr val="5E5E38"/>
                </a:solidFill>
              </a:rPr>
              <a:t>02 · LIVE DEMONSTRATION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2AC5F-84A6-1F17-A387-15E94539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9F48A-A8A3-F7E0-F8C4-4B027D096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Hospital admission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09997A8-B247-21DF-AC55-083E4B446B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028" y="1508760"/>
            <a:ext cx="7372894" cy="4160520"/>
          </a:xfrm>
          <a:prstGeom prst="rect">
            <a:avLst/>
          </a:prstGeom>
          <a:ln w="12700">
            <a:solidFill>
              <a:srgbClr val="DFDFCC"/>
            </a:solidFill>
          </a:ln>
        </p:spPr>
      </p:pic>
      <p:sp>
        <p:nvSpPr>
          <p:cNvPr id="20" name="Caption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66665A"/>
                </a:solidFill>
              </a:rPr>
              <a:t>Same engine, different process.</a:t>
            </a:r>
          </a:p>
        </p:txBody>
      </p:sp>
      <p:sp>
        <p:nvSpPr>
          <p:cNvPr id="21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spc="150">
                <a:solidFill>
                  <a:srgbClr val="5E5E38"/>
                </a:solidFill>
              </a:rPr>
              <a:t>02 · LIVE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3967765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6DF43-20A5-16FE-2ECC-67B871F5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E823-2A27-B22B-A7D8-B26FCA81B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Your turn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3574D2-92F0-744F-8FFD-F4CC57FDF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407" y="1508760"/>
            <a:ext cx="7444137" cy="4160520"/>
          </a:xfrm>
          <a:prstGeom prst="rect">
            <a:avLst/>
          </a:prstGeom>
          <a:ln w="12700">
            <a:solidFill>
              <a:srgbClr val="DFDFCC"/>
            </a:solidFill>
          </a:ln>
        </p:spPr>
      </p:pic>
      <p:sp>
        <p:nvSpPr>
          <p:cNvPr id="18" name="Caption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66665A"/>
                </a:solidFill>
              </a:rPr>
              <a:t>Tell us what to change and we’ll do it live.</a:t>
            </a:r>
          </a:p>
        </p:txBody>
      </p:sp>
      <p:sp>
        <p:nvSpPr>
          <p:cNvPr id="19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spc="150">
                <a:solidFill>
                  <a:srgbClr val="5E5E38"/>
                </a:solidFill>
              </a:rPr>
              <a:t>02 · LIVE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622033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/>
          <p:cNvSpPr/>
          <p:nvPr/>
        </p:nvSpPr>
        <p:spPr>
          <a:xfrm flipV="1">
            <a:off x="0" y="-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3">
              <a:duotone>
                <a:prstClr val="black"/>
                <a:srgbClr val="FFFF00">
                  <a:tint val="45000"/>
                  <a:satMod val="400000"/>
                </a:srgbClr>
              </a:duotone>
            </a:blip>
            <a:stretch>
              <a:fillRect t="-1777" b="-177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893991" y="578875"/>
            <a:ext cx="705412" cy="961380"/>
          </a:xfrm>
          <a:custGeom>
            <a:avLst/>
            <a:gdLst/>
            <a:ahLst/>
            <a:cxnLst/>
            <a:rect l="l" t="t" r="r" b="b"/>
            <a:pathLst>
              <a:path w="1058118" h="1442069">
                <a:moveTo>
                  <a:pt x="0" y="0"/>
                </a:moveTo>
                <a:lnTo>
                  <a:pt x="1058118" y="0"/>
                </a:lnTo>
                <a:lnTo>
                  <a:pt x="1058118" y="1442070"/>
                </a:lnTo>
                <a:lnTo>
                  <a:pt x="0" y="1442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10724588" y="578875"/>
            <a:ext cx="705412" cy="961380"/>
          </a:xfrm>
          <a:custGeom>
            <a:avLst/>
            <a:gdLst/>
            <a:ahLst/>
            <a:cxnLst/>
            <a:rect l="l" t="t" r="r" b="b"/>
            <a:pathLst>
              <a:path w="1058118" h="1442069">
                <a:moveTo>
                  <a:pt x="0" y="0"/>
                </a:moveTo>
                <a:lnTo>
                  <a:pt x="1058118" y="0"/>
                </a:lnTo>
                <a:lnTo>
                  <a:pt x="1058118" y="1442070"/>
                </a:lnTo>
                <a:lnTo>
                  <a:pt x="0" y="1442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2651760"/>
            <a:ext cx="9628632" cy="1417320"/>
          </a:xfrm>
        </p:spPr>
        <p:txBody>
          <a:bodyPr anchor="t"/>
          <a:lstStyle/>
          <a:p>
            <a:r>
              <a:rPr sz="5400" b="1" dirty="0">
                <a:solidFill>
                  <a:schemeClr val="bg1"/>
                </a:solidFill>
              </a:rPr>
              <a:t>Design &amp;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0160" y="4251960"/>
            <a:ext cx="9628632" cy="822960"/>
          </a:xfrm>
        </p:spPr>
        <p:txBody>
          <a:bodyPr/>
          <a:lstStyle/>
          <a:p>
            <a:r>
              <a:rPr sz="2000">
                <a:solidFill>
                  <a:srgbClr val="DDDDCB"/>
                </a:solidFill>
              </a:rPr>
              <a:t>Patterns, tests and automation behind the demo</a:t>
            </a:r>
          </a:p>
        </p:txBody>
      </p:sp>
      <p:sp>
        <p:nvSpPr>
          <p:cNvPr id="10" name="Section number"/>
          <p:cNvSpPr txBox="1"/>
          <p:nvPr/>
        </p:nvSpPr>
        <p:spPr>
          <a:xfrm>
            <a:off x="1280160" y="2148840"/>
            <a:ext cx="9628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spc="400">
                <a:solidFill>
                  <a:srgbClr val="CACA98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testing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03 · DESIGN &amp; ENGINEERING</a:t>
            </a:r>
          </a:p>
        </p:txBody>
      </p:sp>
      <p:sp>
        <p:nvSpPr>
          <p:cNvPr id="4" name="Test summary"/>
          <p:cNvSpPr/>
          <p:nvPr/>
        </p:nvSpPr>
        <p:spPr>
          <a:xfrm>
            <a:off x="548640" y="1572768"/>
            <a:ext cx="3291840" cy="4526280"/>
          </a:xfrm>
          <a:prstGeom prst="roundRect">
            <a:avLst>
              <a:gd name="adj" fmla="val 5000"/>
            </a:avLst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st stats"/>
          <p:cNvSpPr txBox="1"/>
          <p:nvPr/>
        </p:nvSpPr>
        <p:spPr>
          <a:xfrm>
            <a:off x="777240" y="178308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100" b="1" i="0" spc="150" dirty="0">
                <a:solidFill>
                  <a:srgbClr val="CACA98"/>
                </a:solidFill>
              </a:rPr>
              <a:t>TEST SUITE</a:t>
            </a:r>
          </a:p>
          <a:p>
            <a:pPr>
              <a:spcAft>
                <a:spcPts val="0"/>
              </a:spcAft>
            </a:pPr>
            <a:r>
              <a:rPr sz="4400" b="1" i="0" dirty="0">
                <a:solidFill>
                  <a:srgbClr val="FFFFFF"/>
                </a:solidFill>
              </a:rPr>
              <a:t>117</a:t>
            </a:r>
          </a:p>
          <a:p>
            <a:pPr>
              <a:spcAft>
                <a:spcPts val="1200"/>
              </a:spcAft>
            </a:pPr>
            <a:r>
              <a:rPr sz="1400" b="0" i="0" dirty="0">
                <a:solidFill>
                  <a:srgbClr val="DDDDCB"/>
                </a:solidFill>
              </a:rPr>
              <a:t>tests written</a:t>
            </a:r>
          </a:p>
          <a:p>
            <a:pPr>
              <a:spcAft>
                <a:spcPts val="0"/>
              </a:spcAft>
            </a:pPr>
            <a:r>
              <a:rPr sz="4400" b="1" i="0" dirty="0">
                <a:solidFill>
                  <a:srgbClr val="FFFFFF"/>
                </a:solidFill>
              </a:rPr>
              <a:t>116</a:t>
            </a:r>
          </a:p>
          <a:p>
            <a:pPr>
              <a:spcAft>
                <a:spcPts val="1200"/>
              </a:spcAft>
            </a:pPr>
            <a:r>
              <a:rPr sz="1400" b="0" i="0" dirty="0">
                <a:solidFill>
                  <a:srgbClr val="DDDDCB"/>
                </a:solidFill>
              </a:rPr>
              <a:t>passing</a:t>
            </a:r>
          </a:p>
          <a:p>
            <a:pPr>
              <a:spcAft>
                <a:spcPts val="0"/>
              </a:spcAft>
            </a:pPr>
            <a:r>
              <a:rPr sz="1300" b="0" i="0" dirty="0">
                <a:solidFill>
                  <a:srgbClr val="CACA98"/>
                </a:solidFill>
              </a:rPr>
              <a:t>Framework: </a:t>
            </a:r>
            <a:r>
              <a:rPr sz="1300" b="0" i="0" dirty="0" err="1">
                <a:solidFill>
                  <a:srgbClr val="CACA98"/>
                </a:solidFill>
              </a:rPr>
              <a:t>doctest</a:t>
            </a:r>
          </a:p>
        </p:txBody>
      </p:sp>
      <p:sp>
        <p:nvSpPr>
          <p:cNvPr id="6" name="Test area card"/>
          <p:cNvSpPr/>
          <p:nvPr/>
        </p:nvSpPr>
        <p:spPr>
          <a:xfrm>
            <a:off x="4069080" y="1572768"/>
            <a:ext cx="3730752" cy="219456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con circle"/>
          <p:cNvSpPr/>
          <p:nvPr/>
        </p:nvSpPr>
        <p:spPr>
          <a:xfrm>
            <a:off x="4297680" y="1801368"/>
            <a:ext cx="512064" cy="51206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 FaRoute" descr="FaRout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575" y="1924263"/>
            <a:ext cx="266273" cy="266273"/>
          </a:xfrm>
          <a:prstGeom prst="rect">
            <a:avLst/>
          </a:prstGeom>
        </p:spPr>
      </p:pic>
      <p:sp>
        <p:nvSpPr>
          <p:cNvPr id="9" name="Test area text"/>
          <p:cNvSpPr txBox="1"/>
          <p:nvPr/>
        </p:nvSpPr>
        <p:spPr>
          <a:xfrm>
            <a:off x="4297680" y="2468880"/>
            <a:ext cx="32918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4150F"/>
                </a:solidFill>
              </a:rPr>
              <a:t>State transitions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Valid transitions succeed; the lifecycle reaches Resolved or Closed.</a:t>
            </a:r>
          </a:p>
        </p:txBody>
      </p:sp>
      <p:sp>
        <p:nvSpPr>
          <p:cNvPr id="10" name="Test area card"/>
          <p:cNvSpPr/>
          <p:nvPr/>
        </p:nvSpPr>
        <p:spPr>
          <a:xfrm>
            <a:off x="7909560" y="1572768"/>
            <a:ext cx="3730752" cy="219456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con circle"/>
          <p:cNvSpPr/>
          <p:nvPr/>
        </p:nvSpPr>
        <p:spPr>
          <a:xfrm>
            <a:off x="8138160" y="1801368"/>
            <a:ext cx="512064" cy="51206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 FaUsers" descr="FaUs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055" y="1924263"/>
            <a:ext cx="266273" cy="266273"/>
          </a:xfrm>
          <a:prstGeom prst="rect">
            <a:avLst/>
          </a:prstGeom>
        </p:spPr>
      </p:pic>
      <p:sp>
        <p:nvSpPr>
          <p:cNvPr id="13" name="Test area text"/>
          <p:cNvSpPr txBox="1"/>
          <p:nvPr/>
        </p:nvSpPr>
        <p:spPr>
          <a:xfrm>
            <a:off x="8138160" y="2468880"/>
            <a:ext cx="32918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4150F"/>
                </a:solidFill>
              </a:rPr>
              <a:t>Routing &amp; assignment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Role-based and workload-based strategies pick the right participant.</a:t>
            </a:r>
          </a:p>
        </p:txBody>
      </p:sp>
      <p:sp>
        <p:nvSpPr>
          <p:cNvPr id="14" name="Test area card"/>
          <p:cNvSpPr/>
          <p:nvPr/>
        </p:nvSpPr>
        <p:spPr>
          <a:xfrm>
            <a:off x="4069080" y="3904487"/>
            <a:ext cx="3730752" cy="219456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con circle"/>
          <p:cNvSpPr/>
          <p:nvPr/>
        </p:nvSpPr>
        <p:spPr>
          <a:xfrm>
            <a:off x="4297680" y="4133087"/>
            <a:ext cx="512064" cy="51206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 FaLayerGroup" descr="FaLayerGro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0575" y="4255983"/>
            <a:ext cx="266273" cy="266273"/>
          </a:xfrm>
          <a:prstGeom prst="rect">
            <a:avLst/>
          </a:prstGeom>
        </p:spPr>
      </p:pic>
      <p:sp>
        <p:nvSpPr>
          <p:cNvPr id="17" name="Test area text"/>
          <p:cNvSpPr txBox="1"/>
          <p:nvPr/>
        </p:nvSpPr>
        <p:spPr>
          <a:xfrm>
            <a:off x="4297680" y="4800600"/>
            <a:ext cx="32918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4150F"/>
                </a:solidFill>
              </a:rPr>
              <a:t>Instance isolation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Changing one instance never affects another from the same definition.</a:t>
            </a:r>
          </a:p>
        </p:txBody>
      </p:sp>
      <p:sp>
        <p:nvSpPr>
          <p:cNvPr id="18" name="Test area card"/>
          <p:cNvSpPr/>
          <p:nvPr/>
        </p:nvSpPr>
        <p:spPr>
          <a:xfrm>
            <a:off x="7909560" y="3904487"/>
            <a:ext cx="3730752" cy="219456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con circle"/>
          <p:cNvSpPr/>
          <p:nvPr/>
        </p:nvSpPr>
        <p:spPr>
          <a:xfrm>
            <a:off x="8138160" y="4133087"/>
            <a:ext cx="512064" cy="51206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Icon FaExclamationTriangle" descr="FaExclamationTriang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1055" y="4255983"/>
            <a:ext cx="266273" cy="266273"/>
          </a:xfrm>
          <a:prstGeom prst="rect">
            <a:avLst/>
          </a:prstGeom>
        </p:spPr>
      </p:pic>
      <p:sp>
        <p:nvSpPr>
          <p:cNvPr id="21" name="Test area text"/>
          <p:cNvSpPr txBox="1"/>
          <p:nvPr/>
        </p:nvSpPr>
        <p:spPr>
          <a:xfrm>
            <a:off x="8138160" y="4800600"/>
            <a:ext cx="32918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4150F"/>
                </a:solidFill>
              </a:rPr>
              <a:t>Invalid operations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66665A"/>
                </a:solidFill>
              </a:rPr>
              <a:t>Actions not allowed in the current state are rejected cleanly.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practice and evidence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03 · DESIGN &amp; ENGINEERING</a:t>
            </a:r>
          </a:p>
        </p:txBody>
      </p:sp>
      <p:sp>
        <p:nvSpPr>
          <p:cNvPr id="4" name="Evidence card"/>
          <p:cNvSpPr/>
          <p:nvPr/>
        </p:nvSpPr>
        <p:spPr>
          <a:xfrm>
            <a:off x="548640" y="1572768"/>
            <a:ext cx="5454396" cy="219456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con circle"/>
          <p:cNvSpPr/>
          <p:nvPr/>
        </p:nvSpPr>
        <p:spPr>
          <a:xfrm>
            <a:off x="777240" y="1801368"/>
            <a:ext cx="512064" cy="51206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 FaGithub" descr="FaGithu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35" y="1924263"/>
            <a:ext cx="266273" cy="266273"/>
          </a:xfrm>
          <a:prstGeom prst="rect">
            <a:avLst/>
          </a:prstGeom>
        </p:spPr>
      </p:pic>
      <p:sp>
        <p:nvSpPr>
          <p:cNvPr id="7" name="Evidence heading"/>
          <p:cNvSpPr txBox="1"/>
          <p:nvPr/>
        </p:nvSpPr>
        <p:spPr>
          <a:xfrm>
            <a:off x="1463040" y="18288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14150F"/>
                </a:solidFill>
              </a:rPr>
              <a:t>GitHub workflow</a:t>
            </a:r>
          </a:p>
        </p:txBody>
      </p:sp>
      <p:sp>
        <p:nvSpPr>
          <p:cNvPr id="8" name="Evidence list"/>
          <p:cNvSpPr txBox="1"/>
          <p:nvPr/>
        </p:nvSpPr>
        <p:spPr>
          <a:xfrm>
            <a:off x="777240" y="2487168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700"/>
              </a:spcAft>
              <a:buClr>
                <a:srgbClr val="5E5E38"/>
              </a:buClr>
              <a:buFont typeface="Arial"/>
              <a:buChar char="•"/>
            </a:pPr>
            <a:r>
              <a:rPr sz="1500" b="0" i="0">
                <a:solidFill>
                  <a:srgbClr val="14150F"/>
                </a:solidFill>
              </a:rPr>
              <a:t>Repository: github.com/Kristy2005/TIVIDY-Prac6</a:t>
            </a:r>
          </a:p>
          <a:p>
            <a:pPr marL="182880" indent="-182880">
              <a:spcAft>
                <a:spcPts val="700"/>
              </a:spcAft>
              <a:buClr>
                <a:srgbClr val="5E5E38"/>
              </a:buClr>
              <a:buFont typeface="Arial"/>
              <a:buChar char="•"/>
            </a:pPr>
            <a:r>
              <a:rPr sz="1500" b="0" i="0">
                <a:solidFill>
                  <a:srgbClr val="14150F"/>
                </a:solidFill>
              </a:rPr>
              <a:t>Commits: 13 to 58 per member on main (minimum 10)</a:t>
            </a:r>
          </a:p>
          <a:p>
            <a:pPr marL="182880" indent="-182880">
              <a:spcAft>
                <a:spcPts val="700"/>
              </a:spcAft>
              <a:buClr>
                <a:srgbClr val="5E5E38"/>
              </a:buClr>
              <a:buFont typeface="Arial"/>
              <a:buChar char="•"/>
            </a:pPr>
            <a:r>
              <a:rPr sz="1500" b="0" i="0">
                <a:solidFill>
                  <a:srgbClr val="14150F"/>
                </a:solidFill>
              </a:rPr>
              <a:t>Closed pull requests: 61 merged (minimum 3)</a:t>
            </a:r>
          </a:p>
        </p:txBody>
      </p:sp>
      <p:sp>
        <p:nvSpPr>
          <p:cNvPr id="9" name="Evidence card"/>
          <p:cNvSpPr/>
          <p:nvPr/>
        </p:nvSpPr>
        <p:spPr>
          <a:xfrm>
            <a:off x="6185916" y="1572768"/>
            <a:ext cx="5454396" cy="219456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con circle"/>
          <p:cNvSpPr/>
          <p:nvPr/>
        </p:nvSpPr>
        <p:spPr>
          <a:xfrm>
            <a:off x="6414516" y="1801368"/>
            <a:ext cx="512064" cy="51206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 FaBook" descr="Fa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411" y="1924263"/>
            <a:ext cx="266273" cy="266273"/>
          </a:xfrm>
          <a:prstGeom prst="rect">
            <a:avLst/>
          </a:prstGeom>
        </p:spPr>
      </p:pic>
      <p:sp>
        <p:nvSpPr>
          <p:cNvPr id="12" name="Evidence heading"/>
          <p:cNvSpPr txBox="1"/>
          <p:nvPr/>
        </p:nvSpPr>
        <p:spPr>
          <a:xfrm>
            <a:off x="7100316" y="18288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14150F"/>
                </a:solidFill>
              </a:rPr>
              <a:t>Documentation</a:t>
            </a:r>
          </a:p>
        </p:txBody>
      </p:sp>
      <p:sp>
        <p:nvSpPr>
          <p:cNvPr id="13" name="Evidence list"/>
          <p:cNvSpPr txBox="1"/>
          <p:nvPr/>
        </p:nvSpPr>
        <p:spPr>
          <a:xfrm>
            <a:off x="6414516" y="2487168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700"/>
              </a:spcAft>
              <a:buClr>
                <a:srgbClr val="5E5E38"/>
              </a:buClr>
              <a:buFont typeface="Arial"/>
              <a:buChar char="•"/>
            </a:pPr>
            <a:r>
              <a:rPr sz="1500" b="0" i="0">
                <a:solidFill>
                  <a:srgbClr val="14150F"/>
                </a:solidFill>
              </a:rPr>
              <a:t>Doxygen comments on significant classes</a:t>
            </a:r>
          </a:p>
          <a:p>
            <a:pPr marL="182880" indent="-182880">
              <a:spcAft>
                <a:spcPts val="700"/>
              </a:spcAft>
              <a:buClr>
                <a:srgbClr val="5E5E38"/>
              </a:buClr>
              <a:buFont typeface="Arial"/>
              <a:buChar char="•"/>
            </a:pPr>
            <a:r>
              <a:rPr sz="1500" b="0" i="0">
                <a:solidFill>
                  <a:srgbClr val="14150F"/>
                </a:solidFill>
              </a:rPr>
              <a:t>README: dependencies, build, run, test</a:t>
            </a:r>
          </a:p>
          <a:p>
            <a:pPr marL="182880" indent="-182880">
              <a:spcAft>
                <a:spcPts val="700"/>
              </a:spcAft>
              <a:buClr>
                <a:srgbClr val="5E5E38"/>
              </a:buClr>
              <a:buFont typeface="Arial"/>
              <a:buChar char="•"/>
            </a:pPr>
            <a:r>
              <a:rPr sz="1500" b="0" i="0">
                <a:solidFill>
                  <a:srgbClr val="14150F"/>
                </a:solidFill>
              </a:rPr>
              <a:t>docs/ and UML exports in the repository</a:t>
            </a:r>
          </a:p>
        </p:txBody>
      </p:sp>
      <p:sp>
        <p:nvSpPr>
          <p:cNvPr id="14" name="Evidence card"/>
          <p:cNvSpPr/>
          <p:nvPr/>
        </p:nvSpPr>
        <p:spPr>
          <a:xfrm>
            <a:off x="548640" y="3904487"/>
            <a:ext cx="5454396" cy="219456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con circle"/>
          <p:cNvSpPr/>
          <p:nvPr/>
        </p:nvSpPr>
        <p:spPr>
          <a:xfrm>
            <a:off x="777240" y="4133087"/>
            <a:ext cx="512064" cy="51206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 FaTerminal" descr="FaTerminal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35" y="4255983"/>
            <a:ext cx="266273" cy="266273"/>
          </a:xfrm>
          <a:prstGeom prst="rect">
            <a:avLst/>
          </a:prstGeom>
        </p:spPr>
      </p:pic>
      <p:sp>
        <p:nvSpPr>
          <p:cNvPr id="17" name="Evidence heading"/>
          <p:cNvSpPr txBox="1"/>
          <p:nvPr/>
        </p:nvSpPr>
        <p:spPr>
          <a:xfrm>
            <a:off x="1463040" y="416052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14150F"/>
                </a:solidFill>
              </a:rPr>
              <a:t>Build &amp; run</a:t>
            </a:r>
          </a:p>
        </p:txBody>
      </p:sp>
      <p:sp>
        <p:nvSpPr>
          <p:cNvPr id="18" name="Evidence list"/>
          <p:cNvSpPr txBox="1"/>
          <p:nvPr/>
        </p:nvSpPr>
        <p:spPr>
          <a:xfrm>
            <a:off x="777240" y="4818888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700"/>
              </a:spcAft>
              <a:buClr>
                <a:srgbClr val="5E5E38"/>
              </a:buClr>
              <a:buFont typeface="Arial"/>
              <a:buChar char="•"/>
            </a:pPr>
            <a:r>
              <a:rPr sz="1500" b="0" i="0">
                <a:solidFill>
                  <a:srgbClr val="14150F"/>
                </a:solidFill>
              </a:rPr>
              <a:t>Build: make build</a:t>
            </a:r>
          </a:p>
          <a:p>
            <a:pPr marL="182880" indent="-182880">
              <a:spcAft>
                <a:spcPts val="700"/>
              </a:spcAft>
              <a:buClr>
                <a:srgbClr val="5E5E38"/>
              </a:buClr>
              <a:buFont typeface="Arial"/>
              <a:buChar char="•"/>
            </a:pPr>
            <a:r>
              <a:rPr sz="1500" b="0" i="0">
                <a:solidFill>
                  <a:srgbClr val="14150F"/>
                </a:solidFill>
              </a:rPr>
              <a:t>Run: ./build/tividy</a:t>
            </a:r>
          </a:p>
          <a:p>
            <a:pPr marL="182880" indent="-182880">
              <a:spcAft>
                <a:spcPts val="700"/>
              </a:spcAft>
              <a:buClr>
                <a:srgbClr val="5E5E38"/>
              </a:buClr>
              <a:buFont typeface="Arial"/>
              <a:buChar char="•"/>
            </a:pPr>
            <a:r>
              <a:rPr sz="1500" b="0" i="0">
                <a:solidFill>
                  <a:srgbClr val="14150F"/>
                </a:solidFill>
              </a:rPr>
              <a:t>Test: make test</a:t>
            </a:r>
          </a:p>
        </p:txBody>
      </p:sp>
      <p:sp>
        <p:nvSpPr>
          <p:cNvPr id="19" name="Evidence card"/>
          <p:cNvSpPr/>
          <p:nvPr/>
        </p:nvSpPr>
        <p:spPr>
          <a:xfrm>
            <a:off x="6185916" y="3904487"/>
            <a:ext cx="5454396" cy="219456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con circle"/>
          <p:cNvSpPr/>
          <p:nvPr/>
        </p:nvSpPr>
        <p:spPr>
          <a:xfrm>
            <a:off x="6414516" y="4133087"/>
            <a:ext cx="512064" cy="51206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con FaCogs" descr="FaCog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411" y="4255983"/>
            <a:ext cx="266273" cy="266273"/>
          </a:xfrm>
          <a:prstGeom prst="rect">
            <a:avLst/>
          </a:prstGeom>
        </p:spPr>
      </p:pic>
      <p:sp>
        <p:nvSpPr>
          <p:cNvPr id="22" name="Evidence heading"/>
          <p:cNvSpPr txBox="1"/>
          <p:nvPr/>
        </p:nvSpPr>
        <p:spPr>
          <a:xfrm>
            <a:off x="7100316" y="416052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14150F"/>
                </a:solidFill>
              </a:rPr>
              <a:t>Optional bonus</a:t>
            </a:r>
          </a:p>
        </p:txBody>
      </p:sp>
      <p:sp>
        <p:nvSpPr>
          <p:cNvPr id="23" name="Evidence list"/>
          <p:cNvSpPr txBox="1"/>
          <p:nvPr/>
        </p:nvSpPr>
        <p:spPr>
          <a:xfrm>
            <a:off x="6414516" y="4818888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700"/>
              </a:spcAft>
              <a:buClr>
                <a:srgbClr val="5E5E38"/>
              </a:buClr>
              <a:buFont typeface="Arial"/>
              <a:buChar char="•"/>
            </a:pPr>
            <a:r>
              <a:rPr sz="1500" b="0" i="0">
                <a:solidFill>
                  <a:srgbClr val="5E5E38"/>
                </a:solidFill>
              </a:rPr>
              <a:t>GitHub Actions: build, tests, Valgrind, Doxygen</a:t>
            </a:r>
          </a:p>
          <a:p>
            <a:pPr marL="182880" indent="-182880">
              <a:spcAft>
                <a:spcPts val="700"/>
              </a:spcAft>
              <a:buClr>
                <a:srgbClr val="5E5E38"/>
              </a:buClr>
              <a:buFont typeface="Arial"/>
              <a:buChar char="•"/>
            </a:pPr>
            <a:r>
              <a:rPr sz="1500" b="0" i="0">
                <a:solidFill>
                  <a:srgbClr val="5E5E38"/>
                </a:solidFill>
              </a:rPr>
              <a:t>Dockerised on Ubuntu 24.04 (Dockerfile in repo)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contributions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03 · DESIGN &amp; ENGINEERING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548640" y="1572768"/>
          <a:ext cx="11091672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Member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1415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Student no.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1415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Practical 6 contribution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1415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Final project contribution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141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Lindokuhle Skosana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u24891968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Activity diagrams, design patterns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5E5E38"/>
                          </a:solidFill>
                        </a:rPr>
                        <a:t>[add contribution]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Kristy Heesen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u24702341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Scope and scenario, class diagram, design patterns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5E5E38"/>
                          </a:solidFill>
                        </a:rPr>
                        <a:t>[add contribution]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LM Kabongo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25030338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Research, sequence and state diagrams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1">
                          <a:solidFill>
                            <a:srgbClr val="5E5E38"/>
                          </a:solidFill>
                        </a:rPr>
                        <a:t>[add contribution]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Joshua Peter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23626527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Research, activity diagrams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1">
                          <a:solidFill>
                            <a:srgbClr val="5E5E38"/>
                          </a:solidFill>
                        </a:rPr>
                        <a:t>[add contribution]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Musa Msibi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25098022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Design patterns, escalation sequence diagram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1" dirty="0">
                          <a:solidFill>
                            <a:srgbClr val="5E5E38"/>
                          </a:solidFill>
                        </a:rPr>
                        <a:t>[add contribution]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/>
          <p:cNvSpPr/>
          <p:nvPr/>
        </p:nvSpPr>
        <p:spPr>
          <a:xfrm flipV="1">
            <a:off x="0" y="-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3">
              <a:duotone>
                <a:prstClr val="black"/>
                <a:srgbClr val="FFFF00">
                  <a:tint val="45000"/>
                  <a:satMod val="400000"/>
                </a:srgbClr>
              </a:duotone>
            </a:blip>
            <a:stretch>
              <a:fillRect t="-1777" b="-177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893991" y="578875"/>
            <a:ext cx="705412" cy="961380"/>
          </a:xfrm>
          <a:custGeom>
            <a:avLst/>
            <a:gdLst/>
            <a:ahLst/>
            <a:cxnLst/>
            <a:rect l="l" t="t" r="r" b="b"/>
            <a:pathLst>
              <a:path w="1058118" h="1442069">
                <a:moveTo>
                  <a:pt x="0" y="0"/>
                </a:moveTo>
                <a:lnTo>
                  <a:pt x="1058118" y="0"/>
                </a:lnTo>
                <a:lnTo>
                  <a:pt x="1058118" y="1442070"/>
                </a:lnTo>
                <a:lnTo>
                  <a:pt x="0" y="1442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10724588" y="578875"/>
            <a:ext cx="705412" cy="961380"/>
          </a:xfrm>
          <a:custGeom>
            <a:avLst/>
            <a:gdLst/>
            <a:ahLst/>
            <a:cxnLst/>
            <a:rect l="l" t="t" r="r" b="b"/>
            <a:pathLst>
              <a:path w="1058118" h="1442069">
                <a:moveTo>
                  <a:pt x="0" y="0"/>
                </a:moveTo>
                <a:lnTo>
                  <a:pt x="1058118" y="0"/>
                </a:lnTo>
                <a:lnTo>
                  <a:pt x="1058118" y="1442070"/>
                </a:lnTo>
                <a:lnTo>
                  <a:pt x="0" y="1442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2651760"/>
            <a:ext cx="9628632" cy="1417320"/>
          </a:xfrm>
        </p:spPr>
        <p:txBody>
          <a:bodyPr anchor="t"/>
          <a:lstStyle/>
          <a:p>
            <a:r>
              <a:rPr sz="5400" b="1">
                <a:solidFill>
                  <a:schemeClr val="bg1"/>
                </a:solidFill>
              </a:rPr>
              <a:t>Appendix</a:t>
            </a:r>
          </a:p>
        </p:txBody>
      </p:sp>
      <p:sp>
        <p:nvSpPr>
          <p:cNvPr id="10" name="Section number"/>
          <p:cNvSpPr txBox="1"/>
          <p:nvPr/>
        </p:nvSpPr>
        <p:spPr>
          <a:xfrm>
            <a:off x="1280160" y="2148840"/>
            <a:ext cx="9628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spc="400">
                <a:solidFill>
                  <a:srgbClr val="CACA98"/>
                </a:solidFill>
              </a:rPr>
              <a:t>APPENDIX</a:t>
            </a:r>
          </a:p>
        </p:txBody>
      </p:sp>
      <p:sp>
        <p:nvSpPr>
          <p:cNvPr id="11" name="Subtitle text"/>
          <p:cNvSpPr txBox="1"/>
          <p:nvPr/>
        </p:nvSpPr>
        <p:spPr>
          <a:xfrm>
            <a:off x="1280160" y="4251960"/>
            <a:ext cx="96286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DDDDCB"/>
                </a:solidFill>
              </a:rPr>
              <a:t>Only if you’d like to see more: diagrams, patterns and tests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UML class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270836-FDD1-6133-5272-B3DBA93E7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95" y="1049879"/>
            <a:ext cx="10717161" cy="4758242"/>
          </a:xfrm>
          <a:prstGeom prst="rect">
            <a:avLst/>
          </a:prstGeom>
        </p:spPr>
      </p:pic>
      <p:sp>
        <p:nvSpPr>
          <p:cNvPr id="9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spc="150">
                <a:solidFill>
                  <a:srgbClr val="5E5E38"/>
                </a:solidFill>
              </a:rPr>
              <a:t>APPENDIX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complaint, step by step</a:t>
            </a:r>
          </a:p>
        </p:txBody>
      </p:sp>
      <p:sp>
        <p:nvSpPr>
          <p:cNvPr id="4" name="Diagram frame"/>
          <p:cNvSpPr/>
          <p:nvPr/>
        </p:nvSpPr>
        <p:spPr>
          <a:xfrm>
            <a:off x="548640" y="1508760"/>
            <a:ext cx="44805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Diagram" descr="uni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79" y="1600200"/>
            <a:ext cx="4246880" cy="4572000"/>
          </a:xfrm>
          <a:prstGeom prst="rect">
            <a:avLst/>
          </a:prstGeom>
        </p:spPr>
      </p:pic>
      <p:sp>
        <p:nvSpPr>
          <p:cNvPr id="6" name="Point card"/>
          <p:cNvSpPr/>
          <p:nvPr/>
        </p:nvSpPr>
        <p:spPr>
          <a:xfrm>
            <a:off x="5303520" y="1508760"/>
            <a:ext cx="6336792" cy="14630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con circle"/>
          <p:cNvSpPr/>
          <p:nvPr/>
        </p:nvSpPr>
        <p:spPr>
          <a:xfrm>
            <a:off x="5532120" y="1938528"/>
            <a:ext cx="603504" cy="60350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 FaUserGraduate" descr="FaUserGraduat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960" y="2083368"/>
            <a:ext cx="313822" cy="313822"/>
          </a:xfrm>
          <a:prstGeom prst="rect">
            <a:avLst/>
          </a:prstGeom>
        </p:spPr>
      </p:pic>
      <p:sp>
        <p:nvSpPr>
          <p:cNvPr id="9" name="Point text"/>
          <p:cNvSpPr txBox="1"/>
          <p:nvPr/>
        </p:nvSpPr>
        <p:spPr>
          <a:xfrm>
            <a:off x="6355080" y="160020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4150F"/>
                </a:solidFill>
              </a:rPr>
              <a:t>A student sends in a complaint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66665A"/>
                </a:solidFill>
              </a:rPr>
              <a:t>It is checked and sent to the right department.</a:t>
            </a:r>
          </a:p>
        </p:txBody>
      </p:sp>
      <p:sp>
        <p:nvSpPr>
          <p:cNvPr id="10" name="Point card"/>
          <p:cNvSpPr/>
          <p:nvPr/>
        </p:nvSpPr>
        <p:spPr>
          <a:xfrm>
            <a:off x="5303520" y="3118104"/>
            <a:ext cx="6336792" cy="14630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con circle"/>
          <p:cNvSpPr/>
          <p:nvPr/>
        </p:nvSpPr>
        <p:spPr>
          <a:xfrm>
            <a:off x="5532120" y="3547872"/>
            <a:ext cx="603504" cy="60350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 FaUsers" descr="Fa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960" y="3692712"/>
            <a:ext cx="313822" cy="313822"/>
          </a:xfrm>
          <a:prstGeom prst="rect">
            <a:avLst/>
          </a:prstGeom>
        </p:spPr>
      </p:pic>
      <p:sp>
        <p:nvSpPr>
          <p:cNvPr id="13" name="Point text"/>
          <p:cNvSpPr txBox="1"/>
          <p:nvPr/>
        </p:nvSpPr>
        <p:spPr>
          <a:xfrm>
            <a:off x="6355080" y="3209544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4150F"/>
                </a:solidFill>
              </a:rPr>
              <a:t>Staff look into it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66665A"/>
                </a:solidFill>
              </a:rPr>
              <a:t>If they can’t fix it, it moves up to the department head, then the faculty.</a:t>
            </a:r>
          </a:p>
        </p:txBody>
      </p:sp>
      <p:sp>
        <p:nvSpPr>
          <p:cNvPr id="14" name="Point card"/>
          <p:cNvSpPr/>
          <p:nvPr/>
        </p:nvSpPr>
        <p:spPr>
          <a:xfrm>
            <a:off x="5303520" y="4727448"/>
            <a:ext cx="6336792" cy="14630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con circle"/>
          <p:cNvSpPr/>
          <p:nvPr/>
        </p:nvSpPr>
        <p:spPr>
          <a:xfrm>
            <a:off x="5532120" y="5157216"/>
            <a:ext cx="603504" cy="60350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 FaCheckCircle" descr="FaCheck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6960" y="5302056"/>
            <a:ext cx="313822" cy="313822"/>
          </a:xfrm>
          <a:prstGeom prst="rect">
            <a:avLst/>
          </a:prstGeom>
        </p:spPr>
      </p:pic>
      <p:sp>
        <p:nvSpPr>
          <p:cNvPr id="17" name="Point text"/>
          <p:cNvSpPr txBox="1"/>
          <p:nvPr/>
        </p:nvSpPr>
        <p:spPr>
          <a:xfrm>
            <a:off x="6355080" y="4818888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4150F"/>
                </a:solidFill>
              </a:rPr>
              <a:t>Every case ends clearly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66665A"/>
                </a:solidFill>
              </a:rPr>
              <a:t>Resolved if the student accepts, closed if they withdraw or an appeal is denied.</a:t>
            </a:r>
          </a:p>
        </p:txBody>
      </p:sp>
      <p:sp>
        <p:nvSpPr>
          <p:cNvPr id="18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spc="150">
                <a:solidFill>
                  <a:srgbClr val="5E5E38"/>
                </a:solidFill>
              </a:rPr>
              <a:t>APPENDIX · UNIVERSITY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work gets assigned and finished</a:t>
            </a:r>
          </a:p>
        </p:txBody>
      </p:sp>
      <p:sp>
        <p:nvSpPr>
          <p:cNvPr id="4" name="Diagram frame"/>
          <p:cNvSpPr/>
          <p:nvPr/>
        </p:nvSpPr>
        <p:spPr>
          <a:xfrm>
            <a:off x="548640" y="1508760"/>
            <a:ext cx="44805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Diagram" descr="assign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8" y="1600200"/>
            <a:ext cx="4095403" cy="4572000"/>
          </a:xfrm>
          <a:prstGeom prst="rect">
            <a:avLst/>
          </a:prstGeom>
        </p:spPr>
      </p:pic>
      <p:sp>
        <p:nvSpPr>
          <p:cNvPr id="6" name="Point card"/>
          <p:cNvSpPr/>
          <p:nvPr/>
        </p:nvSpPr>
        <p:spPr>
          <a:xfrm>
            <a:off x="5303520" y="1508760"/>
            <a:ext cx="6336792" cy="14630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con circle"/>
          <p:cNvSpPr/>
          <p:nvPr/>
        </p:nvSpPr>
        <p:spPr>
          <a:xfrm>
            <a:off x="5532120" y="1938528"/>
            <a:ext cx="603504" cy="60350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con FaClipboardCheck" descr="FaClipboard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960" y="2083368"/>
            <a:ext cx="313822" cy="313822"/>
          </a:xfrm>
          <a:prstGeom prst="rect">
            <a:avLst/>
          </a:prstGeom>
        </p:spPr>
      </p:pic>
      <p:sp>
        <p:nvSpPr>
          <p:cNvPr id="9" name="Point text"/>
          <p:cNvSpPr txBox="1"/>
          <p:nvPr/>
        </p:nvSpPr>
        <p:spPr>
          <a:xfrm>
            <a:off x="6355080" y="160020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4150F"/>
                </a:solidFill>
              </a:rPr>
              <a:t>Check first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66665A"/>
                </a:solidFill>
              </a:rPr>
              <a:t>A work item waits until the work it depends on is finished.</a:t>
            </a:r>
          </a:p>
        </p:txBody>
      </p:sp>
      <p:sp>
        <p:nvSpPr>
          <p:cNvPr id="10" name="Point card"/>
          <p:cNvSpPr/>
          <p:nvPr/>
        </p:nvSpPr>
        <p:spPr>
          <a:xfrm>
            <a:off x="5303520" y="3118104"/>
            <a:ext cx="6336792" cy="14630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con circle"/>
          <p:cNvSpPr/>
          <p:nvPr/>
        </p:nvSpPr>
        <p:spPr>
          <a:xfrm>
            <a:off x="5532120" y="3547872"/>
            <a:ext cx="603504" cy="60350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con FaUsers" descr="Fa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960" y="3692712"/>
            <a:ext cx="313822" cy="313822"/>
          </a:xfrm>
          <a:prstGeom prst="rect">
            <a:avLst/>
          </a:prstGeom>
        </p:spPr>
      </p:pic>
      <p:sp>
        <p:nvSpPr>
          <p:cNvPr id="13" name="Point text"/>
          <p:cNvSpPr txBox="1"/>
          <p:nvPr/>
        </p:nvSpPr>
        <p:spPr>
          <a:xfrm>
            <a:off x="6355080" y="3209544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4150F"/>
                </a:solidFill>
              </a:rPr>
              <a:t>Find the right person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66665A"/>
                </a:solidFill>
              </a:rPr>
              <a:t>The engine picks who is free. If nobody is, it says so.</a:t>
            </a:r>
          </a:p>
        </p:txBody>
      </p:sp>
      <p:sp>
        <p:nvSpPr>
          <p:cNvPr id="14" name="Point card"/>
          <p:cNvSpPr/>
          <p:nvPr/>
        </p:nvSpPr>
        <p:spPr>
          <a:xfrm>
            <a:off x="5303520" y="4727448"/>
            <a:ext cx="6336792" cy="1463040"/>
          </a:xfrm>
          <a:prstGeom prst="roundRect">
            <a:avLst>
              <a:gd name="adj" fmla="val 5000"/>
            </a:avLst>
          </a:prstGeom>
          <a:solidFill>
            <a:srgbClr val="F1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con circle"/>
          <p:cNvSpPr/>
          <p:nvPr/>
        </p:nvSpPr>
        <p:spPr>
          <a:xfrm>
            <a:off x="5532120" y="5157216"/>
            <a:ext cx="603504" cy="603504"/>
          </a:xfrm>
          <a:prstGeom prst="ellipse">
            <a:avLst/>
          </a:prstGeom>
          <a:solidFill>
            <a:srgbClr val="1415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 FaCodeBranch" descr="FaCodeBranch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6960" y="5302056"/>
            <a:ext cx="313822" cy="313822"/>
          </a:xfrm>
          <a:prstGeom prst="rect">
            <a:avLst/>
          </a:prstGeom>
        </p:spPr>
      </p:pic>
      <p:sp>
        <p:nvSpPr>
          <p:cNvPr id="17" name="Point text"/>
          <p:cNvSpPr txBox="1"/>
          <p:nvPr/>
        </p:nvSpPr>
        <p:spPr>
          <a:xfrm>
            <a:off x="6355080" y="4818888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4150F"/>
                </a:solidFill>
              </a:rPr>
              <a:t>Finish or pass it up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66665A"/>
                </a:solidFill>
              </a:rPr>
              <a:t>Finished work updates progress and opens the next item. If it can’t be done, it goes up.</a:t>
            </a:r>
          </a:p>
        </p:txBody>
      </p:sp>
      <p:sp>
        <p:nvSpPr>
          <p:cNvPr id="18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spc="150">
                <a:solidFill>
                  <a:srgbClr val="5E5E38"/>
                </a:solidFill>
              </a:rPr>
              <a:t>APPENDIX · BOTH INDUSTRIES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when work is finished</a:t>
            </a:r>
          </a:p>
        </p:txBody>
      </p:sp>
      <p:sp>
        <p:nvSpPr>
          <p:cNvPr id="4" name="Diagram frame"/>
          <p:cNvSpPr/>
          <p:nvPr/>
        </p:nvSpPr>
        <p:spPr>
          <a:xfrm>
            <a:off x="548640" y="1508760"/>
            <a:ext cx="11091672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Diagram" descr="seq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251" y="1572768"/>
            <a:ext cx="7634449" cy="402336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" y="5779008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66665A"/>
                </a:solidFill>
              </a:rPr>
              <a:t>When a task is done, the engine checks what was waiting on it. If everything needed is ready, the next task opens and its owner is told. If not, it waits.</a:t>
            </a:r>
          </a:p>
        </p:txBody>
      </p:sp>
      <p:sp>
        <p:nvSpPr>
          <p:cNvPr id="7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spc="150">
                <a:solidFill>
                  <a:srgbClr val="5E5E38"/>
                </a:solidFill>
              </a:rPr>
              <a:t>APPENDIX · BOTH INDUSTRIES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 of a case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656628-4E15-4F6C-2A2B-CA478BED3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19" y="1790007"/>
            <a:ext cx="10836314" cy="3277985"/>
          </a:xfrm>
          <a:prstGeom prst="rect">
            <a:avLst/>
          </a:prstGeom>
        </p:spPr>
      </p:pic>
      <p:sp>
        <p:nvSpPr>
          <p:cNvPr id="11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spc="150">
                <a:solidFill>
                  <a:srgbClr val="5E5E38"/>
                </a:solidFill>
              </a:rPr>
              <a:t>APPENDIX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 used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03 · DESIGN &amp; ENGINEERING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548640" y="1481328"/>
          <a:ext cx="11091672" cy="45902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Pattern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1415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1415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What it does for us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141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4150F"/>
                          </a:solidFill>
                        </a:rPr>
                        <a:t>Builder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Creational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Puts each industry’s workflow together step by step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4150F"/>
                          </a:solidFill>
                        </a:rPr>
                        <a:t>Prototype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Creational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Every new case gets its own copy of the template, so cases never share work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4150F"/>
                          </a:solidFill>
                        </a:rPr>
                        <a:t>Composite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Structural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Tasks, stages and sub-processes are treated the same way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4150F"/>
                          </a:solidFill>
                        </a:rPr>
                        <a:t>Decorator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Structural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Adds priority handling to a task without changing it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4150F"/>
                          </a:solidFill>
                        </a:rPr>
                        <a:t>Adapter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Structural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Lets us send email without depending on one email service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4150F"/>
                          </a:solidFill>
                        </a:rPr>
                        <a:t>Facade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Structural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One simple front door to the whole engine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4150F"/>
                          </a:solidFill>
                        </a:rPr>
                        <a:t>State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Behavioural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A case behaves according to where it is in its life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4150F"/>
                          </a:solidFill>
                        </a:rPr>
                        <a:t>Strategy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Behavioural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Who gets the work can be decided by role or by workload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4150F"/>
                          </a:solidFill>
                        </a:rPr>
                        <a:t>Chain of Responsibility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Behavioural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Escalation moves up the decision makers until one can act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4150F"/>
                          </a:solidFill>
                        </a:rPr>
                        <a:t>Command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Behavioural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Every action is a saved request that can be recorded or undone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4150F"/>
                          </a:solidFill>
                        </a:rPr>
                        <a:t>Memento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Behavioural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Takes a snapshot so a step can be rolled back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4150F"/>
                          </a:solidFill>
                        </a:rPr>
                        <a:t>Observer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Behavioural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4150F"/>
                          </a:solidFill>
                        </a:rPr>
                        <a:t>History and notifications react whenever a case changes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traceability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APPENDIX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548640" y="1572768"/>
          <a:ext cx="11091672" cy="45354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1415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Design (classes and patterns)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1415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Automated test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141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Independent workflow cases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WorkflowDefinition.createInstance(), clone() (Prototype)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1">
                          <a:solidFill>
                            <a:srgbClr val="5E5E38"/>
                          </a:solidFill>
                        </a:rPr>
                        <a:t>WorkflowInstances created from one definition remain independent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Lifecycle and invalid transitions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WorkflowState hierarchy (State)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1">
                          <a:solidFill>
                            <a:srgbClr val="5E5E38"/>
                          </a:solidFill>
                        </a:rPr>
                        <a:t>Lifecycle: a skipped step is rejected and nothing changes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Routing and assignment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AssignmentStrategy (Strategy)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1">
                          <a:solidFill>
                            <a:srgbClr val="5E5E38"/>
                          </a:solidFill>
                        </a:rPr>
                        <a:t>Role-based assignment selects the first participant with the required role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Approval and escalation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Handler chain, EscalateWorkCommand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1">
                          <a:solidFill>
                            <a:srgbClr val="5E5E38"/>
                          </a:solidFill>
                        </a:rPr>
                        <a:t>Configured escalation chain handles a workflow request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History and audit trail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WorkflowObserver, WorkflowHistory (Observer, Memento)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1">
                          <a:solidFill>
                            <a:srgbClr val="5E5E38"/>
                          </a:solidFill>
                        </a:rPr>
                        <a:t>Workflow instances keep separate audit histories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External notification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NotificationService, EmailAdapter (Adapter)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1">
                          <a:solidFill>
                            <a:srgbClr val="5E5E38"/>
                          </a:solidFill>
                        </a:rPr>
                        <a:t>EmailAdapter forwards notifications to ExternalEmailService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1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4150F"/>
                          </a:solidFill>
                        </a:rPr>
                        <a:t>Nested work and priority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4150F"/>
                          </a:solidFill>
                        </a:rPr>
                        <a:t>WorkflowComponent, PriorityDecorator (Composite, Decorator)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 i="1">
                          <a:solidFill>
                            <a:srgbClr val="5E5E38"/>
                          </a:solidFill>
                        </a:rPr>
                        <a:t>WorkflowStage can contain and track a PriorityDecorator</a:t>
                      </a:r>
                    </a:p>
                  </a:txBody>
                  <a:tcPr marL="109728" marR="10972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FD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FDF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screenshots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50">
                <a:solidFill>
                  <a:srgbClr val="5E5E38"/>
                </a:solidFill>
              </a:rPr>
              <a:t>APPENDIX</a:t>
            </a:r>
          </a:p>
        </p:txBody>
      </p:sp>
      <p:pic>
        <p:nvPicPr>
          <p:cNvPr id="4" name="Evidence image 1" descr="TIVIDY run of the university complaint workfl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72768"/>
            <a:ext cx="3538728" cy="3931920"/>
          </a:xfrm>
          <a:prstGeom prst="roundRect">
            <a:avLst>
              <a:gd name="adj" fmla="val 2000"/>
            </a:avLst>
          </a:prstGeom>
        </p:spPr>
      </p:pic>
      <p:sp>
        <p:nvSpPr>
          <p:cNvPr id="5" name="Caption"/>
          <p:cNvSpPr txBox="1"/>
          <p:nvPr/>
        </p:nvSpPr>
        <p:spPr>
          <a:xfrm>
            <a:off x="548640" y="5623560"/>
            <a:ext cx="3538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66665A"/>
                </a:solidFill>
              </a:rPr>
              <a:t>TUI: University complaint run</a:t>
            </a:r>
          </a:p>
        </p:txBody>
      </p:sp>
      <p:pic>
        <p:nvPicPr>
          <p:cNvPr id="6" name="Evidence image 2" descr="TIVIDY run of the hospital admission work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1572768"/>
            <a:ext cx="3538728" cy="3931920"/>
          </a:xfrm>
          <a:prstGeom prst="roundRect">
            <a:avLst>
              <a:gd name="adj" fmla="val 2000"/>
            </a:avLst>
          </a:prstGeom>
        </p:spPr>
      </p:pic>
      <p:sp>
        <p:nvSpPr>
          <p:cNvPr id="7" name="Caption"/>
          <p:cNvSpPr txBox="1"/>
          <p:nvPr/>
        </p:nvSpPr>
        <p:spPr>
          <a:xfrm>
            <a:off x="4325112" y="5623560"/>
            <a:ext cx="3538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66665A"/>
                </a:solidFill>
              </a:rPr>
              <a:t>TUI: Hospital admission run</a:t>
            </a:r>
          </a:p>
        </p:txBody>
      </p:sp>
      <p:pic>
        <p:nvPicPr>
          <p:cNvPr id="8" name="Evidence image 3" descr="Valgrind output: no leaks, 0 erro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3" y="1572768"/>
            <a:ext cx="3538728" cy="3931920"/>
          </a:xfrm>
          <a:prstGeom prst="roundRect">
            <a:avLst>
              <a:gd name="adj" fmla="val 2000"/>
            </a:avLst>
          </a:prstGeom>
        </p:spPr>
      </p:pic>
      <p:sp>
        <p:nvSpPr>
          <p:cNvPr id="9" name="Caption"/>
          <p:cNvSpPr txBox="1"/>
          <p:nvPr/>
        </p:nvSpPr>
        <p:spPr>
          <a:xfrm>
            <a:off x="8101583" y="5623560"/>
            <a:ext cx="3538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66665A"/>
                </a:solidFill>
              </a:rPr>
              <a:t>Clean Valgrind output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/>
          <p:cNvSpPr/>
          <p:nvPr/>
        </p:nvSpPr>
        <p:spPr>
          <a:xfrm flipV="1">
            <a:off x="0" y="-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3">
              <a:duotone>
                <a:prstClr val="black"/>
                <a:srgbClr val="FFFF00">
                  <a:tint val="45000"/>
                  <a:satMod val="400000"/>
                </a:srgbClr>
              </a:duotone>
            </a:blip>
            <a:stretch>
              <a:fillRect t="-1777" b="-177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893991" y="578875"/>
            <a:ext cx="705412" cy="961380"/>
          </a:xfrm>
          <a:custGeom>
            <a:avLst/>
            <a:gdLst/>
            <a:ahLst/>
            <a:cxnLst/>
            <a:rect l="l" t="t" r="r" b="b"/>
            <a:pathLst>
              <a:path w="1058118" h="1442069">
                <a:moveTo>
                  <a:pt x="0" y="0"/>
                </a:moveTo>
                <a:lnTo>
                  <a:pt x="1058118" y="0"/>
                </a:lnTo>
                <a:lnTo>
                  <a:pt x="1058118" y="1442070"/>
                </a:lnTo>
                <a:lnTo>
                  <a:pt x="0" y="1442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10724588" y="578875"/>
            <a:ext cx="705412" cy="961380"/>
          </a:xfrm>
          <a:custGeom>
            <a:avLst/>
            <a:gdLst/>
            <a:ahLst/>
            <a:cxnLst/>
            <a:rect l="l" t="t" r="r" b="b"/>
            <a:pathLst>
              <a:path w="1058118" h="1442069">
                <a:moveTo>
                  <a:pt x="0" y="0"/>
                </a:moveTo>
                <a:lnTo>
                  <a:pt x="1058118" y="0"/>
                </a:lnTo>
                <a:lnTo>
                  <a:pt x="1058118" y="1442070"/>
                </a:lnTo>
                <a:lnTo>
                  <a:pt x="0" y="1442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0160" y="1920240"/>
            <a:ext cx="9628632" cy="1371600"/>
          </a:xfrm>
        </p:spPr>
        <p:txBody>
          <a:bodyPr anchor="b"/>
          <a:lstStyle/>
          <a:p>
            <a:r>
              <a:rPr sz="6600" b="1">
                <a:solidFill>
                  <a:schemeClr val="bg1"/>
                </a:solidFill>
              </a:rPr>
              <a:t>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0160" y="3429000"/>
            <a:ext cx="9628632" cy="548640"/>
          </a:xfrm>
        </p:spPr>
        <p:txBody>
          <a:bodyPr/>
          <a:lstStyle/>
          <a:p>
            <a:r>
              <a:rPr sz="26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" name="Repository link"/>
          <p:cNvSpPr txBox="1"/>
          <p:nvPr/>
        </p:nvSpPr>
        <p:spPr>
          <a:xfrm>
            <a:off x="1280160" y="4206240"/>
            <a:ext cx="96286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CACA98"/>
                </a:solidFill>
              </a:rPr>
              <a:t>github.com/Kristy2005/TIVIDY-Prac6</a:t>
            </a:r>
          </a:p>
        </p:txBody>
      </p:sp>
      <p:sp>
        <p:nvSpPr>
          <p:cNvPr id="11" name="Team member"/>
          <p:cNvSpPr txBox="1"/>
          <p:nvPr/>
        </p:nvSpPr>
        <p:spPr>
          <a:xfrm>
            <a:off x="548640" y="5349240"/>
            <a:ext cx="221833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</a:rPr>
              <a:t>Lindokuhle Skosana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DDDDCB"/>
                </a:solidFill>
              </a:rPr>
              <a:t>u24891968</a:t>
            </a:r>
          </a:p>
        </p:txBody>
      </p:sp>
      <p:sp>
        <p:nvSpPr>
          <p:cNvPr id="12" name="Team member"/>
          <p:cNvSpPr txBox="1"/>
          <p:nvPr/>
        </p:nvSpPr>
        <p:spPr>
          <a:xfrm>
            <a:off x="2766974" y="5349240"/>
            <a:ext cx="221833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</a:rPr>
              <a:t>Kristy Heesen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DDDDCB"/>
                </a:solidFill>
              </a:rPr>
              <a:t>u24702341</a:t>
            </a:r>
          </a:p>
        </p:txBody>
      </p:sp>
      <p:sp>
        <p:nvSpPr>
          <p:cNvPr id="13" name="Team member"/>
          <p:cNvSpPr txBox="1"/>
          <p:nvPr/>
        </p:nvSpPr>
        <p:spPr>
          <a:xfrm>
            <a:off x="4985308" y="5349240"/>
            <a:ext cx="221833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</a:rPr>
              <a:t>LM Kabongo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DDDDCB"/>
                </a:solidFill>
              </a:rPr>
              <a:t>25030338</a:t>
            </a:r>
          </a:p>
        </p:txBody>
      </p:sp>
      <p:sp>
        <p:nvSpPr>
          <p:cNvPr id="14" name="Team member"/>
          <p:cNvSpPr txBox="1"/>
          <p:nvPr/>
        </p:nvSpPr>
        <p:spPr>
          <a:xfrm>
            <a:off x="7203643" y="5349240"/>
            <a:ext cx="221833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</a:rPr>
              <a:t>Joshua Peter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DDDDCB"/>
                </a:solidFill>
              </a:rPr>
              <a:t>23626527</a:t>
            </a:r>
          </a:p>
        </p:txBody>
      </p:sp>
      <p:sp>
        <p:nvSpPr>
          <p:cNvPr id="15" name="Team member"/>
          <p:cNvSpPr txBox="1"/>
          <p:nvPr/>
        </p:nvSpPr>
        <p:spPr>
          <a:xfrm>
            <a:off x="9421977" y="5349240"/>
            <a:ext cx="221833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</a:rPr>
              <a:t>Musa Msibi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DDDDCB"/>
                </a:solidFill>
              </a:rPr>
              <a:t>25098022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3204</Words>
  <Application>Microsoft Office PowerPoint</Application>
  <PresentationFormat>Widescreen</PresentationFormat>
  <Paragraphs>525</Paragraphs>
  <Slides>35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TIVIDY</vt:lpstr>
      <vt:lpstr>What you asked for, what we built</vt:lpstr>
      <vt:lpstr>Two industries, one engine</vt:lpstr>
      <vt:lpstr>Two Industries</vt:lpstr>
      <vt:lpstr>University Complaint Workflow</vt:lpstr>
      <vt:lpstr>University: work, decisions and exceptions</vt:lpstr>
      <vt:lpstr>University: activity diagram</vt:lpstr>
      <vt:lpstr>Hospital Patient Admission &amp; Treatment</vt:lpstr>
      <vt:lpstr>Hospital: work, decisions and exceptions</vt:lpstr>
      <vt:lpstr>Hospital: activity diagram</vt:lpstr>
      <vt:lpstr>Same engine, different configuration</vt:lpstr>
      <vt:lpstr>The engine in one picture</vt:lpstr>
      <vt:lpstr>Testing: we catch problems first</vt:lpstr>
      <vt:lpstr>Every change is checked automatically</vt:lpstr>
      <vt:lpstr>Live Demonstration</vt:lpstr>
      <vt:lpstr>Demo run-through</vt:lpstr>
      <vt:lpstr>The interactive TUI</vt:lpstr>
      <vt:lpstr>Live demo</vt:lpstr>
      <vt:lpstr>Live demo</vt:lpstr>
      <vt:lpstr>Live demo</vt:lpstr>
      <vt:lpstr>Testing &amp; Engineering</vt:lpstr>
      <vt:lpstr>Automated testing</vt:lpstr>
      <vt:lpstr>Engineering practice and evidence</vt:lpstr>
      <vt:lpstr>Team contributions</vt:lpstr>
      <vt:lpstr>Requirements traceability</vt:lpstr>
      <vt:lpstr>Appendix</vt:lpstr>
      <vt:lpstr>UML class diagram</vt:lpstr>
      <vt:lpstr>A complaint, step by step</vt:lpstr>
      <vt:lpstr>How work gets assigned and finished</vt:lpstr>
      <vt:lpstr>What happens when work is finished</vt:lpstr>
      <vt:lpstr>Life of a case</vt:lpstr>
      <vt:lpstr>Design patterns used</vt:lpstr>
      <vt:lpstr>Requirements traceability</vt:lpstr>
      <vt:lpstr>Backup screenshots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TIVIDY Client Presentation</dc:title>
  <dc:subject>COS 214 Final Project 2026</dc:subject>
  <dc:creator>Mr. M Msibi</dc:creator>
  <cp:lastModifiedBy>Mr. M Msibi</cp:lastModifiedBy>
  <cp:revision>3</cp:revision>
  <dcterms:created xsi:type="dcterms:W3CDTF">2026-10-26T06:51:38Z</dcterms:created>
  <dcterms:modified xsi:type="dcterms:W3CDTF">2026-11-01T22:07:17Z</dcterms:modified>
</cp:coreProperties>
</file>